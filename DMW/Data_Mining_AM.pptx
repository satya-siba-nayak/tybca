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78" r:id="rId4"/>
    <p:sldId id="258" r:id="rId5"/>
    <p:sldId id="277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59" r:id="rId15"/>
    <p:sldId id="260" r:id="rId16"/>
    <p:sldId id="261" r:id="rId17"/>
    <p:sldId id="263" r:id="rId18"/>
    <p:sldId id="276" r:id="rId19"/>
    <p:sldId id="264" r:id="rId20"/>
    <p:sldId id="265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61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00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01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89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8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0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163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1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0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4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03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79058"/>
            <a:ext cx="9144000" cy="866274"/>
          </a:xfrm>
        </p:spPr>
        <p:txBody>
          <a:bodyPr>
            <a:normAutofit/>
          </a:bodyPr>
          <a:lstStyle/>
          <a:p>
            <a:r>
              <a:rPr lang="en-US" sz="4000" dirty="0"/>
              <a:t>   </a:t>
            </a:r>
            <a:r>
              <a:rPr sz="4000" dirty="0"/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2035" y="3531205"/>
            <a:ext cx="6782800" cy="2282454"/>
          </a:xfrm>
        </p:spPr>
        <p:txBody>
          <a:bodyPr>
            <a:noAutofit/>
          </a:bodyPr>
          <a:lstStyle/>
          <a:p>
            <a:r>
              <a:rPr sz="2000" b="1" dirty="0"/>
              <a:t>Course: Data Mining &amp; Data Warehousing</a:t>
            </a:r>
          </a:p>
          <a:p>
            <a:r>
              <a:rPr sz="2000" dirty="0"/>
              <a:t>Program: BCA </a:t>
            </a:r>
          </a:p>
          <a:p>
            <a:r>
              <a:rPr sz="2000" b="1" i="1" dirty="0"/>
              <a:t>Instructor: </a:t>
            </a:r>
            <a:r>
              <a:rPr lang="en-US" sz="2000" b="1" i="1" dirty="0"/>
              <a:t>Aamir Mir</a:t>
            </a:r>
            <a:endParaRPr sz="2000" b="1" i="1" dirty="0"/>
          </a:p>
          <a:p>
            <a:r>
              <a:rPr sz="2000" dirty="0"/>
              <a:t>University: MIT-WPU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 to Data Mining</a:t>
            </a:r>
          </a:p>
          <a:p>
            <a:r>
              <a:rPr dirty="0"/>
              <a:t>Importance and Evolution of Data Mining</a:t>
            </a:r>
          </a:p>
          <a:p>
            <a:r>
              <a:rPr dirty="0"/>
              <a:t>Real-life Applications and Industry Use-Cases</a:t>
            </a:r>
          </a:p>
          <a:p>
            <a:r>
              <a:rPr dirty="0"/>
              <a:t>Types of Data and Patterns in Data Mining</a:t>
            </a:r>
          </a:p>
          <a:p>
            <a:r>
              <a:rPr dirty="0"/>
              <a:t>The KDD Process</a:t>
            </a:r>
          </a:p>
          <a:p>
            <a:r>
              <a:rPr dirty="0"/>
              <a:t>Tools and Technologies Overview (Weka)</a:t>
            </a:r>
          </a:p>
          <a:p>
            <a:r>
              <a:rPr dirty="0"/>
              <a:t>Summary, Discussion &amp; Q/A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6971-31A0-45FD-919D-3C443371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data?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DBB83-1BA3-49CA-8E06-E4715FBC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is a collection of raw facts or figures that may not have meaning on their own.</a:t>
            </a:r>
          </a:p>
          <a:p>
            <a:r>
              <a:rPr lang="en-US" dirty="0"/>
              <a:t> It can be in the form of numbers, text, images, audio, or video.</a:t>
            </a:r>
          </a:p>
          <a:p>
            <a:r>
              <a:rPr lang="en-US" dirty="0"/>
              <a:t> Example: 85, 92, 76 (student marks) → These are just data.</a:t>
            </a:r>
          </a:p>
          <a:p>
            <a:r>
              <a:rPr lang="en-US" dirty="0"/>
              <a:t>Once processed and organized, data becomes meaningful — this is called information.</a:t>
            </a:r>
          </a:p>
          <a:p>
            <a:r>
              <a:rPr lang="en-US" dirty="0"/>
              <a:t>In data mining, data is the starting point to find useful patterns and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27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Mining?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B3BE2A-684B-4E2B-8254-BE0C0E6875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229" y="2863876"/>
            <a:ext cx="86920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Mining means finding useful information from a large amount of data.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It is like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 for patterns or hidden facts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a big collection of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making better decisions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understanding data more deeply.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🛒 Used by companies like Amazon, YouTube, Netflix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 products or videos.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🧰 It uses tools and techniques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AI, statistics, and machine learning.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67BC9F-882C-4CB9-AA1F-7E5AA7D4C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5" y="105103"/>
            <a:ext cx="8849710" cy="582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7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Where data comes from: websites, apps, sensors, databases</a:t>
            </a:r>
          </a:p>
          <a:p>
            <a:r>
              <a:t>Example: Amazon gets data from your searches, orders, and reviews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Fix wrong or missing data</a:t>
            </a:r>
          </a:p>
          <a:p>
            <a:r>
              <a:t>- Remove empty entries or spelling errors</a:t>
            </a:r>
          </a:p>
          <a:p>
            <a:r>
              <a:t>- Clean data = better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Join data from different places</a:t>
            </a:r>
          </a:p>
          <a:p>
            <a:r>
              <a:t>Example: Combine app data with website data</a:t>
            </a:r>
          </a:p>
          <a:p>
            <a:r>
              <a:t>- One complete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Data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Choose only the needed data</a:t>
            </a:r>
          </a:p>
          <a:p>
            <a:r>
              <a:t>Example: Use this year’s sales data</a:t>
            </a:r>
          </a:p>
          <a:p>
            <a:r>
              <a:t>- Focus on useful data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Convert data into simple form</a:t>
            </a:r>
          </a:p>
          <a:p>
            <a:r>
              <a:t>Example: 'Male/Female' → 1/0</a:t>
            </a:r>
          </a:p>
          <a:p>
            <a:r>
              <a:t>- Computers understand better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–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software to find patterns</a:t>
            </a:r>
          </a:p>
          <a:p>
            <a:r>
              <a:t>Example: People who buy phones also buy covers</a:t>
            </a:r>
          </a:p>
          <a:p>
            <a:r>
              <a:t>- Main part of the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 – Pattern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Check which patterns are helpful</a:t>
            </a:r>
          </a:p>
          <a:p>
            <a:r>
              <a:t>- Remove false or useless patterns</a:t>
            </a:r>
          </a:p>
          <a:p>
            <a:r>
              <a:t>Example: Does it help with better decisions?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 – Knowledge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Show results using charts or graphs</a:t>
            </a:r>
          </a:p>
          <a:p>
            <a:r>
              <a:t>- Easy for people to understand</a:t>
            </a:r>
          </a:p>
          <a:p>
            <a:r>
              <a:t>Tools: Excel, dashboards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Huge volumes of complex data generated daily.</a:t>
            </a:r>
          </a:p>
          <a:p>
            <a:pPr marL="0" indent="0">
              <a:buNone/>
            </a:pPr>
            <a:r>
              <a:rPr dirty="0"/>
              <a:t>• Traditional analysis is insufficient.</a:t>
            </a:r>
          </a:p>
          <a:p>
            <a:pPr marL="0" indent="0">
              <a:buNone/>
            </a:pPr>
            <a:r>
              <a:rPr dirty="0"/>
              <a:t>• Enables pattern discovery, future prediction, fraud detection, and efficiency improvements.</a:t>
            </a:r>
          </a:p>
          <a:p>
            <a:pPr marL="0" indent="0">
              <a:buNone/>
            </a:pPr>
            <a:r>
              <a:rPr dirty="0"/>
              <a:t>• Example: Social media sentiment predicting product popularity.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Example 1: Supermarket – Market Basket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Discovers items bought together: Bread &amp; Butter, Shampoo &amp; Conditioner.</a:t>
            </a:r>
          </a:p>
          <a:p>
            <a:pPr marL="0" indent="0">
              <a:buNone/>
            </a:pPr>
            <a:r>
              <a:rPr dirty="0"/>
              <a:t>• Business Use: Cross-selling, combo offers, shelf placement.</a:t>
            </a:r>
          </a:p>
          <a:p>
            <a:pPr marL="0" indent="0">
              <a:buNone/>
            </a:pPr>
            <a:r>
              <a:rPr dirty="0"/>
              <a:t>• Technique: Association Rule Mining (</a:t>
            </a:r>
            <a:r>
              <a:rPr dirty="0" err="1"/>
              <a:t>Apriori</a:t>
            </a:r>
            <a:r>
              <a:rPr dirty="0"/>
              <a:t> Algorithm).</a:t>
            </a:r>
          </a:p>
          <a:p>
            <a:pPr marL="0" indent="0">
              <a:buNone/>
            </a:pPr>
            <a:r>
              <a:rPr dirty="0"/>
              <a:t>• Metrics: Support, Confidence, Lift.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Example 2: Netflix –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Analyzes viewing behavior using collaborative filtering.</a:t>
            </a:r>
          </a:p>
          <a:p>
            <a:pPr marL="0" indent="0">
              <a:buNone/>
            </a:pPr>
            <a:r>
              <a:rPr dirty="0"/>
              <a:t>• Clusters users and classifies content.</a:t>
            </a:r>
          </a:p>
          <a:p>
            <a:pPr marL="0" indent="0">
              <a:buNone/>
            </a:pPr>
            <a:r>
              <a:rPr dirty="0"/>
              <a:t>• Techniques: Clustering, Classification, Deep Learning.</a:t>
            </a:r>
          </a:p>
          <a:p>
            <a:pPr marL="0" indent="0">
              <a:buNone/>
            </a:pPr>
            <a:r>
              <a:rPr dirty="0"/>
              <a:t>• Result: Personalized experience, higher retention.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KDD Process (Knowledge Discovery in Databases)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Selection: Relevant data chosen.</a:t>
            </a:r>
          </a:p>
          <a:p>
            <a:r>
              <a:t>2. Preprocessing: Noise &amp; missing data removal.</a:t>
            </a:r>
          </a:p>
          <a:p>
            <a:r>
              <a:t>3. Transformation: Normalization, encoding.</a:t>
            </a:r>
          </a:p>
          <a:p>
            <a:r>
              <a:t>4. Data Mining: Algorithms applied (Apriori, k-means).</a:t>
            </a:r>
          </a:p>
          <a:p>
            <a:r>
              <a:t>5. Evaluation: Insights visualized &amp; interpreted.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42F04B-848B-4764-ACEC-CDDE59B3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2" y="746234"/>
            <a:ext cx="7620000" cy="498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94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E-commerce: Recommendations (Amazon)</a:t>
            </a:r>
          </a:p>
          <a:p>
            <a:pPr marL="0" indent="0">
              <a:buNone/>
            </a:pPr>
            <a:r>
              <a:rPr dirty="0"/>
              <a:t>• Healthcare: Diagnostics, disease prediction</a:t>
            </a:r>
          </a:p>
          <a:p>
            <a:pPr marL="0" indent="0">
              <a:buNone/>
            </a:pPr>
            <a:r>
              <a:rPr dirty="0"/>
              <a:t>• Banking: Credit scoring, fraud detection</a:t>
            </a:r>
          </a:p>
          <a:p>
            <a:pPr marL="0" indent="0">
              <a:buNone/>
            </a:pPr>
            <a:r>
              <a:rPr dirty="0"/>
              <a:t>• Education: Student analytics, dropout prediction</a:t>
            </a:r>
          </a:p>
          <a:p>
            <a:pPr marL="0" indent="0">
              <a:buNone/>
            </a:pPr>
            <a:r>
              <a:rPr dirty="0"/>
              <a:t>• Telecom: Churn analysis, fault detection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– Introduction to Weka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Open-source Java-based data mining tool</a:t>
            </a:r>
          </a:p>
          <a:p>
            <a:pPr marL="0" indent="0">
              <a:buNone/>
            </a:pPr>
            <a:r>
              <a:rPr dirty="0"/>
              <a:t>• GUI and CLI available</a:t>
            </a:r>
          </a:p>
          <a:p>
            <a:pPr marL="0" indent="0">
              <a:buNone/>
            </a:pPr>
            <a:r>
              <a:rPr dirty="0"/>
              <a:t>• Features: Classification, Clustering, Association</a:t>
            </a:r>
          </a:p>
          <a:p>
            <a:pPr marL="0" indent="0">
              <a:buNone/>
            </a:pPr>
            <a:r>
              <a:rPr dirty="0"/>
              <a:t>• Easy for students to explore</a:t>
            </a:r>
          </a:p>
          <a:p>
            <a:pPr marL="0" indent="0">
              <a:buNone/>
            </a:pPr>
            <a:r>
              <a:rPr dirty="0"/>
              <a:t>• Workflow: Load → Preprocess → Apply Algorithm → Analyze Results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mining = finding hidden info in data</a:t>
            </a:r>
          </a:p>
          <a:p>
            <a:r>
              <a:t>- 8 steps called KDD Process</a:t>
            </a:r>
          </a:p>
          <a:p>
            <a:r>
              <a:t>- Used in shopping, banking, health, etc.</a:t>
            </a:r>
          </a:p>
          <a:p>
            <a:r>
              <a:t>- Helps in better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108</TotalTime>
  <Words>766</Words>
  <Application>Microsoft Office PowerPoint</Application>
  <PresentationFormat>On-screen Show (4:3)</PresentationFormat>
  <Paragraphs>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Gallery</vt:lpstr>
      <vt:lpstr>   Introduction to Data Mining</vt:lpstr>
      <vt:lpstr>Lecture Agenda</vt:lpstr>
      <vt:lpstr>What is data?                       </vt:lpstr>
      <vt:lpstr>What is Data Mining?</vt:lpstr>
      <vt:lpstr>PowerPoint Presentation</vt:lpstr>
      <vt:lpstr>Step 1 – Data Sources</vt:lpstr>
      <vt:lpstr>Step 2 – Data Cleaning</vt:lpstr>
      <vt:lpstr>Step 3 – Data Integration</vt:lpstr>
      <vt:lpstr>Step 4 – Data Selection</vt:lpstr>
      <vt:lpstr>Step 5 – Data Transformation</vt:lpstr>
      <vt:lpstr>Step 6 – Data Mining</vt:lpstr>
      <vt:lpstr>Step 7 – Pattern Evaluation</vt:lpstr>
      <vt:lpstr>Step 8 – Knowledge Presentation</vt:lpstr>
      <vt:lpstr>Why Do We Need Data Mining?</vt:lpstr>
      <vt:lpstr>Example 1: Supermarket – Market Basket Analysis</vt:lpstr>
      <vt:lpstr>Example 2: Netflix – Recommendation System</vt:lpstr>
      <vt:lpstr>KDD Process (Knowledge Discovery in Databases)</vt:lpstr>
      <vt:lpstr>PowerPoint Presentation</vt:lpstr>
      <vt:lpstr>Applications of Data Mining</vt:lpstr>
      <vt:lpstr>Tools – Introduction to Weka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Mining</dc:title>
  <dc:subject/>
  <dc:creator>Admin</dc:creator>
  <cp:keywords/>
  <dc:description>generated using python-pptx</dc:description>
  <cp:lastModifiedBy>Aamir Mir</cp:lastModifiedBy>
  <cp:revision>8</cp:revision>
  <dcterms:created xsi:type="dcterms:W3CDTF">2013-01-27T09:14:16Z</dcterms:created>
  <dcterms:modified xsi:type="dcterms:W3CDTF">2026-07-08T12:12:28Z</dcterms:modified>
  <cp:category/>
</cp:coreProperties>
</file>