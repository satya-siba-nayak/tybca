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69"/>
  </p:notesMasterIdLst>
  <p:sldIdLst>
    <p:sldId id="332" r:id="rId2"/>
    <p:sldId id="333" r:id="rId3"/>
    <p:sldId id="334" r:id="rId4"/>
    <p:sldId id="335" r:id="rId5"/>
    <p:sldId id="336" r:id="rId6"/>
    <p:sldId id="337" r:id="rId7"/>
    <p:sldId id="258" r:id="rId8"/>
    <p:sldId id="256" r:id="rId9"/>
    <p:sldId id="257" r:id="rId10"/>
    <p:sldId id="259" r:id="rId11"/>
    <p:sldId id="260" r:id="rId12"/>
    <p:sldId id="262" r:id="rId13"/>
    <p:sldId id="261" r:id="rId14"/>
    <p:sldId id="263" r:id="rId15"/>
    <p:sldId id="264" r:id="rId16"/>
    <p:sldId id="265" r:id="rId17"/>
    <p:sldId id="266" r:id="rId18"/>
    <p:sldId id="286" r:id="rId19"/>
    <p:sldId id="288" r:id="rId20"/>
    <p:sldId id="289" r:id="rId21"/>
    <p:sldId id="290" r:id="rId22"/>
    <p:sldId id="291" r:id="rId23"/>
    <p:sldId id="292" r:id="rId24"/>
    <p:sldId id="293" r:id="rId25"/>
    <p:sldId id="294" r:id="rId26"/>
    <p:sldId id="295" r:id="rId27"/>
    <p:sldId id="296" r:id="rId28"/>
    <p:sldId id="297" r:id="rId29"/>
    <p:sldId id="298" r:id="rId30"/>
    <p:sldId id="299" r:id="rId31"/>
    <p:sldId id="267" r:id="rId32"/>
    <p:sldId id="300" r:id="rId33"/>
    <p:sldId id="301" r:id="rId34"/>
    <p:sldId id="302" r:id="rId35"/>
    <p:sldId id="303" r:id="rId36"/>
    <p:sldId id="304" r:id="rId37"/>
    <p:sldId id="305" r:id="rId38"/>
    <p:sldId id="306" r:id="rId39"/>
    <p:sldId id="307" r:id="rId40"/>
    <p:sldId id="308" r:id="rId41"/>
    <p:sldId id="309" r:id="rId42"/>
    <p:sldId id="310" r:id="rId43"/>
    <p:sldId id="311" r:id="rId44"/>
    <p:sldId id="312" r:id="rId45"/>
    <p:sldId id="268" r:id="rId46"/>
    <p:sldId id="269" r:id="rId47"/>
    <p:sldId id="313" r:id="rId48"/>
    <p:sldId id="314" r:id="rId49"/>
    <p:sldId id="315" r:id="rId50"/>
    <p:sldId id="316" r:id="rId51"/>
    <p:sldId id="317" r:id="rId52"/>
    <p:sldId id="319" r:id="rId53"/>
    <p:sldId id="320" r:id="rId54"/>
    <p:sldId id="318" r:id="rId55"/>
    <p:sldId id="321" r:id="rId56"/>
    <p:sldId id="322" r:id="rId57"/>
    <p:sldId id="323" r:id="rId58"/>
    <p:sldId id="324" r:id="rId59"/>
    <p:sldId id="325" r:id="rId60"/>
    <p:sldId id="326" r:id="rId61"/>
    <p:sldId id="327" r:id="rId62"/>
    <p:sldId id="328" r:id="rId63"/>
    <p:sldId id="329" r:id="rId64"/>
    <p:sldId id="330" r:id="rId65"/>
    <p:sldId id="285" r:id="rId66"/>
    <p:sldId id="331" r:id="rId67"/>
    <p:sldId id="270" r:id="rId6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BED8EB-42EA-4061-80EF-1235D508DBE9}" v="13" dt="2026-07-28T04:32:46.4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mir Mir" userId="388ef12b26c08272" providerId="LiveId" clId="{585AC0CC-F6C3-4760-A151-9DF9FDD9A5E9}"/>
    <pc:docChg chg="undo custSel addSld modSld sldOrd">
      <pc:chgData name="Aamir Mir" userId="388ef12b26c08272" providerId="LiveId" clId="{585AC0CC-F6C3-4760-A151-9DF9FDD9A5E9}" dt="2026-07-28T04:41:50.926" v="105" actId="14100"/>
      <pc:docMkLst>
        <pc:docMk/>
      </pc:docMkLst>
      <pc:sldChg chg="ord">
        <pc:chgData name="Aamir Mir" userId="388ef12b26c08272" providerId="LiveId" clId="{585AC0CC-F6C3-4760-A151-9DF9FDD9A5E9}" dt="2026-07-28T04:25:43.770" v="44"/>
        <pc:sldMkLst>
          <pc:docMk/>
          <pc:sldMk cId="2028353886" sldId="256"/>
        </pc:sldMkLst>
      </pc:sldChg>
      <pc:sldChg chg="modSp mod">
        <pc:chgData name="Aamir Mir" userId="388ef12b26c08272" providerId="LiveId" clId="{585AC0CC-F6C3-4760-A151-9DF9FDD9A5E9}" dt="2026-07-28T04:36:43.371" v="82" actId="14100"/>
        <pc:sldMkLst>
          <pc:docMk/>
          <pc:sldMk cId="1320902990" sldId="259"/>
        </pc:sldMkLst>
        <pc:spChg chg="mod">
          <ac:chgData name="Aamir Mir" userId="388ef12b26c08272" providerId="LiveId" clId="{585AC0CC-F6C3-4760-A151-9DF9FDD9A5E9}" dt="2026-07-28T04:36:43.371" v="82" actId="14100"/>
          <ac:spMkLst>
            <pc:docMk/>
            <pc:sldMk cId="1320902990" sldId="259"/>
            <ac:spMk id="3" creationId="{F346DBEB-7651-4C78-A63D-E35516758219}"/>
          </ac:spMkLst>
        </pc:spChg>
      </pc:sldChg>
      <pc:sldChg chg="modSp mod">
        <pc:chgData name="Aamir Mir" userId="388ef12b26c08272" providerId="LiveId" clId="{585AC0CC-F6C3-4760-A151-9DF9FDD9A5E9}" dt="2026-07-28T04:37:34.972" v="85" actId="14100"/>
        <pc:sldMkLst>
          <pc:docMk/>
          <pc:sldMk cId="3989683194" sldId="262"/>
        </pc:sldMkLst>
        <pc:spChg chg="mod">
          <ac:chgData name="Aamir Mir" userId="388ef12b26c08272" providerId="LiveId" clId="{585AC0CC-F6C3-4760-A151-9DF9FDD9A5E9}" dt="2026-07-28T04:37:34.972" v="85" actId="14100"/>
          <ac:spMkLst>
            <pc:docMk/>
            <pc:sldMk cId="3989683194" sldId="262"/>
            <ac:spMk id="3" creationId="{F346DBEB-7651-4C78-A63D-E35516758219}"/>
          </ac:spMkLst>
        </pc:spChg>
      </pc:sldChg>
      <pc:sldChg chg="delSp modSp mod delAnim">
        <pc:chgData name="Aamir Mir" userId="388ef12b26c08272" providerId="LiveId" clId="{585AC0CC-F6C3-4760-A151-9DF9FDD9A5E9}" dt="2026-07-28T04:38:07.879" v="87" actId="255"/>
        <pc:sldMkLst>
          <pc:docMk/>
          <pc:sldMk cId="3736125414" sldId="264"/>
        </pc:sldMkLst>
        <pc:spChg chg="mod">
          <ac:chgData name="Aamir Mir" userId="388ef12b26c08272" providerId="LiveId" clId="{585AC0CC-F6C3-4760-A151-9DF9FDD9A5E9}" dt="2026-07-28T04:38:07.879" v="87" actId="255"/>
          <ac:spMkLst>
            <pc:docMk/>
            <pc:sldMk cId="3736125414" sldId="264"/>
            <ac:spMk id="3" creationId="{F346DBEB-7651-4C78-A63D-E35516758219}"/>
          </ac:spMkLst>
        </pc:spChg>
        <pc:graphicFrameChg chg="del">
          <ac:chgData name="Aamir Mir" userId="388ef12b26c08272" providerId="LiveId" clId="{585AC0CC-F6C3-4760-A151-9DF9FDD9A5E9}" dt="2026-07-28T04:38:00.113" v="86" actId="478"/>
          <ac:graphicFrameMkLst>
            <pc:docMk/>
            <pc:sldMk cId="3736125414" sldId="264"/>
            <ac:graphicFrameMk id="7" creationId="{56837AAC-790B-41A6-880A-01E91D961560}"/>
          </ac:graphicFrameMkLst>
        </pc:graphicFrameChg>
      </pc:sldChg>
      <pc:sldChg chg="modSp mod">
        <pc:chgData name="Aamir Mir" userId="388ef12b26c08272" providerId="LiveId" clId="{585AC0CC-F6C3-4760-A151-9DF9FDD9A5E9}" dt="2026-07-28T04:38:31.273" v="89" actId="14100"/>
        <pc:sldMkLst>
          <pc:docMk/>
          <pc:sldMk cId="2479803918" sldId="266"/>
        </pc:sldMkLst>
        <pc:spChg chg="mod">
          <ac:chgData name="Aamir Mir" userId="388ef12b26c08272" providerId="LiveId" clId="{585AC0CC-F6C3-4760-A151-9DF9FDD9A5E9}" dt="2026-07-28T04:38:31.273" v="89" actId="14100"/>
          <ac:spMkLst>
            <pc:docMk/>
            <pc:sldMk cId="2479803918" sldId="266"/>
            <ac:spMk id="3" creationId="{F346DBEB-7651-4C78-A63D-E35516758219}"/>
          </ac:spMkLst>
        </pc:spChg>
      </pc:sldChg>
      <pc:sldChg chg="modSp mod">
        <pc:chgData name="Aamir Mir" userId="388ef12b26c08272" providerId="LiveId" clId="{585AC0CC-F6C3-4760-A151-9DF9FDD9A5E9}" dt="2026-07-28T04:41:50.926" v="105" actId="14100"/>
        <pc:sldMkLst>
          <pc:docMk/>
          <pc:sldMk cId="999572128" sldId="270"/>
        </pc:sldMkLst>
        <pc:spChg chg="mod">
          <ac:chgData name="Aamir Mir" userId="388ef12b26c08272" providerId="LiveId" clId="{585AC0CC-F6C3-4760-A151-9DF9FDD9A5E9}" dt="2026-07-28T04:41:50.926" v="105" actId="14100"/>
          <ac:spMkLst>
            <pc:docMk/>
            <pc:sldMk cId="999572128" sldId="270"/>
            <ac:spMk id="3" creationId="{F346DBEB-7651-4C78-A63D-E35516758219}"/>
          </ac:spMkLst>
        </pc:spChg>
      </pc:sldChg>
      <pc:sldChg chg="modSp mod">
        <pc:chgData name="Aamir Mir" userId="388ef12b26c08272" providerId="LiveId" clId="{585AC0CC-F6C3-4760-A151-9DF9FDD9A5E9}" dt="2026-07-28T04:41:25.458" v="102" actId="255"/>
        <pc:sldMkLst>
          <pc:docMk/>
          <pc:sldMk cId="4254192949" sldId="285"/>
        </pc:sldMkLst>
        <pc:spChg chg="mod">
          <ac:chgData name="Aamir Mir" userId="388ef12b26c08272" providerId="LiveId" clId="{585AC0CC-F6C3-4760-A151-9DF9FDD9A5E9}" dt="2026-07-28T04:41:25.458" v="102" actId="255"/>
          <ac:spMkLst>
            <pc:docMk/>
            <pc:sldMk cId="4254192949" sldId="285"/>
            <ac:spMk id="3" creationId="{F346DBEB-7651-4C78-A63D-E35516758219}"/>
          </ac:spMkLst>
        </pc:spChg>
      </pc:sldChg>
      <pc:sldChg chg="modSp mod">
        <pc:chgData name="Aamir Mir" userId="388ef12b26c08272" providerId="LiveId" clId="{585AC0CC-F6C3-4760-A151-9DF9FDD9A5E9}" dt="2026-07-28T04:38:55.370" v="91" actId="14100"/>
        <pc:sldMkLst>
          <pc:docMk/>
          <pc:sldMk cId="1630680692" sldId="286"/>
        </pc:sldMkLst>
        <pc:spChg chg="mod">
          <ac:chgData name="Aamir Mir" userId="388ef12b26c08272" providerId="LiveId" clId="{585AC0CC-F6C3-4760-A151-9DF9FDD9A5E9}" dt="2026-07-28T04:38:55.370" v="91" actId="14100"/>
          <ac:spMkLst>
            <pc:docMk/>
            <pc:sldMk cId="1630680692" sldId="286"/>
            <ac:spMk id="3" creationId="{F346DBEB-7651-4C78-A63D-E35516758219}"/>
          </ac:spMkLst>
        </pc:spChg>
      </pc:sldChg>
      <pc:sldChg chg="modSp mod">
        <pc:chgData name="Aamir Mir" userId="388ef12b26c08272" providerId="LiveId" clId="{585AC0CC-F6C3-4760-A151-9DF9FDD9A5E9}" dt="2026-07-28T04:39:04.928" v="92" actId="255"/>
        <pc:sldMkLst>
          <pc:docMk/>
          <pc:sldMk cId="3038781105" sldId="288"/>
        </pc:sldMkLst>
        <pc:spChg chg="mod">
          <ac:chgData name="Aamir Mir" userId="388ef12b26c08272" providerId="LiveId" clId="{585AC0CC-F6C3-4760-A151-9DF9FDD9A5E9}" dt="2026-07-28T04:39:04.928" v="92" actId="255"/>
          <ac:spMkLst>
            <pc:docMk/>
            <pc:sldMk cId="3038781105" sldId="288"/>
            <ac:spMk id="3" creationId="{F346DBEB-7651-4C78-A63D-E35516758219}"/>
          </ac:spMkLst>
        </pc:spChg>
      </pc:sldChg>
      <pc:sldChg chg="modSp mod">
        <pc:chgData name="Aamir Mir" userId="388ef12b26c08272" providerId="LiveId" clId="{585AC0CC-F6C3-4760-A151-9DF9FDD9A5E9}" dt="2026-07-28T04:39:24.836" v="93" actId="255"/>
        <pc:sldMkLst>
          <pc:docMk/>
          <pc:sldMk cId="1577801314" sldId="289"/>
        </pc:sldMkLst>
        <pc:spChg chg="mod">
          <ac:chgData name="Aamir Mir" userId="388ef12b26c08272" providerId="LiveId" clId="{585AC0CC-F6C3-4760-A151-9DF9FDD9A5E9}" dt="2026-07-28T04:39:24.836" v="93" actId="255"/>
          <ac:spMkLst>
            <pc:docMk/>
            <pc:sldMk cId="1577801314" sldId="289"/>
            <ac:spMk id="3" creationId="{F346DBEB-7651-4C78-A63D-E35516758219}"/>
          </ac:spMkLst>
        </pc:spChg>
      </pc:sldChg>
      <pc:sldChg chg="modSp mod">
        <pc:chgData name="Aamir Mir" userId="388ef12b26c08272" providerId="LiveId" clId="{585AC0CC-F6C3-4760-A151-9DF9FDD9A5E9}" dt="2026-07-28T04:39:34.317" v="94" actId="255"/>
        <pc:sldMkLst>
          <pc:docMk/>
          <pc:sldMk cId="1408623412" sldId="290"/>
        </pc:sldMkLst>
        <pc:spChg chg="mod">
          <ac:chgData name="Aamir Mir" userId="388ef12b26c08272" providerId="LiveId" clId="{585AC0CC-F6C3-4760-A151-9DF9FDD9A5E9}" dt="2026-07-28T04:39:34.317" v="94" actId="255"/>
          <ac:spMkLst>
            <pc:docMk/>
            <pc:sldMk cId="1408623412" sldId="290"/>
            <ac:spMk id="3" creationId="{F346DBEB-7651-4C78-A63D-E35516758219}"/>
          </ac:spMkLst>
        </pc:spChg>
      </pc:sldChg>
      <pc:sldChg chg="modSp mod">
        <pc:chgData name="Aamir Mir" userId="388ef12b26c08272" providerId="LiveId" clId="{585AC0CC-F6C3-4760-A151-9DF9FDD9A5E9}" dt="2026-07-28T04:39:49.967" v="95" actId="255"/>
        <pc:sldMkLst>
          <pc:docMk/>
          <pc:sldMk cId="1469220572" sldId="291"/>
        </pc:sldMkLst>
        <pc:spChg chg="mod">
          <ac:chgData name="Aamir Mir" userId="388ef12b26c08272" providerId="LiveId" clId="{585AC0CC-F6C3-4760-A151-9DF9FDD9A5E9}" dt="2026-07-28T04:39:49.967" v="95" actId="255"/>
          <ac:spMkLst>
            <pc:docMk/>
            <pc:sldMk cId="1469220572" sldId="291"/>
            <ac:spMk id="3" creationId="{F346DBEB-7651-4C78-A63D-E35516758219}"/>
          </ac:spMkLst>
        </pc:spChg>
      </pc:sldChg>
      <pc:sldChg chg="modSp mod">
        <pc:chgData name="Aamir Mir" userId="388ef12b26c08272" providerId="LiveId" clId="{585AC0CC-F6C3-4760-A151-9DF9FDD9A5E9}" dt="2026-07-28T04:40:13.516" v="97" actId="14100"/>
        <pc:sldMkLst>
          <pc:docMk/>
          <pc:sldMk cId="1646631926" sldId="292"/>
        </pc:sldMkLst>
        <pc:spChg chg="mod">
          <ac:chgData name="Aamir Mir" userId="388ef12b26c08272" providerId="LiveId" clId="{585AC0CC-F6C3-4760-A151-9DF9FDD9A5E9}" dt="2026-07-28T04:40:13.516" v="97" actId="14100"/>
          <ac:spMkLst>
            <pc:docMk/>
            <pc:sldMk cId="1646631926" sldId="292"/>
            <ac:spMk id="3" creationId="{F346DBEB-7651-4C78-A63D-E35516758219}"/>
          </ac:spMkLst>
        </pc:spChg>
      </pc:sldChg>
      <pc:sldChg chg="modSp mod">
        <pc:chgData name="Aamir Mir" userId="388ef12b26c08272" providerId="LiveId" clId="{585AC0CC-F6C3-4760-A151-9DF9FDD9A5E9}" dt="2026-07-28T04:40:26.533" v="99" actId="14100"/>
        <pc:sldMkLst>
          <pc:docMk/>
          <pc:sldMk cId="69840412" sldId="293"/>
        </pc:sldMkLst>
        <pc:spChg chg="mod">
          <ac:chgData name="Aamir Mir" userId="388ef12b26c08272" providerId="LiveId" clId="{585AC0CC-F6C3-4760-A151-9DF9FDD9A5E9}" dt="2026-07-28T04:40:26.533" v="99" actId="14100"/>
          <ac:spMkLst>
            <pc:docMk/>
            <pc:sldMk cId="69840412" sldId="293"/>
            <ac:spMk id="3" creationId="{F346DBEB-7651-4C78-A63D-E35516758219}"/>
          </ac:spMkLst>
        </pc:spChg>
      </pc:sldChg>
      <pc:sldChg chg="modSp mod">
        <pc:chgData name="Aamir Mir" userId="388ef12b26c08272" providerId="LiveId" clId="{585AC0CC-F6C3-4760-A151-9DF9FDD9A5E9}" dt="2026-07-28T04:41:10.508" v="101" actId="14100"/>
        <pc:sldMkLst>
          <pc:docMk/>
          <pc:sldMk cId="2112456848" sldId="330"/>
        </pc:sldMkLst>
        <pc:spChg chg="mod">
          <ac:chgData name="Aamir Mir" userId="388ef12b26c08272" providerId="LiveId" clId="{585AC0CC-F6C3-4760-A151-9DF9FDD9A5E9}" dt="2026-07-28T04:41:10.508" v="101" actId="14100"/>
          <ac:spMkLst>
            <pc:docMk/>
            <pc:sldMk cId="2112456848" sldId="330"/>
            <ac:spMk id="3" creationId="{F346DBEB-7651-4C78-A63D-E35516758219}"/>
          </ac:spMkLst>
        </pc:spChg>
      </pc:sldChg>
      <pc:sldChg chg="modSp new mod">
        <pc:chgData name="Aamir Mir" userId="388ef12b26c08272" providerId="LiveId" clId="{585AC0CC-F6C3-4760-A151-9DF9FDD9A5E9}" dt="2026-07-28T04:33:31.974" v="80" actId="313"/>
        <pc:sldMkLst>
          <pc:docMk/>
          <pc:sldMk cId="1010294713" sldId="332"/>
        </pc:sldMkLst>
        <pc:spChg chg="mod">
          <ac:chgData name="Aamir Mir" userId="388ef12b26c08272" providerId="LiveId" clId="{585AC0CC-F6C3-4760-A151-9DF9FDD9A5E9}" dt="2026-07-28T04:26:07.940" v="45"/>
          <ac:spMkLst>
            <pc:docMk/>
            <pc:sldMk cId="1010294713" sldId="332"/>
            <ac:spMk id="2" creationId="{96D8177A-7ED3-0B66-2EB7-9A98BFAE9D8D}"/>
          </ac:spMkLst>
        </pc:spChg>
        <pc:spChg chg="mod">
          <ac:chgData name="Aamir Mir" userId="388ef12b26c08272" providerId="LiveId" clId="{585AC0CC-F6C3-4760-A151-9DF9FDD9A5E9}" dt="2026-07-28T04:33:31.974" v="80" actId="313"/>
          <ac:spMkLst>
            <pc:docMk/>
            <pc:sldMk cId="1010294713" sldId="332"/>
            <ac:spMk id="3" creationId="{4CE057CD-D03E-F960-4559-31F4ECFE5A63}"/>
          </ac:spMkLst>
        </pc:spChg>
      </pc:sldChg>
      <pc:sldChg chg="modSp new mod">
        <pc:chgData name="Aamir Mir" userId="388ef12b26c08272" providerId="LiveId" clId="{585AC0CC-F6C3-4760-A151-9DF9FDD9A5E9}" dt="2026-07-28T04:25:25.080" v="42" actId="255"/>
        <pc:sldMkLst>
          <pc:docMk/>
          <pc:sldMk cId="1318959667" sldId="333"/>
        </pc:sldMkLst>
        <pc:spChg chg="mod">
          <ac:chgData name="Aamir Mir" userId="388ef12b26c08272" providerId="LiveId" clId="{585AC0CC-F6C3-4760-A151-9DF9FDD9A5E9}" dt="2026-07-28T04:24:32.882" v="11"/>
          <ac:spMkLst>
            <pc:docMk/>
            <pc:sldMk cId="1318959667" sldId="333"/>
            <ac:spMk id="2" creationId="{D31996AB-9085-2A11-96F2-7D5131C55DF4}"/>
          </ac:spMkLst>
        </pc:spChg>
        <pc:spChg chg="mod">
          <ac:chgData name="Aamir Mir" userId="388ef12b26c08272" providerId="LiveId" clId="{585AC0CC-F6C3-4760-A151-9DF9FDD9A5E9}" dt="2026-07-28T04:25:25.080" v="42" actId="255"/>
          <ac:spMkLst>
            <pc:docMk/>
            <pc:sldMk cId="1318959667" sldId="333"/>
            <ac:spMk id="3" creationId="{76257429-5EB0-1969-EE39-8CB071CC33D5}"/>
          </ac:spMkLst>
        </pc:spChg>
      </pc:sldChg>
      <pc:sldChg chg="modSp new mod">
        <pc:chgData name="Aamir Mir" userId="388ef12b26c08272" providerId="LiveId" clId="{585AC0CC-F6C3-4760-A151-9DF9FDD9A5E9}" dt="2026-07-28T04:30:17.010" v="63" actId="14100"/>
        <pc:sldMkLst>
          <pc:docMk/>
          <pc:sldMk cId="95493954" sldId="334"/>
        </pc:sldMkLst>
        <pc:spChg chg="mod">
          <ac:chgData name="Aamir Mir" userId="388ef12b26c08272" providerId="LiveId" clId="{585AC0CC-F6C3-4760-A151-9DF9FDD9A5E9}" dt="2026-07-28T04:27:40.407" v="51"/>
          <ac:spMkLst>
            <pc:docMk/>
            <pc:sldMk cId="95493954" sldId="334"/>
            <ac:spMk id="2" creationId="{ABF9CD04-8F8B-FEB9-8842-BC54388D55EE}"/>
          </ac:spMkLst>
        </pc:spChg>
        <pc:spChg chg="mod">
          <ac:chgData name="Aamir Mir" userId="388ef12b26c08272" providerId="LiveId" clId="{585AC0CC-F6C3-4760-A151-9DF9FDD9A5E9}" dt="2026-07-28T04:30:17.010" v="63" actId="14100"/>
          <ac:spMkLst>
            <pc:docMk/>
            <pc:sldMk cId="95493954" sldId="334"/>
            <ac:spMk id="3" creationId="{6B70A25E-1D0A-48EE-0AF5-049967089D7A}"/>
          </ac:spMkLst>
        </pc:spChg>
      </pc:sldChg>
      <pc:sldChg chg="modSp new mod">
        <pc:chgData name="Aamir Mir" userId="388ef12b26c08272" providerId="LiveId" clId="{585AC0CC-F6C3-4760-A151-9DF9FDD9A5E9}" dt="2026-07-28T04:29:36.584" v="59" actId="14100"/>
        <pc:sldMkLst>
          <pc:docMk/>
          <pc:sldMk cId="1931029922" sldId="335"/>
        </pc:sldMkLst>
        <pc:spChg chg="mod">
          <ac:chgData name="Aamir Mir" userId="388ef12b26c08272" providerId="LiveId" clId="{585AC0CC-F6C3-4760-A151-9DF9FDD9A5E9}" dt="2026-07-28T04:29:13.425" v="56"/>
          <ac:spMkLst>
            <pc:docMk/>
            <pc:sldMk cId="1931029922" sldId="335"/>
            <ac:spMk id="2" creationId="{A3C8D690-B3B0-7F55-C427-A864B20F5AD9}"/>
          </ac:spMkLst>
        </pc:spChg>
        <pc:spChg chg="mod">
          <ac:chgData name="Aamir Mir" userId="388ef12b26c08272" providerId="LiveId" clId="{585AC0CC-F6C3-4760-A151-9DF9FDD9A5E9}" dt="2026-07-28T04:29:36.584" v="59" actId="14100"/>
          <ac:spMkLst>
            <pc:docMk/>
            <pc:sldMk cId="1931029922" sldId="335"/>
            <ac:spMk id="3" creationId="{E3CC6A5B-88C9-03EF-8405-757590275ED7}"/>
          </ac:spMkLst>
        </pc:spChg>
      </pc:sldChg>
      <pc:sldChg chg="modSp new mod">
        <pc:chgData name="Aamir Mir" userId="388ef12b26c08272" providerId="LiveId" clId="{585AC0CC-F6C3-4760-A151-9DF9FDD9A5E9}" dt="2026-07-28T04:31:56.663" v="69" actId="14100"/>
        <pc:sldMkLst>
          <pc:docMk/>
          <pc:sldMk cId="1967010649" sldId="336"/>
        </pc:sldMkLst>
        <pc:spChg chg="mod">
          <ac:chgData name="Aamir Mir" userId="388ef12b26c08272" providerId="LiveId" clId="{585AC0CC-F6C3-4760-A151-9DF9FDD9A5E9}" dt="2026-07-28T04:31:42.821" v="67"/>
          <ac:spMkLst>
            <pc:docMk/>
            <pc:sldMk cId="1967010649" sldId="336"/>
            <ac:spMk id="2" creationId="{EDEAF2C5-634D-980C-4368-3F51DA2CB2E0}"/>
          </ac:spMkLst>
        </pc:spChg>
        <pc:spChg chg="mod">
          <ac:chgData name="Aamir Mir" userId="388ef12b26c08272" providerId="LiveId" clId="{585AC0CC-F6C3-4760-A151-9DF9FDD9A5E9}" dt="2026-07-28T04:31:56.663" v="69" actId="14100"/>
          <ac:spMkLst>
            <pc:docMk/>
            <pc:sldMk cId="1967010649" sldId="336"/>
            <ac:spMk id="3" creationId="{B9102950-7A33-C0FF-51D2-20D3A70132BE}"/>
          </ac:spMkLst>
        </pc:spChg>
      </pc:sldChg>
      <pc:sldChg chg="modSp new mod">
        <pc:chgData name="Aamir Mir" userId="388ef12b26c08272" providerId="LiveId" clId="{585AC0CC-F6C3-4760-A151-9DF9FDD9A5E9}" dt="2026-07-28T04:32:55.605" v="77" actId="255"/>
        <pc:sldMkLst>
          <pc:docMk/>
          <pc:sldMk cId="3414045933" sldId="337"/>
        </pc:sldMkLst>
        <pc:spChg chg="mod">
          <ac:chgData name="Aamir Mir" userId="388ef12b26c08272" providerId="LiveId" clId="{585AC0CC-F6C3-4760-A151-9DF9FDD9A5E9}" dt="2026-07-28T04:32:46.409" v="76"/>
          <ac:spMkLst>
            <pc:docMk/>
            <pc:sldMk cId="3414045933" sldId="337"/>
            <ac:spMk id="2" creationId="{7D122B1F-42B5-12A5-0971-3FAD116BEB1A}"/>
          </ac:spMkLst>
        </pc:spChg>
        <pc:spChg chg="mod">
          <ac:chgData name="Aamir Mir" userId="388ef12b26c08272" providerId="LiveId" clId="{585AC0CC-F6C3-4760-A151-9DF9FDD9A5E9}" dt="2026-07-28T04:32:55.605" v="77" actId="255"/>
          <ac:spMkLst>
            <pc:docMk/>
            <pc:sldMk cId="3414045933" sldId="337"/>
            <ac:spMk id="3" creationId="{2374D7C9-0A02-1CE5-5D13-481D6BCDBFD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BEDF52-571F-4917-9886-B016F4F00AF4}" type="doc">
      <dgm:prSet loTypeId="urn:microsoft.com/office/officeart/2008/layout/VerticalCurvedList" loCatId="list" qsTypeId="urn:microsoft.com/office/officeart/2005/8/quickstyle/simple1" qsCatId="simple" csTypeId="urn:microsoft.com/office/officeart/2005/8/colors/colorful2" csCatId="colorful" phldr="1"/>
      <dgm:spPr/>
      <dgm:t>
        <a:bodyPr/>
        <a:lstStyle/>
        <a:p>
          <a:endParaRPr lang="en-IN"/>
        </a:p>
      </dgm:t>
    </dgm:pt>
    <dgm:pt modelId="{86D84291-930C-49ED-A6F9-60B4AF46A41B}">
      <dgm:prSet phldrT="[Text]"/>
      <dgm:spPr/>
      <dgm:t>
        <a:bodyPr/>
        <a:lstStyle/>
        <a:p>
          <a:pPr algn="l"/>
          <a:r>
            <a:rPr lang="en-IN" dirty="0"/>
            <a:t> Capture of static data</a:t>
          </a:r>
        </a:p>
      </dgm:t>
    </dgm:pt>
    <dgm:pt modelId="{373FD1E5-589A-4851-8EA5-EB304CAC2F3A}" type="parTrans" cxnId="{7860E2F1-420E-4781-A3C5-BE406D143813}">
      <dgm:prSet/>
      <dgm:spPr/>
      <dgm:t>
        <a:bodyPr/>
        <a:lstStyle/>
        <a:p>
          <a:pPr algn="l"/>
          <a:endParaRPr lang="en-IN"/>
        </a:p>
      </dgm:t>
    </dgm:pt>
    <dgm:pt modelId="{9A11700E-8DB1-472E-8C07-A01B324881D9}" type="sibTrans" cxnId="{7860E2F1-420E-4781-A3C5-BE406D143813}">
      <dgm:prSet/>
      <dgm:spPr/>
      <dgm:t>
        <a:bodyPr/>
        <a:lstStyle/>
        <a:p>
          <a:pPr algn="l"/>
          <a:endParaRPr lang="en-IN"/>
        </a:p>
      </dgm:t>
    </dgm:pt>
    <dgm:pt modelId="{3C3974AC-5AFB-49E4-AD33-A61BC6E6E582}">
      <dgm:prSet phldrT="[Text]"/>
      <dgm:spPr/>
      <dgm:t>
        <a:bodyPr/>
        <a:lstStyle/>
        <a:p>
          <a:pPr algn="l"/>
          <a:r>
            <a:rPr lang="en-IN" dirty="0"/>
            <a:t> Capture through transaction log</a:t>
          </a:r>
        </a:p>
      </dgm:t>
    </dgm:pt>
    <dgm:pt modelId="{97B1C855-7DDB-4409-BD42-E7A09952E0D1}" type="parTrans" cxnId="{C2BCA014-E528-4613-A919-6DF802095F28}">
      <dgm:prSet/>
      <dgm:spPr/>
      <dgm:t>
        <a:bodyPr/>
        <a:lstStyle/>
        <a:p>
          <a:pPr algn="l"/>
          <a:endParaRPr lang="en-IN"/>
        </a:p>
      </dgm:t>
    </dgm:pt>
    <dgm:pt modelId="{CE5FD0A2-7E56-4A8D-ADF0-B0B20F342603}" type="sibTrans" cxnId="{C2BCA014-E528-4613-A919-6DF802095F28}">
      <dgm:prSet/>
      <dgm:spPr/>
      <dgm:t>
        <a:bodyPr/>
        <a:lstStyle/>
        <a:p>
          <a:pPr algn="l"/>
          <a:endParaRPr lang="en-IN"/>
        </a:p>
      </dgm:t>
    </dgm:pt>
    <dgm:pt modelId="{7C66C5AE-BCFA-4E93-AE02-2520F8884CE5}">
      <dgm:prSet phldrT="[Text]"/>
      <dgm:spPr/>
      <dgm:t>
        <a:bodyPr/>
        <a:lstStyle/>
        <a:p>
          <a:pPr algn="l"/>
          <a:r>
            <a:rPr lang="en-IN" dirty="0"/>
            <a:t> Capture through database triggers</a:t>
          </a:r>
        </a:p>
      </dgm:t>
    </dgm:pt>
    <dgm:pt modelId="{FA40AB32-A9BA-48B5-87A9-151359519D90}" type="parTrans" cxnId="{B3407570-A43A-475B-B28E-E1DAFEA7AF67}">
      <dgm:prSet/>
      <dgm:spPr/>
      <dgm:t>
        <a:bodyPr/>
        <a:lstStyle/>
        <a:p>
          <a:pPr algn="l"/>
          <a:endParaRPr lang="en-IN"/>
        </a:p>
      </dgm:t>
    </dgm:pt>
    <dgm:pt modelId="{1CEA17EE-8C32-4EEE-92D3-FF1B10C69130}" type="sibTrans" cxnId="{B3407570-A43A-475B-B28E-E1DAFEA7AF67}">
      <dgm:prSet/>
      <dgm:spPr/>
      <dgm:t>
        <a:bodyPr/>
        <a:lstStyle/>
        <a:p>
          <a:pPr algn="l"/>
          <a:endParaRPr lang="en-IN"/>
        </a:p>
      </dgm:t>
    </dgm:pt>
    <dgm:pt modelId="{BFF0831B-4474-4EE2-8DEC-88B6137021B4}">
      <dgm:prSet phldrT="[Text]"/>
      <dgm:spPr/>
      <dgm:t>
        <a:bodyPr/>
        <a:lstStyle/>
        <a:p>
          <a:pPr algn="l"/>
          <a:r>
            <a:rPr lang="en-IN" dirty="0"/>
            <a:t> Capture in source applications</a:t>
          </a:r>
        </a:p>
      </dgm:t>
    </dgm:pt>
    <dgm:pt modelId="{5A583590-09EB-4B8D-AD29-D21715D47887}" type="parTrans" cxnId="{06F97C22-FD0D-47A0-894E-7361C02129CE}">
      <dgm:prSet/>
      <dgm:spPr/>
      <dgm:t>
        <a:bodyPr/>
        <a:lstStyle/>
        <a:p>
          <a:pPr algn="l"/>
          <a:endParaRPr lang="en-IN"/>
        </a:p>
      </dgm:t>
    </dgm:pt>
    <dgm:pt modelId="{1AF2533C-6594-4328-B466-27121FB7D51B}" type="sibTrans" cxnId="{06F97C22-FD0D-47A0-894E-7361C02129CE}">
      <dgm:prSet/>
      <dgm:spPr/>
      <dgm:t>
        <a:bodyPr/>
        <a:lstStyle/>
        <a:p>
          <a:pPr algn="l"/>
          <a:endParaRPr lang="en-IN"/>
        </a:p>
      </dgm:t>
    </dgm:pt>
    <dgm:pt modelId="{CEAF2CAC-EDC4-4EAD-9517-D0813CD2F8B9}">
      <dgm:prSet phldrT="[Text]"/>
      <dgm:spPr/>
      <dgm:t>
        <a:bodyPr/>
        <a:lstStyle/>
        <a:p>
          <a:pPr algn="l"/>
          <a:r>
            <a:rPr lang="en-IN" dirty="0"/>
            <a:t> Capture based on date and time stamp</a:t>
          </a:r>
        </a:p>
      </dgm:t>
    </dgm:pt>
    <dgm:pt modelId="{8D536FA8-D392-4C67-A368-BFDC95C2FBDA}" type="parTrans" cxnId="{20BDA6DD-35AC-4996-B53B-C731391399CC}">
      <dgm:prSet/>
      <dgm:spPr/>
      <dgm:t>
        <a:bodyPr/>
        <a:lstStyle/>
        <a:p>
          <a:pPr algn="l"/>
          <a:endParaRPr lang="en-IN"/>
        </a:p>
      </dgm:t>
    </dgm:pt>
    <dgm:pt modelId="{22794CAF-C689-472D-8CBB-940B511C018B}" type="sibTrans" cxnId="{20BDA6DD-35AC-4996-B53B-C731391399CC}">
      <dgm:prSet/>
      <dgm:spPr/>
      <dgm:t>
        <a:bodyPr/>
        <a:lstStyle/>
        <a:p>
          <a:pPr algn="l"/>
          <a:endParaRPr lang="en-IN"/>
        </a:p>
      </dgm:t>
    </dgm:pt>
    <dgm:pt modelId="{C3E890F8-8838-4417-8BCF-81ECFBD56914}">
      <dgm:prSet phldrT="[Text]"/>
      <dgm:spPr/>
      <dgm:t>
        <a:bodyPr/>
        <a:lstStyle/>
        <a:p>
          <a:pPr algn="l"/>
          <a:r>
            <a:rPr lang="en-IN" dirty="0"/>
            <a:t> Capture by comparing files</a:t>
          </a:r>
        </a:p>
      </dgm:t>
    </dgm:pt>
    <dgm:pt modelId="{14109ED4-DD26-455F-A5B6-F4DE9556DC39}" type="parTrans" cxnId="{D4FA2B22-5716-4AB8-A97C-D03B391434C3}">
      <dgm:prSet/>
      <dgm:spPr/>
      <dgm:t>
        <a:bodyPr/>
        <a:lstStyle/>
        <a:p>
          <a:pPr algn="l"/>
          <a:endParaRPr lang="en-IN"/>
        </a:p>
      </dgm:t>
    </dgm:pt>
    <dgm:pt modelId="{0DF6CFFA-6F20-474E-83BA-F8B8F00472B7}" type="sibTrans" cxnId="{D4FA2B22-5716-4AB8-A97C-D03B391434C3}">
      <dgm:prSet/>
      <dgm:spPr/>
      <dgm:t>
        <a:bodyPr/>
        <a:lstStyle/>
        <a:p>
          <a:pPr algn="l"/>
          <a:endParaRPr lang="en-IN"/>
        </a:p>
      </dgm:t>
    </dgm:pt>
    <dgm:pt modelId="{EFA4F623-64CC-4AAB-8E88-2959E56ECEC8}" type="pres">
      <dgm:prSet presAssocID="{53BEDF52-571F-4917-9886-B016F4F00AF4}" presName="Name0" presStyleCnt="0">
        <dgm:presLayoutVars>
          <dgm:chMax val="7"/>
          <dgm:chPref val="7"/>
          <dgm:dir/>
        </dgm:presLayoutVars>
      </dgm:prSet>
      <dgm:spPr/>
    </dgm:pt>
    <dgm:pt modelId="{6DB96627-03C8-4703-B78A-D5F10C92BB93}" type="pres">
      <dgm:prSet presAssocID="{53BEDF52-571F-4917-9886-B016F4F00AF4}" presName="Name1" presStyleCnt="0"/>
      <dgm:spPr/>
    </dgm:pt>
    <dgm:pt modelId="{5A33E003-7C68-4C82-9C7C-DFEF807D4ACA}" type="pres">
      <dgm:prSet presAssocID="{53BEDF52-571F-4917-9886-B016F4F00AF4}" presName="cycle" presStyleCnt="0"/>
      <dgm:spPr/>
    </dgm:pt>
    <dgm:pt modelId="{0373C290-572F-4E76-B88D-8F8A763211EC}" type="pres">
      <dgm:prSet presAssocID="{53BEDF52-571F-4917-9886-B016F4F00AF4}" presName="srcNode" presStyleLbl="node1" presStyleIdx="0" presStyleCnt="6"/>
      <dgm:spPr/>
    </dgm:pt>
    <dgm:pt modelId="{E1657DC5-BC57-4C72-8B88-861C64C72481}" type="pres">
      <dgm:prSet presAssocID="{53BEDF52-571F-4917-9886-B016F4F00AF4}" presName="conn" presStyleLbl="parChTrans1D2" presStyleIdx="0" presStyleCnt="1"/>
      <dgm:spPr/>
    </dgm:pt>
    <dgm:pt modelId="{644EDFA5-CA67-4736-A0D6-EB5E9D782616}" type="pres">
      <dgm:prSet presAssocID="{53BEDF52-571F-4917-9886-B016F4F00AF4}" presName="extraNode" presStyleLbl="node1" presStyleIdx="0" presStyleCnt="6"/>
      <dgm:spPr/>
    </dgm:pt>
    <dgm:pt modelId="{5BC44E59-647E-40DC-81D2-4D23BE3D273B}" type="pres">
      <dgm:prSet presAssocID="{53BEDF52-571F-4917-9886-B016F4F00AF4}" presName="dstNode" presStyleLbl="node1" presStyleIdx="0" presStyleCnt="6"/>
      <dgm:spPr/>
    </dgm:pt>
    <dgm:pt modelId="{99ED1F05-9411-40F6-B9C4-486B9E9A10F9}" type="pres">
      <dgm:prSet presAssocID="{86D84291-930C-49ED-A6F9-60B4AF46A41B}" presName="text_1" presStyleLbl="node1" presStyleIdx="0" presStyleCnt="6">
        <dgm:presLayoutVars>
          <dgm:bulletEnabled val="1"/>
        </dgm:presLayoutVars>
      </dgm:prSet>
      <dgm:spPr/>
    </dgm:pt>
    <dgm:pt modelId="{24BE089A-7EE8-4F53-B11D-6A400B6748F3}" type="pres">
      <dgm:prSet presAssocID="{86D84291-930C-49ED-A6F9-60B4AF46A41B}" presName="accent_1" presStyleCnt="0"/>
      <dgm:spPr/>
    </dgm:pt>
    <dgm:pt modelId="{1BECC670-E72E-4AC0-9566-408A9281D1B5}" type="pres">
      <dgm:prSet presAssocID="{86D84291-930C-49ED-A6F9-60B4AF46A41B}" presName="accentRepeatNode" presStyleLbl="solidFgAcc1" presStyleIdx="0" presStyleCnt="6"/>
      <dgm:spPr/>
    </dgm:pt>
    <dgm:pt modelId="{97C9F32D-F411-45A7-A129-52BC06BB3CC1}" type="pres">
      <dgm:prSet presAssocID="{3C3974AC-5AFB-49E4-AD33-A61BC6E6E582}" presName="text_2" presStyleLbl="node1" presStyleIdx="1" presStyleCnt="6">
        <dgm:presLayoutVars>
          <dgm:bulletEnabled val="1"/>
        </dgm:presLayoutVars>
      </dgm:prSet>
      <dgm:spPr/>
    </dgm:pt>
    <dgm:pt modelId="{C400F35C-81E3-4614-8FC3-00C1493D11E6}" type="pres">
      <dgm:prSet presAssocID="{3C3974AC-5AFB-49E4-AD33-A61BC6E6E582}" presName="accent_2" presStyleCnt="0"/>
      <dgm:spPr/>
    </dgm:pt>
    <dgm:pt modelId="{4480F9CA-8F22-4D4D-B76A-35BBD203637A}" type="pres">
      <dgm:prSet presAssocID="{3C3974AC-5AFB-49E4-AD33-A61BC6E6E582}" presName="accentRepeatNode" presStyleLbl="solidFgAcc1" presStyleIdx="1" presStyleCnt="6"/>
      <dgm:spPr/>
    </dgm:pt>
    <dgm:pt modelId="{4278551B-CE9B-44B7-AF6B-850CF4E77973}" type="pres">
      <dgm:prSet presAssocID="{7C66C5AE-BCFA-4E93-AE02-2520F8884CE5}" presName="text_3" presStyleLbl="node1" presStyleIdx="2" presStyleCnt="6">
        <dgm:presLayoutVars>
          <dgm:bulletEnabled val="1"/>
        </dgm:presLayoutVars>
      </dgm:prSet>
      <dgm:spPr/>
    </dgm:pt>
    <dgm:pt modelId="{31938EB7-1201-49FD-8504-BC32EAC8F4FB}" type="pres">
      <dgm:prSet presAssocID="{7C66C5AE-BCFA-4E93-AE02-2520F8884CE5}" presName="accent_3" presStyleCnt="0"/>
      <dgm:spPr/>
    </dgm:pt>
    <dgm:pt modelId="{6F30F3CF-D228-42E0-9C85-F84A2CD4F2DC}" type="pres">
      <dgm:prSet presAssocID="{7C66C5AE-BCFA-4E93-AE02-2520F8884CE5}" presName="accentRepeatNode" presStyleLbl="solidFgAcc1" presStyleIdx="2" presStyleCnt="6"/>
      <dgm:spPr/>
    </dgm:pt>
    <dgm:pt modelId="{660CF0F6-8B84-4F4D-A7FE-B8FA317D5D34}" type="pres">
      <dgm:prSet presAssocID="{BFF0831B-4474-4EE2-8DEC-88B6137021B4}" presName="text_4" presStyleLbl="node1" presStyleIdx="3" presStyleCnt="6">
        <dgm:presLayoutVars>
          <dgm:bulletEnabled val="1"/>
        </dgm:presLayoutVars>
      </dgm:prSet>
      <dgm:spPr/>
    </dgm:pt>
    <dgm:pt modelId="{36FB3CE3-28FC-4D91-92E6-8A42B29E2638}" type="pres">
      <dgm:prSet presAssocID="{BFF0831B-4474-4EE2-8DEC-88B6137021B4}" presName="accent_4" presStyleCnt="0"/>
      <dgm:spPr/>
    </dgm:pt>
    <dgm:pt modelId="{8E4137F2-1254-4D64-B240-9D3A002A25DC}" type="pres">
      <dgm:prSet presAssocID="{BFF0831B-4474-4EE2-8DEC-88B6137021B4}" presName="accentRepeatNode" presStyleLbl="solidFgAcc1" presStyleIdx="3" presStyleCnt="6"/>
      <dgm:spPr/>
    </dgm:pt>
    <dgm:pt modelId="{668C3533-282F-4740-B016-58AE3E093461}" type="pres">
      <dgm:prSet presAssocID="{CEAF2CAC-EDC4-4EAD-9517-D0813CD2F8B9}" presName="text_5" presStyleLbl="node1" presStyleIdx="4" presStyleCnt="6">
        <dgm:presLayoutVars>
          <dgm:bulletEnabled val="1"/>
        </dgm:presLayoutVars>
      </dgm:prSet>
      <dgm:spPr/>
    </dgm:pt>
    <dgm:pt modelId="{6CD8CAEF-DE35-4F47-A0A1-D10202616222}" type="pres">
      <dgm:prSet presAssocID="{CEAF2CAC-EDC4-4EAD-9517-D0813CD2F8B9}" presName="accent_5" presStyleCnt="0"/>
      <dgm:spPr/>
    </dgm:pt>
    <dgm:pt modelId="{067F30D6-54FA-4C56-9259-1CADA8BAD400}" type="pres">
      <dgm:prSet presAssocID="{CEAF2CAC-EDC4-4EAD-9517-D0813CD2F8B9}" presName="accentRepeatNode" presStyleLbl="solidFgAcc1" presStyleIdx="4" presStyleCnt="6"/>
      <dgm:spPr/>
    </dgm:pt>
    <dgm:pt modelId="{86408E1D-F487-4924-B168-E0D6F351AF94}" type="pres">
      <dgm:prSet presAssocID="{C3E890F8-8838-4417-8BCF-81ECFBD56914}" presName="text_6" presStyleLbl="node1" presStyleIdx="5" presStyleCnt="6">
        <dgm:presLayoutVars>
          <dgm:bulletEnabled val="1"/>
        </dgm:presLayoutVars>
      </dgm:prSet>
      <dgm:spPr/>
    </dgm:pt>
    <dgm:pt modelId="{C91A282E-6AA7-43A1-A74B-20E5E7530069}" type="pres">
      <dgm:prSet presAssocID="{C3E890F8-8838-4417-8BCF-81ECFBD56914}" presName="accent_6" presStyleCnt="0"/>
      <dgm:spPr/>
    </dgm:pt>
    <dgm:pt modelId="{40F75978-229E-45DE-82BD-5134E8733A04}" type="pres">
      <dgm:prSet presAssocID="{C3E890F8-8838-4417-8BCF-81ECFBD56914}" presName="accentRepeatNode" presStyleLbl="solidFgAcc1" presStyleIdx="5" presStyleCnt="6"/>
      <dgm:spPr/>
    </dgm:pt>
  </dgm:ptLst>
  <dgm:cxnLst>
    <dgm:cxn modelId="{C2BCA014-E528-4613-A919-6DF802095F28}" srcId="{53BEDF52-571F-4917-9886-B016F4F00AF4}" destId="{3C3974AC-5AFB-49E4-AD33-A61BC6E6E582}" srcOrd="1" destOrd="0" parTransId="{97B1C855-7DDB-4409-BD42-E7A09952E0D1}" sibTransId="{CE5FD0A2-7E56-4A8D-ADF0-B0B20F342603}"/>
    <dgm:cxn modelId="{0690861E-004C-4D4B-BCB0-E70B5A7BCB39}" type="presOf" srcId="{C3E890F8-8838-4417-8BCF-81ECFBD56914}" destId="{86408E1D-F487-4924-B168-E0D6F351AF94}" srcOrd="0" destOrd="0" presId="urn:microsoft.com/office/officeart/2008/layout/VerticalCurvedList"/>
    <dgm:cxn modelId="{D4FA2B22-5716-4AB8-A97C-D03B391434C3}" srcId="{53BEDF52-571F-4917-9886-B016F4F00AF4}" destId="{C3E890F8-8838-4417-8BCF-81ECFBD56914}" srcOrd="5" destOrd="0" parTransId="{14109ED4-DD26-455F-A5B6-F4DE9556DC39}" sibTransId="{0DF6CFFA-6F20-474E-83BA-F8B8F00472B7}"/>
    <dgm:cxn modelId="{06F97C22-FD0D-47A0-894E-7361C02129CE}" srcId="{53BEDF52-571F-4917-9886-B016F4F00AF4}" destId="{BFF0831B-4474-4EE2-8DEC-88B6137021B4}" srcOrd="3" destOrd="0" parTransId="{5A583590-09EB-4B8D-AD29-D21715D47887}" sibTransId="{1AF2533C-6594-4328-B466-27121FB7D51B}"/>
    <dgm:cxn modelId="{F58BED49-F5D2-4418-8D71-D0EE27DA5352}" type="presOf" srcId="{53BEDF52-571F-4917-9886-B016F4F00AF4}" destId="{EFA4F623-64CC-4AAB-8E88-2959E56ECEC8}" srcOrd="0" destOrd="0" presId="urn:microsoft.com/office/officeart/2008/layout/VerticalCurvedList"/>
    <dgm:cxn modelId="{B3407570-A43A-475B-B28E-E1DAFEA7AF67}" srcId="{53BEDF52-571F-4917-9886-B016F4F00AF4}" destId="{7C66C5AE-BCFA-4E93-AE02-2520F8884CE5}" srcOrd="2" destOrd="0" parTransId="{FA40AB32-A9BA-48B5-87A9-151359519D90}" sibTransId="{1CEA17EE-8C32-4EEE-92D3-FF1B10C69130}"/>
    <dgm:cxn modelId="{8470F67C-07EE-4F99-AB29-8AC5F11BC82C}" type="presOf" srcId="{3C3974AC-5AFB-49E4-AD33-A61BC6E6E582}" destId="{97C9F32D-F411-45A7-A129-52BC06BB3CC1}" srcOrd="0" destOrd="0" presId="urn:microsoft.com/office/officeart/2008/layout/VerticalCurvedList"/>
    <dgm:cxn modelId="{B7E2018C-1B3E-48A0-B855-48E22115E626}" type="presOf" srcId="{9A11700E-8DB1-472E-8C07-A01B324881D9}" destId="{E1657DC5-BC57-4C72-8B88-861C64C72481}" srcOrd="0" destOrd="0" presId="urn:microsoft.com/office/officeart/2008/layout/VerticalCurvedList"/>
    <dgm:cxn modelId="{B033D8AA-5DB2-40CD-8392-EF4CBF3B7FF1}" type="presOf" srcId="{7C66C5AE-BCFA-4E93-AE02-2520F8884CE5}" destId="{4278551B-CE9B-44B7-AF6B-850CF4E77973}" srcOrd="0" destOrd="0" presId="urn:microsoft.com/office/officeart/2008/layout/VerticalCurvedList"/>
    <dgm:cxn modelId="{8CB799B9-571A-4797-9FED-14AAFE4CB229}" type="presOf" srcId="{86D84291-930C-49ED-A6F9-60B4AF46A41B}" destId="{99ED1F05-9411-40F6-B9C4-486B9E9A10F9}" srcOrd="0" destOrd="0" presId="urn:microsoft.com/office/officeart/2008/layout/VerticalCurvedList"/>
    <dgm:cxn modelId="{C46E75CD-4056-4CBE-AADE-723DDD1748C9}" type="presOf" srcId="{CEAF2CAC-EDC4-4EAD-9517-D0813CD2F8B9}" destId="{668C3533-282F-4740-B016-58AE3E093461}" srcOrd="0" destOrd="0" presId="urn:microsoft.com/office/officeart/2008/layout/VerticalCurvedList"/>
    <dgm:cxn modelId="{ED13E7D8-83B6-4834-A48E-3E49B1B261D8}" type="presOf" srcId="{BFF0831B-4474-4EE2-8DEC-88B6137021B4}" destId="{660CF0F6-8B84-4F4D-A7FE-B8FA317D5D34}" srcOrd="0" destOrd="0" presId="urn:microsoft.com/office/officeart/2008/layout/VerticalCurvedList"/>
    <dgm:cxn modelId="{20BDA6DD-35AC-4996-B53B-C731391399CC}" srcId="{53BEDF52-571F-4917-9886-B016F4F00AF4}" destId="{CEAF2CAC-EDC4-4EAD-9517-D0813CD2F8B9}" srcOrd="4" destOrd="0" parTransId="{8D536FA8-D392-4C67-A368-BFDC95C2FBDA}" sibTransId="{22794CAF-C689-472D-8CBB-940B511C018B}"/>
    <dgm:cxn modelId="{7860E2F1-420E-4781-A3C5-BE406D143813}" srcId="{53BEDF52-571F-4917-9886-B016F4F00AF4}" destId="{86D84291-930C-49ED-A6F9-60B4AF46A41B}" srcOrd="0" destOrd="0" parTransId="{373FD1E5-589A-4851-8EA5-EB304CAC2F3A}" sibTransId="{9A11700E-8DB1-472E-8C07-A01B324881D9}"/>
    <dgm:cxn modelId="{72B840F1-755F-4250-BFDA-F4519CC2E370}" type="presParOf" srcId="{EFA4F623-64CC-4AAB-8E88-2959E56ECEC8}" destId="{6DB96627-03C8-4703-B78A-D5F10C92BB93}" srcOrd="0" destOrd="0" presId="urn:microsoft.com/office/officeart/2008/layout/VerticalCurvedList"/>
    <dgm:cxn modelId="{0EB5D868-749A-4E9D-9475-8FE1630DD262}" type="presParOf" srcId="{6DB96627-03C8-4703-B78A-D5F10C92BB93}" destId="{5A33E003-7C68-4C82-9C7C-DFEF807D4ACA}" srcOrd="0" destOrd="0" presId="urn:microsoft.com/office/officeart/2008/layout/VerticalCurvedList"/>
    <dgm:cxn modelId="{70C56F5F-E0C2-43CC-AD01-DDA3A37A1DED}" type="presParOf" srcId="{5A33E003-7C68-4C82-9C7C-DFEF807D4ACA}" destId="{0373C290-572F-4E76-B88D-8F8A763211EC}" srcOrd="0" destOrd="0" presId="urn:microsoft.com/office/officeart/2008/layout/VerticalCurvedList"/>
    <dgm:cxn modelId="{2383CD09-95A6-4372-90DB-02588E253D3F}" type="presParOf" srcId="{5A33E003-7C68-4C82-9C7C-DFEF807D4ACA}" destId="{E1657DC5-BC57-4C72-8B88-861C64C72481}" srcOrd="1" destOrd="0" presId="urn:microsoft.com/office/officeart/2008/layout/VerticalCurvedList"/>
    <dgm:cxn modelId="{EDB90DB1-052F-403D-90C6-136F0E4B2622}" type="presParOf" srcId="{5A33E003-7C68-4C82-9C7C-DFEF807D4ACA}" destId="{644EDFA5-CA67-4736-A0D6-EB5E9D782616}" srcOrd="2" destOrd="0" presId="urn:microsoft.com/office/officeart/2008/layout/VerticalCurvedList"/>
    <dgm:cxn modelId="{CF02B6DB-2400-463D-B24A-12495B459AB4}" type="presParOf" srcId="{5A33E003-7C68-4C82-9C7C-DFEF807D4ACA}" destId="{5BC44E59-647E-40DC-81D2-4D23BE3D273B}" srcOrd="3" destOrd="0" presId="urn:microsoft.com/office/officeart/2008/layout/VerticalCurvedList"/>
    <dgm:cxn modelId="{452AB901-5101-4C8E-853C-B810A7741625}" type="presParOf" srcId="{6DB96627-03C8-4703-B78A-D5F10C92BB93}" destId="{99ED1F05-9411-40F6-B9C4-486B9E9A10F9}" srcOrd="1" destOrd="0" presId="urn:microsoft.com/office/officeart/2008/layout/VerticalCurvedList"/>
    <dgm:cxn modelId="{8198CC99-50A2-48CD-8F67-2AC133641C87}" type="presParOf" srcId="{6DB96627-03C8-4703-B78A-D5F10C92BB93}" destId="{24BE089A-7EE8-4F53-B11D-6A400B6748F3}" srcOrd="2" destOrd="0" presId="urn:microsoft.com/office/officeart/2008/layout/VerticalCurvedList"/>
    <dgm:cxn modelId="{5899E4A2-10A0-41DA-B3C1-4092F63EEF1D}" type="presParOf" srcId="{24BE089A-7EE8-4F53-B11D-6A400B6748F3}" destId="{1BECC670-E72E-4AC0-9566-408A9281D1B5}" srcOrd="0" destOrd="0" presId="urn:microsoft.com/office/officeart/2008/layout/VerticalCurvedList"/>
    <dgm:cxn modelId="{9ED6C2A3-91F2-4958-810C-73AFE797BC5A}" type="presParOf" srcId="{6DB96627-03C8-4703-B78A-D5F10C92BB93}" destId="{97C9F32D-F411-45A7-A129-52BC06BB3CC1}" srcOrd="3" destOrd="0" presId="urn:microsoft.com/office/officeart/2008/layout/VerticalCurvedList"/>
    <dgm:cxn modelId="{16229DB4-DC41-409F-8035-2AD6C29C2443}" type="presParOf" srcId="{6DB96627-03C8-4703-B78A-D5F10C92BB93}" destId="{C400F35C-81E3-4614-8FC3-00C1493D11E6}" srcOrd="4" destOrd="0" presId="urn:microsoft.com/office/officeart/2008/layout/VerticalCurvedList"/>
    <dgm:cxn modelId="{1F983809-7A0A-47F5-B617-18E006AEC82E}" type="presParOf" srcId="{C400F35C-81E3-4614-8FC3-00C1493D11E6}" destId="{4480F9CA-8F22-4D4D-B76A-35BBD203637A}" srcOrd="0" destOrd="0" presId="urn:microsoft.com/office/officeart/2008/layout/VerticalCurvedList"/>
    <dgm:cxn modelId="{5EE476C9-4C87-4E16-86AE-ACEC32FFD0B3}" type="presParOf" srcId="{6DB96627-03C8-4703-B78A-D5F10C92BB93}" destId="{4278551B-CE9B-44B7-AF6B-850CF4E77973}" srcOrd="5" destOrd="0" presId="urn:microsoft.com/office/officeart/2008/layout/VerticalCurvedList"/>
    <dgm:cxn modelId="{5B3B9DA4-8638-412F-A498-B2B1067153FE}" type="presParOf" srcId="{6DB96627-03C8-4703-B78A-D5F10C92BB93}" destId="{31938EB7-1201-49FD-8504-BC32EAC8F4FB}" srcOrd="6" destOrd="0" presId="urn:microsoft.com/office/officeart/2008/layout/VerticalCurvedList"/>
    <dgm:cxn modelId="{075A6B77-1810-4AF1-9FA9-07A53369B2CC}" type="presParOf" srcId="{31938EB7-1201-49FD-8504-BC32EAC8F4FB}" destId="{6F30F3CF-D228-42E0-9C85-F84A2CD4F2DC}" srcOrd="0" destOrd="0" presId="urn:microsoft.com/office/officeart/2008/layout/VerticalCurvedList"/>
    <dgm:cxn modelId="{16DFA948-3319-41AB-899D-48963EAADEE3}" type="presParOf" srcId="{6DB96627-03C8-4703-B78A-D5F10C92BB93}" destId="{660CF0F6-8B84-4F4D-A7FE-B8FA317D5D34}" srcOrd="7" destOrd="0" presId="urn:microsoft.com/office/officeart/2008/layout/VerticalCurvedList"/>
    <dgm:cxn modelId="{AAA6EC6E-F93F-4CD9-AFCC-DA4036FB1579}" type="presParOf" srcId="{6DB96627-03C8-4703-B78A-D5F10C92BB93}" destId="{36FB3CE3-28FC-4D91-92E6-8A42B29E2638}" srcOrd="8" destOrd="0" presId="urn:microsoft.com/office/officeart/2008/layout/VerticalCurvedList"/>
    <dgm:cxn modelId="{65654C81-309E-44E8-9A9C-11C56B452DFA}" type="presParOf" srcId="{36FB3CE3-28FC-4D91-92E6-8A42B29E2638}" destId="{8E4137F2-1254-4D64-B240-9D3A002A25DC}" srcOrd="0" destOrd="0" presId="urn:microsoft.com/office/officeart/2008/layout/VerticalCurvedList"/>
    <dgm:cxn modelId="{08B0AADC-204C-4B11-A82E-7FBDFDD7B685}" type="presParOf" srcId="{6DB96627-03C8-4703-B78A-D5F10C92BB93}" destId="{668C3533-282F-4740-B016-58AE3E093461}" srcOrd="9" destOrd="0" presId="urn:microsoft.com/office/officeart/2008/layout/VerticalCurvedList"/>
    <dgm:cxn modelId="{3EF32C4A-A070-4797-9FED-D4549879994D}" type="presParOf" srcId="{6DB96627-03C8-4703-B78A-D5F10C92BB93}" destId="{6CD8CAEF-DE35-4F47-A0A1-D10202616222}" srcOrd="10" destOrd="0" presId="urn:microsoft.com/office/officeart/2008/layout/VerticalCurvedList"/>
    <dgm:cxn modelId="{B023568F-B07E-4047-8511-6938686D4212}" type="presParOf" srcId="{6CD8CAEF-DE35-4F47-A0A1-D10202616222}" destId="{067F30D6-54FA-4C56-9259-1CADA8BAD400}" srcOrd="0" destOrd="0" presId="urn:microsoft.com/office/officeart/2008/layout/VerticalCurvedList"/>
    <dgm:cxn modelId="{AFAAB966-658D-4B8F-A2E2-DB5DA3D256E3}" type="presParOf" srcId="{6DB96627-03C8-4703-B78A-D5F10C92BB93}" destId="{86408E1D-F487-4924-B168-E0D6F351AF94}" srcOrd="11" destOrd="0" presId="urn:microsoft.com/office/officeart/2008/layout/VerticalCurvedList"/>
    <dgm:cxn modelId="{3254F8F2-6648-4CE4-8E1D-A8D71A1BACD5}" type="presParOf" srcId="{6DB96627-03C8-4703-B78A-D5F10C92BB93}" destId="{C91A282E-6AA7-43A1-A74B-20E5E7530069}" srcOrd="12" destOrd="0" presId="urn:microsoft.com/office/officeart/2008/layout/VerticalCurvedList"/>
    <dgm:cxn modelId="{0BD60D38-3EF6-434D-8BAB-7FE6E9CA7B74}" type="presParOf" srcId="{C91A282E-6AA7-43A1-A74B-20E5E7530069}" destId="{40F75978-229E-45DE-82BD-5134E8733A04}"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657DC5-BC57-4C72-8B88-861C64C72481}">
      <dsp:nvSpPr>
        <dsp:cNvPr id="0" name=""/>
        <dsp:cNvSpPr/>
      </dsp:nvSpPr>
      <dsp:spPr>
        <a:xfrm>
          <a:off x="-5287618" y="-809805"/>
          <a:ext cx="6296385" cy="6296385"/>
        </a:xfrm>
        <a:prstGeom prst="blockArc">
          <a:avLst>
            <a:gd name="adj1" fmla="val 18900000"/>
            <a:gd name="adj2" fmla="val 2700000"/>
            <a:gd name="adj3" fmla="val 343"/>
          </a:avLst>
        </a:prstGeom>
        <a:noFill/>
        <a:ln w="22225" cap="rnd"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9ED1F05-9411-40F6-B9C4-486B9E9A10F9}">
      <dsp:nvSpPr>
        <dsp:cNvPr id="0" name=""/>
        <dsp:cNvSpPr/>
      </dsp:nvSpPr>
      <dsp:spPr>
        <a:xfrm>
          <a:off x="376155" y="246278"/>
          <a:ext cx="5812864" cy="492370"/>
        </a:xfrm>
        <a:prstGeom prst="rect">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0819" tIns="58420" rIns="58420" bIns="58420" numCol="1" spcCol="1270" anchor="ctr" anchorCtr="0">
          <a:noAutofit/>
        </a:bodyPr>
        <a:lstStyle/>
        <a:p>
          <a:pPr marL="0" lvl="0" indent="0" algn="l" defTabSz="1022350">
            <a:lnSpc>
              <a:spcPct val="90000"/>
            </a:lnSpc>
            <a:spcBef>
              <a:spcPct val="0"/>
            </a:spcBef>
            <a:spcAft>
              <a:spcPct val="35000"/>
            </a:spcAft>
            <a:buNone/>
          </a:pPr>
          <a:r>
            <a:rPr lang="en-IN" sz="2300" kern="1200" dirty="0"/>
            <a:t> Capture of static data</a:t>
          </a:r>
        </a:p>
      </dsp:txBody>
      <dsp:txXfrm>
        <a:off x="376155" y="246278"/>
        <a:ext cx="5812864" cy="492370"/>
      </dsp:txXfrm>
    </dsp:sp>
    <dsp:sp modelId="{1BECC670-E72E-4AC0-9566-408A9281D1B5}">
      <dsp:nvSpPr>
        <dsp:cNvPr id="0" name=""/>
        <dsp:cNvSpPr/>
      </dsp:nvSpPr>
      <dsp:spPr>
        <a:xfrm>
          <a:off x="68423" y="184732"/>
          <a:ext cx="615463" cy="615463"/>
        </a:xfrm>
        <a:prstGeom prst="ellipse">
          <a:avLst/>
        </a:prstGeom>
        <a:solidFill>
          <a:schemeClr val="lt1">
            <a:hueOff val="0"/>
            <a:satOff val="0"/>
            <a:lumOff val="0"/>
            <a:alphaOff val="0"/>
          </a:schemeClr>
        </a:solidFill>
        <a:ln w="2222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7C9F32D-F411-45A7-A129-52BC06BB3CC1}">
      <dsp:nvSpPr>
        <dsp:cNvPr id="0" name=""/>
        <dsp:cNvSpPr/>
      </dsp:nvSpPr>
      <dsp:spPr>
        <a:xfrm>
          <a:off x="781163" y="984741"/>
          <a:ext cx="5407855" cy="492370"/>
        </a:xfrm>
        <a:prstGeom prst="rect">
          <a:avLst/>
        </a:prstGeom>
        <a:solidFill>
          <a:schemeClr val="accent2">
            <a:hueOff val="238347"/>
            <a:satOff val="1383"/>
            <a:lumOff val="1373"/>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0819" tIns="58420" rIns="58420" bIns="58420" numCol="1" spcCol="1270" anchor="ctr" anchorCtr="0">
          <a:noAutofit/>
        </a:bodyPr>
        <a:lstStyle/>
        <a:p>
          <a:pPr marL="0" lvl="0" indent="0" algn="l" defTabSz="1022350">
            <a:lnSpc>
              <a:spcPct val="90000"/>
            </a:lnSpc>
            <a:spcBef>
              <a:spcPct val="0"/>
            </a:spcBef>
            <a:spcAft>
              <a:spcPct val="35000"/>
            </a:spcAft>
            <a:buNone/>
          </a:pPr>
          <a:r>
            <a:rPr lang="en-IN" sz="2300" kern="1200" dirty="0"/>
            <a:t> Capture through transaction log</a:t>
          </a:r>
        </a:p>
      </dsp:txBody>
      <dsp:txXfrm>
        <a:off x="781163" y="984741"/>
        <a:ext cx="5407855" cy="492370"/>
      </dsp:txXfrm>
    </dsp:sp>
    <dsp:sp modelId="{4480F9CA-8F22-4D4D-B76A-35BBD203637A}">
      <dsp:nvSpPr>
        <dsp:cNvPr id="0" name=""/>
        <dsp:cNvSpPr/>
      </dsp:nvSpPr>
      <dsp:spPr>
        <a:xfrm>
          <a:off x="473432" y="923195"/>
          <a:ext cx="615463" cy="615463"/>
        </a:xfrm>
        <a:prstGeom prst="ellipse">
          <a:avLst/>
        </a:prstGeom>
        <a:solidFill>
          <a:schemeClr val="lt1">
            <a:hueOff val="0"/>
            <a:satOff val="0"/>
            <a:lumOff val="0"/>
            <a:alphaOff val="0"/>
          </a:schemeClr>
        </a:solidFill>
        <a:ln w="22225" cap="rnd" cmpd="sng" algn="ctr">
          <a:solidFill>
            <a:schemeClr val="accent2">
              <a:hueOff val="238347"/>
              <a:satOff val="1383"/>
              <a:lumOff val="1373"/>
              <a:alphaOff val="0"/>
            </a:schemeClr>
          </a:solidFill>
          <a:prstDash val="solid"/>
        </a:ln>
        <a:effectLst/>
      </dsp:spPr>
      <dsp:style>
        <a:lnRef idx="2">
          <a:scrgbClr r="0" g="0" b="0"/>
        </a:lnRef>
        <a:fillRef idx="1">
          <a:scrgbClr r="0" g="0" b="0"/>
        </a:fillRef>
        <a:effectRef idx="0">
          <a:scrgbClr r="0" g="0" b="0"/>
        </a:effectRef>
        <a:fontRef idx="minor"/>
      </dsp:style>
    </dsp:sp>
    <dsp:sp modelId="{4278551B-CE9B-44B7-AF6B-850CF4E77973}">
      <dsp:nvSpPr>
        <dsp:cNvPr id="0" name=""/>
        <dsp:cNvSpPr/>
      </dsp:nvSpPr>
      <dsp:spPr>
        <a:xfrm>
          <a:off x="966364" y="1723204"/>
          <a:ext cx="5222655" cy="492370"/>
        </a:xfrm>
        <a:prstGeom prst="rect">
          <a:avLst/>
        </a:prstGeom>
        <a:solidFill>
          <a:schemeClr val="accent2">
            <a:hueOff val="476694"/>
            <a:satOff val="2765"/>
            <a:lumOff val="2746"/>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0819" tIns="58420" rIns="58420" bIns="58420" numCol="1" spcCol="1270" anchor="ctr" anchorCtr="0">
          <a:noAutofit/>
        </a:bodyPr>
        <a:lstStyle/>
        <a:p>
          <a:pPr marL="0" lvl="0" indent="0" algn="l" defTabSz="1022350">
            <a:lnSpc>
              <a:spcPct val="90000"/>
            </a:lnSpc>
            <a:spcBef>
              <a:spcPct val="0"/>
            </a:spcBef>
            <a:spcAft>
              <a:spcPct val="35000"/>
            </a:spcAft>
            <a:buNone/>
          </a:pPr>
          <a:r>
            <a:rPr lang="en-IN" sz="2300" kern="1200" dirty="0"/>
            <a:t> Capture through database triggers</a:t>
          </a:r>
        </a:p>
      </dsp:txBody>
      <dsp:txXfrm>
        <a:off x="966364" y="1723204"/>
        <a:ext cx="5222655" cy="492370"/>
      </dsp:txXfrm>
    </dsp:sp>
    <dsp:sp modelId="{6F30F3CF-D228-42E0-9C85-F84A2CD4F2DC}">
      <dsp:nvSpPr>
        <dsp:cNvPr id="0" name=""/>
        <dsp:cNvSpPr/>
      </dsp:nvSpPr>
      <dsp:spPr>
        <a:xfrm>
          <a:off x="658632" y="1661658"/>
          <a:ext cx="615463" cy="615463"/>
        </a:xfrm>
        <a:prstGeom prst="ellipse">
          <a:avLst/>
        </a:prstGeom>
        <a:solidFill>
          <a:schemeClr val="lt1">
            <a:hueOff val="0"/>
            <a:satOff val="0"/>
            <a:lumOff val="0"/>
            <a:alphaOff val="0"/>
          </a:schemeClr>
        </a:solidFill>
        <a:ln w="22225" cap="rnd" cmpd="sng" algn="ctr">
          <a:solidFill>
            <a:schemeClr val="accent2">
              <a:hueOff val="476694"/>
              <a:satOff val="2765"/>
              <a:lumOff val="2746"/>
              <a:alphaOff val="0"/>
            </a:schemeClr>
          </a:solidFill>
          <a:prstDash val="solid"/>
        </a:ln>
        <a:effectLst/>
      </dsp:spPr>
      <dsp:style>
        <a:lnRef idx="2">
          <a:scrgbClr r="0" g="0" b="0"/>
        </a:lnRef>
        <a:fillRef idx="1">
          <a:scrgbClr r="0" g="0" b="0"/>
        </a:fillRef>
        <a:effectRef idx="0">
          <a:scrgbClr r="0" g="0" b="0"/>
        </a:effectRef>
        <a:fontRef idx="minor"/>
      </dsp:style>
    </dsp:sp>
    <dsp:sp modelId="{660CF0F6-8B84-4F4D-A7FE-B8FA317D5D34}">
      <dsp:nvSpPr>
        <dsp:cNvPr id="0" name=""/>
        <dsp:cNvSpPr/>
      </dsp:nvSpPr>
      <dsp:spPr>
        <a:xfrm>
          <a:off x="966364" y="2461199"/>
          <a:ext cx="5222655" cy="492370"/>
        </a:xfrm>
        <a:prstGeom prst="rect">
          <a:avLst/>
        </a:prstGeom>
        <a:solidFill>
          <a:schemeClr val="accent2">
            <a:hueOff val="715041"/>
            <a:satOff val="4148"/>
            <a:lumOff val="4118"/>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0819" tIns="58420" rIns="58420" bIns="58420" numCol="1" spcCol="1270" anchor="ctr" anchorCtr="0">
          <a:noAutofit/>
        </a:bodyPr>
        <a:lstStyle/>
        <a:p>
          <a:pPr marL="0" lvl="0" indent="0" algn="l" defTabSz="1022350">
            <a:lnSpc>
              <a:spcPct val="90000"/>
            </a:lnSpc>
            <a:spcBef>
              <a:spcPct val="0"/>
            </a:spcBef>
            <a:spcAft>
              <a:spcPct val="35000"/>
            </a:spcAft>
            <a:buNone/>
          </a:pPr>
          <a:r>
            <a:rPr lang="en-IN" sz="2300" kern="1200" dirty="0"/>
            <a:t> Capture in source applications</a:t>
          </a:r>
        </a:p>
      </dsp:txBody>
      <dsp:txXfrm>
        <a:off x="966364" y="2461199"/>
        <a:ext cx="5222655" cy="492370"/>
      </dsp:txXfrm>
    </dsp:sp>
    <dsp:sp modelId="{8E4137F2-1254-4D64-B240-9D3A002A25DC}">
      <dsp:nvSpPr>
        <dsp:cNvPr id="0" name=""/>
        <dsp:cNvSpPr/>
      </dsp:nvSpPr>
      <dsp:spPr>
        <a:xfrm>
          <a:off x="658632" y="2399653"/>
          <a:ext cx="615463" cy="615463"/>
        </a:xfrm>
        <a:prstGeom prst="ellipse">
          <a:avLst/>
        </a:prstGeom>
        <a:solidFill>
          <a:schemeClr val="lt1">
            <a:hueOff val="0"/>
            <a:satOff val="0"/>
            <a:lumOff val="0"/>
            <a:alphaOff val="0"/>
          </a:schemeClr>
        </a:solidFill>
        <a:ln w="22225" cap="rnd" cmpd="sng" algn="ctr">
          <a:solidFill>
            <a:schemeClr val="accent2">
              <a:hueOff val="715041"/>
              <a:satOff val="4148"/>
              <a:lumOff val="4118"/>
              <a:alphaOff val="0"/>
            </a:schemeClr>
          </a:solidFill>
          <a:prstDash val="solid"/>
        </a:ln>
        <a:effectLst/>
      </dsp:spPr>
      <dsp:style>
        <a:lnRef idx="2">
          <a:scrgbClr r="0" g="0" b="0"/>
        </a:lnRef>
        <a:fillRef idx="1">
          <a:scrgbClr r="0" g="0" b="0"/>
        </a:fillRef>
        <a:effectRef idx="0">
          <a:scrgbClr r="0" g="0" b="0"/>
        </a:effectRef>
        <a:fontRef idx="minor"/>
      </dsp:style>
    </dsp:sp>
    <dsp:sp modelId="{668C3533-282F-4740-B016-58AE3E093461}">
      <dsp:nvSpPr>
        <dsp:cNvPr id="0" name=""/>
        <dsp:cNvSpPr/>
      </dsp:nvSpPr>
      <dsp:spPr>
        <a:xfrm>
          <a:off x="781163" y="3199662"/>
          <a:ext cx="5407855" cy="492370"/>
        </a:xfrm>
        <a:prstGeom prst="rect">
          <a:avLst/>
        </a:prstGeom>
        <a:solidFill>
          <a:schemeClr val="accent2">
            <a:hueOff val="953388"/>
            <a:satOff val="5530"/>
            <a:lumOff val="5491"/>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0819" tIns="58420" rIns="58420" bIns="58420" numCol="1" spcCol="1270" anchor="ctr" anchorCtr="0">
          <a:noAutofit/>
        </a:bodyPr>
        <a:lstStyle/>
        <a:p>
          <a:pPr marL="0" lvl="0" indent="0" algn="l" defTabSz="1022350">
            <a:lnSpc>
              <a:spcPct val="90000"/>
            </a:lnSpc>
            <a:spcBef>
              <a:spcPct val="0"/>
            </a:spcBef>
            <a:spcAft>
              <a:spcPct val="35000"/>
            </a:spcAft>
            <a:buNone/>
          </a:pPr>
          <a:r>
            <a:rPr lang="en-IN" sz="2300" kern="1200" dirty="0"/>
            <a:t> Capture based on date and time stamp</a:t>
          </a:r>
        </a:p>
      </dsp:txBody>
      <dsp:txXfrm>
        <a:off x="781163" y="3199662"/>
        <a:ext cx="5407855" cy="492370"/>
      </dsp:txXfrm>
    </dsp:sp>
    <dsp:sp modelId="{067F30D6-54FA-4C56-9259-1CADA8BAD400}">
      <dsp:nvSpPr>
        <dsp:cNvPr id="0" name=""/>
        <dsp:cNvSpPr/>
      </dsp:nvSpPr>
      <dsp:spPr>
        <a:xfrm>
          <a:off x="473432" y="3138116"/>
          <a:ext cx="615463" cy="615463"/>
        </a:xfrm>
        <a:prstGeom prst="ellipse">
          <a:avLst/>
        </a:prstGeom>
        <a:solidFill>
          <a:schemeClr val="lt1">
            <a:hueOff val="0"/>
            <a:satOff val="0"/>
            <a:lumOff val="0"/>
            <a:alphaOff val="0"/>
          </a:schemeClr>
        </a:solidFill>
        <a:ln w="22225" cap="rnd" cmpd="sng" algn="ctr">
          <a:solidFill>
            <a:schemeClr val="accent2">
              <a:hueOff val="953388"/>
              <a:satOff val="5530"/>
              <a:lumOff val="5491"/>
              <a:alphaOff val="0"/>
            </a:schemeClr>
          </a:solidFill>
          <a:prstDash val="solid"/>
        </a:ln>
        <a:effectLst/>
      </dsp:spPr>
      <dsp:style>
        <a:lnRef idx="2">
          <a:scrgbClr r="0" g="0" b="0"/>
        </a:lnRef>
        <a:fillRef idx="1">
          <a:scrgbClr r="0" g="0" b="0"/>
        </a:fillRef>
        <a:effectRef idx="0">
          <a:scrgbClr r="0" g="0" b="0"/>
        </a:effectRef>
        <a:fontRef idx="minor"/>
      </dsp:style>
    </dsp:sp>
    <dsp:sp modelId="{86408E1D-F487-4924-B168-E0D6F351AF94}">
      <dsp:nvSpPr>
        <dsp:cNvPr id="0" name=""/>
        <dsp:cNvSpPr/>
      </dsp:nvSpPr>
      <dsp:spPr>
        <a:xfrm>
          <a:off x="376155" y="3938125"/>
          <a:ext cx="5812864" cy="492370"/>
        </a:xfrm>
        <a:prstGeom prst="rect">
          <a:avLst/>
        </a:prstGeom>
        <a:solidFill>
          <a:schemeClr val="accent2">
            <a:hueOff val="1191735"/>
            <a:satOff val="6913"/>
            <a:lumOff val="6864"/>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0819" tIns="58420" rIns="58420" bIns="58420" numCol="1" spcCol="1270" anchor="ctr" anchorCtr="0">
          <a:noAutofit/>
        </a:bodyPr>
        <a:lstStyle/>
        <a:p>
          <a:pPr marL="0" lvl="0" indent="0" algn="l" defTabSz="1022350">
            <a:lnSpc>
              <a:spcPct val="90000"/>
            </a:lnSpc>
            <a:spcBef>
              <a:spcPct val="0"/>
            </a:spcBef>
            <a:spcAft>
              <a:spcPct val="35000"/>
            </a:spcAft>
            <a:buNone/>
          </a:pPr>
          <a:r>
            <a:rPr lang="en-IN" sz="2300" kern="1200" dirty="0"/>
            <a:t> Capture by comparing files</a:t>
          </a:r>
        </a:p>
      </dsp:txBody>
      <dsp:txXfrm>
        <a:off x="376155" y="3938125"/>
        <a:ext cx="5812864" cy="492370"/>
      </dsp:txXfrm>
    </dsp:sp>
    <dsp:sp modelId="{40F75978-229E-45DE-82BD-5134E8733A04}">
      <dsp:nvSpPr>
        <dsp:cNvPr id="0" name=""/>
        <dsp:cNvSpPr/>
      </dsp:nvSpPr>
      <dsp:spPr>
        <a:xfrm>
          <a:off x="68423" y="3876578"/>
          <a:ext cx="615463" cy="615463"/>
        </a:xfrm>
        <a:prstGeom prst="ellipse">
          <a:avLst/>
        </a:prstGeom>
        <a:solidFill>
          <a:schemeClr val="lt1">
            <a:hueOff val="0"/>
            <a:satOff val="0"/>
            <a:lumOff val="0"/>
            <a:alphaOff val="0"/>
          </a:schemeClr>
        </a:solidFill>
        <a:ln w="22225" cap="rnd" cmpd="sng" algn="ctr">
          <a:solidFill>
            <a:schemeClr val="accent2">
              <a:hueOff val="1191735"/>
              <a:satOff val="6913"/>
              <a:lumOff val="6864"/>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7DEA31-AD7D-4245-A41B-28089C1BDBED}" type="datetimeFigureOut">
              <a:rPr lang="en-IN" smtClean="0"/>
              <a:t>28-07-2026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2E3DEB-7D6B-4FAB-A216-A14FB6383A6C}" type="slidenum">
              <a:rPr lang="en-IN" smtClean="0"/>
              <a:t>‹#›</a:t>
            </a:fld>
            <a:endParaRPr lang="en-IN"/>
          </a:p>
        </p:txBody>
      </p:sp>
    </p:spTree>
    <p:extLst>
      <p:ext uri="{BB962C8B-B14F-4D97-AF65-F5344CB8AC3E}">
        <p14:creationId xmlns:p14="http://schemas.microsoft.com/office/powerpoint/2010/main" val="4106545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0A720714-DD22-4569-98FC-B29C1507696F}" type="datetime1">
              <a:rPr lang="en-US" smtClean="0"/>
              <a:t>7/28/2026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r>
              <a:rPr lang="en-US"/>
              <a:t>By Mrs. Rashmi Bhat</a:t>
            </a:r>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CB1B25-0703-41AD-834C-06D80311ABAE}" type="datetime1">
              <a:rPr lang="en-US" smtClean="0"/>
              <a:t>7/28/2026</a:t>
            </a:fld>
            <a:endParaRPr lang="en-US" dirty="0"/>
          </a:p>
        </p:txBody>
      </p:sp>
      <p:sp>
        <p:nvSpPr>
          <p:cNvPr id="5" name="Footer Placeholder 4"/>
          <p:cNvSpPr>
            <a:spLocks noGrp="1"/>
          </p:cNvSpPr>
          <p:nvPr>
            <p:ph type="ftr" sz="quarter" idx="11"/>
          </p:nvPr>
        </p:nvSpPr>
        <p:spPr/>
        <p:txBody>
          <a:bodyPr/>
          <a:lstStyle/>
          <a:p>
            <a:r>
              <a:rPr lang="en-US"/>
              <a:t>By Mrs. Rashmi Bhat</a:t>
            </a:r>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051A0717-4BBC-4FFD-90E4-FF19A96A3877}" type="datetime1">
              <a:rPr lang="en-US" smtClean="0"/>
              <a:t>7/28/2026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r>
              <a:rPr lang="en-US"/>
              <a:t>By Mrs. Rashmi Bhat</a:t>
            </a:r>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F053C5-47B9-464A-B8B8-115300E05E5E}" type="datetime1">
              <a:rPr lang="en-US" smtClean="0"/>
              <a:t>7/28/2026</a:t>
            </a:fld>
            <a:endParaRPr lang="en-US" dirty="0"/>
          </a:p>
        </p:txBody>
      </p:sp>
      <p:sp>
        <p:nvSpPr>
          <p:cNvPr id="6" name="Footer Placeholder 5"/>
          <p:cNvSpPr>
            <a:spLocks noGrp="1"/>
          </p:cNvSpPr>
          <p:nvPr>
            <p:ph type="ftr" sz="quarter" idx="11"/>
          </p:nvPr>
        </p:nvSpPr>
        <p:spPr/>
        <p:txBody>
          <a:bodyPr/>
          <a:lstStyle/>
          <a:p>
            <a:r>
              <a:rPr lang="en-US"/>
              <a:t>By Mrs. Rashmi Bhat</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AE0079-FED2-446C-A48D-D5E00B40E337}" type="datetime1">
              <a:rPr lang="en-US" smtClean="0"/>
              <a:t>7/28/2026</a:t>
            </a:fld>
            <a:endParaRPr lang="en-US" dirty="0"/>
          </a:p>
        </p:txBody>
      </p:sp>
      <p:sp>
        <p:nvSpPr>
          <p:cNvPr id="8" name="Footer Placeholder 7"/>
          <p:cNvSpPr>
            <a:spLocks noGrp="1"/>
          </p:cNvSpPr>
          <p:nvPr>
            <p:ph type="ftr" sz="quarter" idx="11"/>
          </p:nvPr>
        </p:nvSpPr>
        <p:spPr/>
        <p:txBody>
          <a:bodyPr/>
          <a:lstStyle/>
          <a:p>
            <a:r>
              <a:rPr lang="en-US"/>
              <a:t>By Mrs. Rashmi Bhat</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94DDDB-3A67-46DE-BAA7-B033FD5A9FFB}" type="datetime1">
              <a:rPr lang="en-US" smtClean="0"/>
              <a:t>7/28/2026</a:t>
            </a:fld>
            <a:endParaRPr lang="en-US" dirty="0"/>
          </a:p>
        </p:txBody>
      </p:sp>
      <p:sp>
        <p:nvSpPr>
          <p:cNvPr id="4" name="Footer Placeholder 3"/>
          <p:cNvSpPr>
            <a:spLocks noGrp="1"/>
          </p:cNvSpPr>
          <p:nvPr>
            <p:ph type="ftr" sz="quarter" idx="11"/>
          </p:nvPr>
        </p:nvSpPr>
        <p:spPr/>
        <p:txBody>
          <a:bodyPr/>
          <a:lstStyle/>
          <a:p>
            <a:r>
              <a:rPr lang="en-US"/>
              <a:t>By Mrs. Rashmi Bhat</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AE4BC3-5AF9-4B78-ADC2-7ACFE11B3D71}" type="datetime1">
              <a:rPr lang="en-US" smtClean="0"/>
              <a:t>7/28/2026</a:t>
            </a:fld>
            <a:endParaRPr lang="en-US" dirty="0"/>
          </a:p>
        </p:txBody>
      </p:sp>
      <p:sp>
        <p:nvSpPr>
          <p:cNvPr id="3" name="Footer Placeholder 2"/>
          <p:cNvSpPr>
            <a:spLocks noGrp="1"/>
          </p:cNvSpPr>
          <p:nvPr>
            <p:ph type="ftr" sz="quarter" idx="11"/>
          </p:nvPr>
        </p:nvSpPr>
        <p:spPr/>
        <p:txBody>
          <a:bodyPr/>
          <a:lstStyle/>
          <a:p>
            <a:r>
              <a:rPr lang="en-US"/>
              <a:t>By Mrs. Rashmi Bhat</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4D7016BE-CBBC-4AA1-99D6-8361BC124279}" type="datetime1">
              <a:rPr lang="en-US" smtClean="0"/>
              <a:t>7/28/2026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r>
              <a:rPr lang="en-US"/>
              <a:t>By Mrs. Rashmi Bhat</a:t>
            </a:r>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E0535B-316D-46C4-A480-C734B4DD3287}" type="datetime1">
              <a:rPr lang="en-US" smtClean="0"/>
              <a:t>7/28/2026</a:t>
            </a:fld>
            <a:endParaRPr lang="en-US" dirty="0"/>
          </a:p>
        </p:txBody>
      </p:sp>
      <p:sp>
        <p:nvSpPr>
          <p:cNvPr id="6" name="Footer Placeholder 5"/>
          <p:cNvSpPr>
            <a:spLocks noGrp="1"/>
          </p:cNvSpPr>
          <p:nvPr>
            <p:ph type="ftr" sz="quarter" idx="11"/>
          </p:nvPr>
        </p:nvSpPr>
        <p:spPr/>
        <p:txBody>
          <a:bodyPr/>
          <a:lstStyle/>
          <a:p>
            <a:r>
              <a:rPr lang="en-US"/>
              <a:t>By Mrs. Rashmi Bhat</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270B2-0E31-4BA7-A928-C9F1088E8540}" type="datetime1">
              <a:rPr lang="en-US" smtClean="0"/>
              <a:t>7/28/2026</a:t>
            </a:fld>
            <a:endParaRPr lang="en-US" dirty="0"/>
          </a:p>
        </p:txBody>
      </p:sp>
      <p:sp>
        <p:nvSpPr>
          <p:cNvPr id="5" name="Footer Placeholder 4"/>
          <p:cNvSpPr>
            <a:spLocks noGrp="1"/>
          </p:cNvSpPr>
          <p:nvPr>
            <p:ph type="ftr" sz="quarter" idx="11"/>
          </p:nvPr>
        </p:nvSpPr>
        <p:spPr/>
        <p:txBody>
          <a:bodyPr/>
          <a:lstStyle/>
          <a:p>
            <a:r>
              <a:rPr lang="en-US"/>
              <a:t>By Mrs. Rashmi Bhat</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E17721E3-7FC1-4373-A043-03BBB67E3E69}" type="datetime1">
              <a:rPr lang="en-US" smtClean="0"/>
              <a:t>7/28/2026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r>
              <a:rPr lang="en-US"/>
              <a:t>By Mrs. Rashmi Bhat</a:t>
            </a:r>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A061E2A6-17EA-4E44-9C47-BC4B61A9B737}" type="datetime1">
              <a:rPr lang="en-US" smtClean="0"/>
              <a:t>7/28/2026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r>
              <a:rPr lang="en-US"/>
              <a:t>By Mrs. Rashmi Bhat</a:t>
            </a:r>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geeksforgeeks.org/power-bi/what-is-business-intelligence/" TargetMode="External"/><Relationship Id="rId2" Type="http://schemas.openxmlformats.org/officeDocument/2006/relationships/hyperlink" Target="https://www.geeksforgeeks.org/data-analysis/olap-server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8177A-7ED3-0B66-2EB7-9A98BFAE9D8D}"/>
              </a:ext>
            </a:extLst>
          </p:cNvPr>
          <p:cNvSpPr>
            <a:spLocks noGrp="1"/>
          </p:cNvSpPr>
          <p:nvPr>
            <p:ph type="title"/>
          </p:nvPr>
        </p:nvSpPr>
        <p:spPr/>
        <p:txBody>
          <a:bodyPr/>
          <a:lstStyle/>
          <a:p>
            <a:r>
              <a:rPr lang="en-US" b="1" dirty="0"/>
              <a:t>Data Warehousing</a:t>
            </a:r>
            <a:br>
              <a:rPr lang="en-US" b="1" dirty="0"/>
            </a:br>
            <a:endParaRPr lang="en-US" dirty="0"/>
          </a:p>
        </p:txBody>
      </p:sp>
      <p:sp>
        <p:nvSpPr>
          <p:cNvPr id="3" name="Content Placeholder 2">
            <a:extLst>
              <a:ext uri="{FF2B5EF4-FFF2-40B4-BE49-F238E27FC236}">
                <a16:creationId xmlns:a16="http://schemas.microsoft.com/office/drawing/2014/main" id="{4CE057CD-D03E-F960-4559-31F4ECFE5A63}"/>
              </a:ext>
            </a:extLst>
          </p:cNvPr>
          <p:cNvSpPr>
            <a:spLocks noGrp="1"/>
          </p:cNvSpPr>
          <p:nvPr>
            <p:ph idx="1"/>
          </p:nvPr>
        </p:nvSpPr>
        <p:spPr/>
        <p:txBody>
          <a:bodyPr>
            <a:normAutofit/>
          </a:bodyPr>
          <a:lstStyle/>
          <a:p>
            <a:r>
              <a:rPr lang="en-US" sz="2400" dirty="0"/>
              <a:t>Data warehousing is the process of collecting, integrating, storing and managing data from multiple sources in a central repository. </a:t>
            </a:r>
          </a:p>
          <a:p>
            <a:r>
              <a:rPr lang="en-US" sz="2400" dirty="0"/>
              <a:t>It enables organizations to organize large volumes of current and historical data for efficient querying, analysis and reporting.</a:t>
            </a:r>
            <a:br>
              <a:rPr lang="en-US" sz="2400" dirty="0"/>
            </a:br>
            <a:endParaRPr lang="en-US" sz="2400" dirty="0"/>
          </a:p>
          <a:p>
            <a:r>
              <a:rPr lang="en-US" sz="2400" dirty="0"/>
              <a:t>The main goal of data warehousing is to support decision-making by providing clean, consistent and timely access to data. It ensures fast data retrieval even when working with massive datasets.</a:t>
            </a:r>
          </a:p>
        </p:txBody>
      </p:sp>
      <p:sp>
        <p:nvSpPr>
          <p:cNvPr id="4" name="Slide Number Placeholder 3">
            <a:extLst>
              <a:ext uri="{FF2B5EF4-FFF2-40B4-BE49-F238E27FC236}">
                <a16:creationId xmlns:a16="http://schemas.microsoft.com/office/drawing/2014/main" id="{E30F8BDA-A8BA-EBE6-5A45-82421458C96E}"/>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1010294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996AB-9085-2A11-96F2-7D5131C55DF4}"/>
              </a:ext>
            </a:extLst>
          </p:cNvPr>
          <p:cNvSpPr>
            <a:spLocks noGrp="1"/>
          </p:cNvSpPr>
          <p:nvPr>
            <p:ph type="title"/>
          </p:nvPr>
        </p:nvSpPr>
        <p:spPr/>
        <p:txBody>
          <a:bodyPr/>
          <a:lstStyle/>
          <a:p>
            <a:r>
              <a:rPr lang="en-US" b="1" dirty="0"/>
              <a:t>Need for Data Warehousing</a:t>
            </a:r>
            <a:br>
              <a:rPr lang="en-US" b="1" dirty="0"/>
            </a:br>
            <a:endParaRPr lang="en-US" dirty="0"/>
          </a:p>
        </p:txBody>
      </p:sp>
      <p:sp>
        <p:nvSpPr>
          <p:cNvPr id="3" name="Content Placeholder 2">
            <a:extLst>
              <a:ext uri="{FF2B5EF4-FFF2-40B4-BE49-F238E27FC236}">
                <a16:creationId xmlns:a16="http://schemas.microsoft.com/office/drawing/2014/main" id="{76257429-5EB0-1969-EE39-8CB071CC33D5}"/>
              </a:ext>
            </a:extLst>
          </p:cNvPr>
          <p:cNvSpPr>
            <a:spLocks noGrp="1"/>
          </p:cNvSpPr>
          <p:nvPr>
            <p:ph idx="1"/>
          </p:nvPr>
        </p:nvSpPr>
        <p:spPr>
          <a:xfrm>
            <a:off x="581192" y="1849120"/>
            <a:ext cx="11029615" cy="5008880"/>
          </a:xfrm>
        </p:spPr>
        <p:txBody>
          <a:bodyPr>
            <a:normAutofit/>
          </a:bodyPr>
          <a:lstStyle/>
          <a:p>
            <a:pPr marL="0" indent="0" fontAlgn="base">
              <a:buNone/>
            </a:pPr>
            <a:endParaRPr lang="en-US" sz="2000" b="1" dirty="0"/>
          </a:p>
          <a:p>
            <a:pPr fontAlgn="base"/>
            <a:r>
              <a:rPr lang="en-US" sz="2000" b="1" dirty="0"/>
              <a:t>Handling Large Data Volumes</a:t>
            </a:r>
            <a:r>
              <a:rPr lang="en-US" sz="2000" dirty="0"/>
              <a:t>: Traditional databases store limited data (MBs to GBs), while data warehouses are built to handle huge datasets (up to TBs), making it easier to store and analyze long-term historical data.</a:t>
            </a:r>
          </a:p>
          <a:p>
            <a:pPr fontAlgn="base"/>
            <a:r>
              <a:rPr lang="en-US" sz="2000" b="1" dirty="0"/>
              <a:t>Enhanced Analytics</a:t>
            </a:r>
            <a:r>
              <a:rPr lang="en-US" sz="2000" dirty="0"/>
              <a:t>: Databases handle transactions; data warehouses are optimized for complex analysis and historical insights.</a:t>
            </a:r>
          </a:p>
          <a:p>
            <a:pPr fontAlgn="base"/>
            <a:r>
              <a:rPr lang="en-US" sz="2000" b="1" dirty="0"/>
              <a:t>Centralized Data Storage</a:t>
            </a:r>
            <a:r>
              <a:rPr lang="en-US" sz="2000" dirty="0"/>
              <a:t>: A data warehouse combines data from multiple sources, giving a single, unified view for better decision-making.</a:t>
            </a:r>
          </a:p>
          <a:p>
            <a:pPr fontAlgn="base"/>
            <a:r>
              <a:rPr lang="en-US" sz="2000" b="1" dirty="0"/>
              <a:t>Trend Analysis</a:t>
            </a:r>
            <a:r>
              <a:rPr lang="en-US" sz="2000" dirty="0"/>
              <a:t>: By storing historical data, a data warehouse allows businesses to analyze trends over time, enabling them to make strategic decisions based on past performance and predict future outcomes.</a:t>
            </a:r>
          </a:p>
          <a:p>
            <a:pPr fontAlgn="base"/>
            <a:r>
              <a:rPr lang="en-US" sz="2000" b="1" dirty="0"/>
              <a:t>Business Intelligence Support:</a:t>
            </a:r>
            <a:r>
              <a:rPr lang="en-US" sz="2000" dirty="0"/>
              <a:t> Data warehouses work with BI tools to give quick access to insights, helping in data-driven decisions and improving efficiency.</a:t>
            </a:r>
          </a:p>
          <a:p>
            <a:endParaRPr lang="en-US" sz="2000" dirty="0"/>
          </a:p>
        </p:txBody>
      </p:sp>
      <p:sp>
        <p:nvSpPr>
          <p:cNvPr id="4" name="Slide Number Placeholder 3">
            <a:extLst>
              <a:ext uri="{FF2B5EF4-FFF2-40B4-BE49-F238E27FC236}">
                <a16:creationId xmlns:a16="http://schemas.microsoft.com/office/drawing/2014/main" id="{683B4925-EF62-A35A-5356-A2E3FB663333}"/>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1318959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9CD04-8F8B-FEB9-8842-BC54388D55EE}"/>
              </a:ext>
            </a:extLst>
          </p:cNvPr>
          <p:cNvSpPr>
            <a:spLocks noGrp="1"/>
          </p:cNvSpPr>
          <p:nvPr>
            <p:ph type="title"/>
          </p:nvPr>
        </p:nvSpPr>
        <p:spPr/>
        <p:txBody>
          <a:bodyPr/>
          <a:lstStyle/>
          <a:p>
            <a:r>
              <a:rPr lang="en-US" b="1" dirty="0"/>
              <a:t>Components</a:t>
            </a:r>
            <a:br>
              <a:rPr lang="en-US" b="1" dirty="0"/>
            </a:br>
            <a:endParaRPr lang="en-US" dirty="0"/>
          </a:p>
        </p:txBody>
      </p:sp>
      <p:sp>
        <p:nvSpPr>
          <p:cNvPr id="3" name="Content Placeholder 2">
            <a:extLst>
              <a:ext uri="{FF2B5EF4-FFF2-40B4-BE49-F238E27FC236}">
                <a16:creationId xmlns:a16="http://schemas.microsoft.com/office/drawing/2014/main" id="{6B70A25E-1D0A-48EE-0AF5-049967089D7A}"/>
              </a:ext>
            </a:extLst>
          </p:cNvPr>
          <p:cNvSpPr>
            <a:spLocks noGrp="1"/>
          </p:cNvSpPr>
          <p:nvPr>
            <p:ph idx="1"/>
          </p:nvPr>
        </p:nvSpPr>
        <p:spPr>
          <a:xfrm>
            <a:off x="581192" y="1625600"/>
            <a:ext cx="11029615" cy="5669280"/>
          </a:xfrm>
        </p:spPr>
        <p:txBody>
          <a:bodyPr>
            <a:noAutofit/>
          </a:bodyPr>
          <a:lstStyle/>
          <a:p>
            <a:pPr fontAlgn="base"/>
            <a:r>
              <a:rPr lang="en-US" sz="2400" b="1" dirty="0"/>
              <a:t>Data Sources</a:t>
            </a:r>
            <a:r>
              <a:rPr lang="en-US" sz="2400" dirty="0"/>
              <a:t>: These are the various operational systems, databases and external data feeds that provide raw data to be stored in the warehouse.</a:t>
            </a:r>
          </a:p>
          <a:p>
            <a:pPr fontAlgn="base"/>
            <a:r>
              <a:rPr lang="en-US" sz="2400" b="1" dirty="0"/>
              <a:t>ETL (Extract, Transform, Load) Process</a:t>
            </a:r>
            <a:r>
              <a:rPr lang="en-US" sz="2400" dirty="0"/>
              <a:t>: The ETL process is responsible for extracting data from different sources, transforming it into a suitable format and loading it into the data warehouse.</a:t>
            </a:r>
          </a:p>
          <a:p>
            <a:pPr fontAlgn="base"/>
            <a:r>
              <a:rPr lang="en-US" sz="2400" b="1" dirty="0"/>
              <a:t>Data Warehouse Database</a:t>
            </a:r>
            <a:r>
              <a:rPr lang="en-US" sz="2400" dirty="0"/>
              <a:t>: This is the central repository where cleaned and transformed data is stored. It is typically organized in a multidimensional format for efficient querying and reporting.</a:t>
            </a:r>
          </a:p>
          <a:p>
            <a:pPr fontAlgn="base"/>
            <a:r>
              <a:rPr lang="en-US" sz="2400" b="1" dirty="0"/>
              <a:t>Metadata</a:t>
            </a:r>
            <a:r>
              <a:rPr lang="en-US" sz="2400" dirty="0"/>
              <a:t>: Metadata describes the structure, source and usage of data within the warehouse, making it easier for users and systems to understand and work with the data.</a:t>
            </a:r>
          </a:p>
          <a:p>
            <a:endParaRPr lang="en-US" sz="2400" dirty="0"/>
          </a:p>
        </p:txBody>
      </p:sp>
      <p:sp>
        <p:nvSpPr>
          <p:cNvPr id="4" name="Slide Number Placeholder 3">
            <a:extLst>
              <a:ext uri="{FF2B5EF4-FFF2-40B4-BE49-F238E27FC236}">
                <a16:creationId xmlns:a16="http://schemas.microsoft.com/office/drawing/2014/main" id="{332D615A-205B-B895-EBB4-757DE77D36B2}"/>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95493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8D690-B3B0-7F55-C427-A864B20F5AD9}"/>
              </a:ext>
            </a:extLst>
          </p:cNvPr>
          <p:cNvSpPr>
            <a:spLocks noGrp="1"/>
          </p:cNvSpPr>
          <p:nvPr>
            <p:ph type="title"/>
          </p:nvPr>
        </p:nvSpPr>
        <p:spPr/>
        <p:txBody>
          <a:bodyPr/>
          <a:lstStyle/>
          <a:p>
            <a:r>
              <a:rPr lang="en-US" b="1" dirty="0"/>
              <a:t>Components</a:t>
            </a:r>
            <a:endParaRPr lang="en-US" dirty="0"/>
          </a:p>
        </p:txBody>
      </p:sp>
      <p:sp>
        <p:nvSpPr>
          <p:cNvPr id="3" name="Content Placeholder 2">
            <a:extLst>
              <a:ext uri="{FF2B5EF4-FFF2-40B4-BE49-F238E27FC236}">
                <a16:creationId xmlns:a16="http://schemas.microsoft.com/office/drawing/2014/main" id="{E3CC6A5B-88C9-03EF-8405-757590275ED7}"/>
              </a:ext>
            </a:extLst>
          </p:cNvPr>
          <p:cNvSpPr>
            <a:spLocks noGrp="1"/>
          </p:cNvSpPr>
          <p:nvPr>
            <p:ph idx="1"/>
          </p:nvPr>
        </p:nvSpPr>
        <p:spPr>
          <a:xfrm>
            <a:off x="581192" y="1818640"/>
            <a:ext cx="11029615" cy="4653280"/>
          </a:xfrm>
        </p:spPr>
        <p:txBody>
          <a:bodyPr>
            <a:noAutofit/>
          </a:bodyPr>
          <a:lstStyle/>
          <a:p>
            <a:pPr fontAlgn="base"/>
            <a:r>
              <a:rPr lang="en-US" sz="2400" b="1" dirty="0"/>
              <a:t>Data Marts</a:t>
            </a:r>
            <a:r>
              <a:rPr lang="en-US" sz="2400" dirty="0"/>
              <a:t>: These are smaller, more focused data repositories derived from the data warehouse, designed to meet the needs of specific business departments or functions.</a:t>
            </a:r>
          </a:p>
          <a:p>
            <a:pPr fontAlgn="base"/>
            <a:r>
              <a:rPr lang="en-US" sz="2400" b="1" dirty="0"/>
              <a:t>OLAP (Online Analytical Processing) Tools</a:t>
            </a:r>
            <a:r>
              <a:rPr lang="en-US" sz="2400" dirty="0"/>
              <a:t>: </a:t>
            </a:r>
            <a:r>
              <a:rPr lang="en-US" sz="2400" u="sng" dirty="0">
                <a:hlinkClick r:id="rId2"/>
              </a:rPr>
              <a:t>OLAP tools</a:t>
            </a:r>
            <a:r>
              <a:rPr lang="en-US" sz="2400" dirty="0"/>
              <a:t> allow users to analyze data in multiple dimensions, providing deeper insights and supporting complex analytical queries.</a:t>
            </a:r>
          </a:p>
          <a:p>
            <a:pPr fontAlgn="base"/>
            <a:r>
              <a:rPr lang="en-US" sz="2400" b="1" dirty="0"/>
              <a:t>End-User Access Tools</a:t>
            </a:r>
            <a:r>
              <a:rPr lang="en-US" sz="2400" dirty="0"/>
              <a:t>: These are reporting and analysis tools, such as dashboards or </a:t>
            </a:r>
            <a:r>
              <a:rPr lang="en-US" sz="2400" u="sng" dirty="0">
                <a:hlinkClick r:id="rId3"/>
              </a:rPr>
              <a:t>Business Intelligence (BI) tools</a:t>
            </a:r>
            <a:r>
              <a:rPr lang="en-US" sz="2400" dirty="0"/>
              <a:t>, that enable business users to query the data warehouse and generate reports.</a:t>
            </a:r>
          </a:p>
          <a:p>
            <a:endParaRPr lang="en-US" sz="2400" dirty="0"/>
          </a:p>
        </p:txBody>
      </p:sp>
      <p:sp>
        <p:nvSpPr>
          <p:cNvPr id="4" name="Slide Number Placeholder 3">
            <a:extLst>
              <a:ext uri="{FF2B5EF4-FFF2-40B4-BE49-F238E27FC236}">
                <a16:creationId xmlns:a16="http://schemas.microsoft.com/office/drawing/2014/main" id="{EB6ED72E-4511-ED0A-C873-E9AFF2227770}"/>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1931029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AF2C5-634D-980C-4368-3F51DA2CB2E0}"/>
              </a:ext>
            </a:extLst>
          </p:cNvPr>
          <p:cNvSpPr>
            <a:spLocks noGrp="1"/>
          </p:cNvSpPr>
          <p:nvPr>
            <p:ph type="title"/>
          </p:nvPr>
        </p:nvSpPr>
        <p:spPr/>
        <p:txBody>
          <a:bodyPr/>
          <a:lstStyle/>
          <a:p>
            <a:r>
              <a:rPr lang="en-US" b="1" dirty="0"/>
              <a:t>Real world Example of Data warehousing</a:t>
            </a:r>
            <a:br>
              <a:rPr lang="en-US" b="1" dirty="0"/>
            </a:br>
            <a:endParaRPr lang="en-US" dirty="0"/>
          </a:p>
        </p:txBody>
      </p:sp>
      <p:sp>
        <p:nvSpPr>
          <p:cNvPr id="3" name="Content Placeholder 2">
            <a:extLst>
              <a:ext uri="{FF2B5EF4-FFF2-40B4-BE49-F238E27FC236}">
                <a16:creationId xmlns:a16="http://schemas.microsoft.com/office/drawing/2014/main" id="{B9102950-7A33-C0FF-51D2-20D3A70132BE}"/>
              </a:ext>
            </a:extLst>
          </p:cNvPr>
          <p:cNvSpPr>
            <a:spLocks noGrp="1"/>
          </p:cNvSpPr>
          <p:nvPr>
            <p:ph idx="1"/>
          </p:nvPr>
        </p:nvSpPr>
        <p:spPr>
          <a:xfrm>
            <a:off x="581192" y="2180496"/>
            <a:ext cx="11029615" cy="4545424"/>
          </a:xfrm>
        </p:spPr>
        <p:txBody>
          <a:bodyPr>
            <a:noAutofit/>
          </a:bodyPr>
          <a:lstStyle/>
          <a:p>
            <a:pPr fontAlgn="base"/>
            <a:r>
              <a:rPr lang="en-US" sz="2400" dirty="0"/>
              <a:t>Data Warehousing can be applied anywhere where we have a huge amount of data and we want to see statistical results that help in decision making. </a:t>
            </a:r>
          </a:p>
          <a:p>
            <a:pPr fontAlgn="base"/>
            <a:r>
              <a:rPr lang="en-US" sz="2400" b="1" dirty="0"/>
              <a:t>1. E-commerce</a:t>
            </a:r>
          </a:p>
          <a:p>
            <a:pPr fontAlgn="base"/>
            <a:r>
              <a:rPr lang="en-US" sz="2400" b="1" dirty="0"/>
              <a:t>Data Gathering:</a:t>
            </a:r>
            <a:r>
              <a:rPr lang="en-US" sz="2400" dirty="0"/>
              <a:t> Orders, returns, payments, user clicks, delivery updates.</a:t>
            </a:r>
          </a:p>
          <a:p>
            <a:pPr fontAlgn="base"/>
            <a:r>
              <a:rPr lang="en-US" sz="2400" b="1" dirty="0"/>
              <a:t>Schema:</a:t>
            </a:r>
            <a:r>
              <a:rPr lang="en-US" sz="2400" dirty="0"/>
              <a:t> Combines source data into a structured star schema for analysis.</a:t>
            </a:r>
          </a:p>
          <a:p>
            <a:pPr fontAlgn="base"/>
            <a:r>
              <a:rPr lang="en-US" sz="2400" b="1" dirty="0"/>
              <a:t>Cleansing:</a:t>
            </a:r>
            <a:r>
              <a:rPr lang="en-US" sz="2400" dirty="0"/>
              <a:t> Standardizes customer names, locations and product categories.</a:t>
            </a:r>
          </a:p>
          <a:p>
            <a:pPr fontAlgn="base"/>
            <a:r>
              <a:rPr lang="en-US" sz="2400" b="1" dirty="0"/>
              <a:t>Updates:</a:t>
            </a:r>
            <a:r>
              <a:rPr lang="en-US" sz="2400" dirty="0"/>
              <a:t> Near real-time or scheduled loads for fresh insights.</a:t>
            </a:r>
          </a:p>
          <a:p>
            <a:pPr fontAlgn="base"/>
            <a:r>
              <a:rPr lang="en-US" sz="2400" b="1" dirty="0"/>
              <a:t>Summarization:</a:t>
            </a:r>
            <a:r>
              <a:rPr lang="en-US" sz="2400" dirty="0"/>
              <a:t> Bestsellers by category, regional demand trends, logistics performance.</a:t>
            </a:r>
          </a:p>
          <a:p>
            <a:endParaRPr lang="en-US" sz="2400" dirty="0"/>
          </a:p>
        </p:txBody>
      </p:sp>
      <p:sp>
        <p:nvSpPr>
          <p:cNvPr id="4" name="Slide Number Placeholder 3">
            <a:extLst>
              <a:ext uri="{FF2B5EF4-FFF2-40B4-BE49-F238E27FC236}">
                <a16:creationId xmlns:a16="http://schemas.microsoft.com/office/drawing/2014/main" id="{847B4BB5-56D4-F793-F276-641F0C1BA23F}"/>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1967010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22B1F-42B5-12A5-0971-3FAD116BEB1A}"/>
              </a:ext>
            </a:extLst>
          </p:cNvPr>
          <p:cNvSpPr>
            <a:spLocks noGrp="1"/>
          </p:cNvSpPr>
          <p:nvPr>
            <p:ph type="title"/>
          </p:nvPr>
        </p:nvSpPr>
        <p:spPr/>
        <p:txBody>
          <a:bodyPr/>
          <a:lstStyle/>
          <a:p>
            <a:r>
              <a:rPr lang="en-US" b="1" dirty="0"/>
              <a:t>Banking</a:t>
            </a:r>
            <a:br>
              <a:rPr lang="en-US" b="1" dirty="0"/>
            </a:br>
            <a:endParaRPr lang="en-US" dirty="0"/>
          </a:p>
        </p:txBody>
      </p:sp>
      <p:sp>
        <p:nvSpPr>
          <p:cNvPr id="3" name="Content Placeholder 2">
            <a:extLst>
              <a:ext uri="{FF2B5EF4-FFF2-40B4-BE49-F238E27FC236}">
                <a16:creationId xmlns:a16="http://schemas.microsoft.com/office/drawing/2014/main" id="{2374D7C9-0A02-1CE5-5D13-481D6BCDBFD9}"/>
              </a:ext>
            </a:extLst>
          </p:cNvPr>
          <p:cNvSpPr>
            <a:spLocks noGrp="1"/>
          </p:cNvSpPr>
          <p:nvPr>
            <p:ph idx="1"/>
          </p:nvPr>
        </p:nvSpPr>
        <p:spPr/>
        <p:txBody>
          <a:bodyPr>
            <a:normAutofit/>
          </a:bodyPr>
          <a:lstStyle/>
          <a:p>
            <a:pPr fontAlgn="base"/>
            <a:r>
              <a:rPr lang="en-US" sz="2400" b="1" dirty="0"/>
              <a:t>Data Gathering:</a:t>
            </a:r>
            <a:r>
              <a:rPr lang="en-US" sz="2400" dirty="0"/>
              <a:t> ATM transactions, online banking, credit card usage, loan records.</a:t>
            </a:r>
          </a:p>
          <a:p>
            <a:pPr fontAlgn="base"/>
            <a:r>
              <a:rPr lang="en-US" sz="2400" b="1" dirty="0"/>
              <a:t>Schema:</a:t>
            </a:r>
            <a:r>
              <a:rPr lang="en-US" sz="2400" dirty="0"/>
              <a:t> Integrates data from core banking, CRM and fraud detection systems.</a:t>
            </a:r>
          </a:p>
          <a:p>
            <a:pPr fontAlgn="base"/>
            <a:r>
              <a:rPr lang="en-US" sz="2400" b="1" dirty="0"/>
              <a:t>Cleansing:</a:t>
            </a:r>
            <a:r>
              <a:rPr lang="en-US" sz="2400" dirty="0"/>
              <a:t> Fixes inconsistencies in account info, transaction logs and addresses.</a:t>
            </a:r>
          </a:p>
          <a:p>
            <a:pPr fontAlgn="base"/>
            <a:r>
              <a:rPr lang="en-US" sz="2400" b="1" dirty="0"/>
              <a:t>Updates:</a:t>
            </a:r>
            <a:r>
              <a:rPr lang="en-US" sz="2400" dirty="0"/>
              <a:t> Transaction data is batched and uploaded nightly.</a:t>
            </a:r>
          </a:p>
          <a:p>
            <a:pPr fontAlgn="base"/>
            <a:r>
              <a:rPr lang="en-US" sz="2400" b="1" dirty="0"/>
              <a:t>Summarization:</a:t>
            </a:r>
            <a:r>
              <a:rPr lang="en-US" sz="2400" dirty="0"/>
              <a:t> Daily cash flow reports, high-risk account flags and customer profitability analysis.</a:t>
            </a:r>
          </a:p>
          <a:p>
            <a:endParaRPr lang="en-US" sz="2400" dirty="0"/>
          </a:p>
        </p:txBody>
      </p:sp>
      <p:sp>
        <p:nvSpPr>
          <p:cNvPr id="4" name="Slide Number Placeholder 3">
            <a:extLst>
              <a:ext uri="{FF2B5EF4-FFF2-40B4-BE49-F238E27FC236}">
                <a16:creationId xmlns:a16="http://schemas.microsoft.com/office/drawing/2014/main" id="{3850378F-EDA8-CDF6-A5D7-E7C19D57079B}"/>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3414045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US" sz="3600" cap="none" dirty="0"/>
              <a:t>Data Warehouse Architecture</a:t>
            </a:r>
            <a:endParaRPr lang="en-IN" sz="3600" cap="none"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7</a:t>
            </a:fld>
            <a:endParaRPr lang="en-US" dirty="0"/>
          </a:p>
        </p:txBody>
      </p:sp>
      <p:grpSp>
        <p:nvGrpSpPr>
          <p:cNvPr id="6" name="Group 5">
            <a:extLst>
              <a:ext uri="{FF2B5EF4-FFF2-40B4-BE49-F238E27FC236}">
                <a16:creationId xmlns:a16="http://schemas.microsoft.com/office/drawing/2014/main" id="{8A91AB04-1AD0-44F6-9D2D-8D88C6656B15}"/>
              </a:ext>
            </a:extLst>
          </p:cNvPr>
          <p:cNvGrpSpPr/>
          <p:nvPr/>
        </p:nvGrpSpPr>
        <p:grpSpPr>
          <a:xfrm>
            <a:off x="2207643" y="1951962"/>
            <a:ext cx="7288742" cy="4392682"/>
            <a:chOff x="2227792" y="1929701"/>
            <a:chExt cx="7288742" cy="4392682"/>
          </a:xfrm>
        </p:grpSpPr>
        <p:pic>
          <p:nvPicPr>
            <p:cNvPr id="7" name="Picture 6" descr="Data Warehouse Architecture: Traditional vs. Cloud | Panoply">
              <a:extLst>
                <a:ext uri="{FF2B5EF4-FFF2-40B4-BE49-F238E27FC236}">
                  <a16:creationId xmlns:a16="http://schemas.microsoft.com/office/drawing/2014/main" id="{579ECA29-0E90-41D7-8A1A-73E049DFDA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7792" y="1929701"/>
              <a:ext cx="7288742" cy="439268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7E3A590-D01D-4F6D-BC75-63B2114CDD74}"/>
                </a:ext>
              </a:extLst>
            </p:cNvPr>
            <p:cNvSpPr txBox="1"/>
            <p:nvPr/>
          </p:nvSpPr>
          <p:spPr>
            <a:xfrm>
              <a:off x="4309533" y="4580465"/>
              <a:ext cx="635000" cy="307777"/>
            </a:xfrm>
            <a:prstGeom prst="rect">
              <a:avLst/>
            </a:prstGeom>
            <a:noFill/>
          </p:spPr>
          <p:txBody>
            <a:bodyPr wrap="square" rtlCol="0">
              <a:spAutoFit/>
            </a:bodyPr>
            <a:lstStyle/>
            <a:p>
              <a:pPr algn="ctr"/>
              <a:r>
                <a:rPr lang="en-IN" sz="1400" b="1" i="0" dirty="0">
                  <a:solidFill>
                    <a:schemeClr val="bg2">
                      <a:lumMod val="25000"/>
                    </a:schemeClr>
                  </a:solidFill>
                  <a:effectLst/>
                  <a:latin typeface="Encode Sans Semi Expanded"/>
                </a:rPr>
                <a:t>ETL</a:t>
              </a:r>
              <a:endParaRPr lang="en-IN" sz="1400" b="1" dirty="0">
                <a:solidFill>
                  <a:schemeClr val="bg2">
                    <a:lumMod val="25000"/>
                  </a:schemeClr>
                </a:solidFill>
              </a:endParaRPr>
            </a:p>
          </p:txBody>
        </p:sp>
      </p:grpSp>
      <p:sp>
        <p:nvSpPr>
          <p:cNvPr id="9" name="Oval 8">
            <a:extLst>
              <a:ext uri="{FF2B5EF4-FFF2-40B4-BE49-F238E27FC236}">
                <a16:creationId xmlns:a16="http://schemas.microsoft.com/office/drawing/2014/main" id="{33C1C2EB-C46D-4A5A-BFFA-F76642121FF1}"/>
              </a:ext>
            </a:extLst>
          </p:cNvPr>
          <p:cNvSpPr/>
          <p:nvPr/>
        </p:nvSpPr>
        <p:spPr>
          <a:xfrm>
            <a:off x="3869651" y="3581207"/>
            <a:ext cx="1514763" cy="14778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78415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3BA57-62E3-46E8-A9B5-58A30C1C775F}"/>
              </a:ext>
            </a:extLst>
          </p:cNvPr>
          <p:cNvSpPr>
            <a:spLocks noGrp="1"/>
          </p:cNvSpPr>
          <p:nvPr>
            <p:ph type="ctrTitle"/>
          </p:nvPr>
        </p:nvSpPr>
        <p:spPr/>
        <p:txBody>
          <a:bodyPr anchor="ctr">
            <a:normAutofit/>
          </a:bodyPr>
          <a:lstStyle/>
          <a:p>
            <a:pPr algn="ctr"/>
            <a:r>
              <a:rPr lang="en-IN" sz="6000" dirty="0"/>
              <a:t>ETL </a:t>
            </a:r>
            <a:r>
              <a:rPr lang="en-IN" sz="6000" cap="none" dirty="0"/>
              <a:t>Process</a:t>
            </a:r>
            <a:endParaRPr lang="en-IN" sz="6000" dirty="0"/>
          </a:p>
        </p:txBody>
      </p:sp>
    </p:spTree>
    <p:extLst>
      <p:ext uri="{BB962C8B-B14F-4D97-AF65-F5344CB8AC3E}">
        <p14:creationId xmlns:p14="http://schemas.microsoft.com/office/powerpoint/2010/main" val="2028353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US" sz="3600" cap="none" dirty="0"/>
              <a:t>What is ETL?</a:t>
            </a:r>
            <a:endParaRPr lang="en-IN" sz="3600" cap="none"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9</a:t>
            </a:fld>
            <a:endParaRPr lang="en-US" dirty="0"/>
          </a:p>
        </p:txBody>
      </p:sp>
      <p:pic>
        <p:nvPicPr>
          <p:cNvPr id="13" name="Picture 12">
            <a:extLst>
              <a:ext uri="{FF2B5EF4-FFF2-40B4-BE49-F238E27FC236}">
                <a16:creationId xmlns:a16="http://schemas.microsoft.com/office/drawing/2014/main" id="{6A7BB2C2-565F-4349-A137-73E6982C409E}"/>
              </a:ext>
            </a:extLst>
          </p:cNvPr>
          <p:cNvPicPr>
            <a:picLocks noChangeAspect="1"/>
          </p:cNvPicPr>
          <p:nvPr/>
        </p:nvPicPr>
        <p:blipFill rotWithShape="1">
          <a:blip r:embed="rId2"/>
          <a:srcRect t="11379"/>
          <a:stretch/>
        </p:blipFill>
        <p:spPr>
          <a:xfrm>
            <a:off x="2235182" y="2224440"/>
            <a:ext cx="7472236" cy="3399250"/>
          </a:xfrm>
          <a:prstGeom prst="rect">
            <a:avLst/>
          </a:prstGeom>
        </p:spPr>
      </p:pic>
      <p:sp>
        <p:nvSpPr>
          <p:cNvPr id="14" name="TextBox 13">
            <a:extLst>
              <a:ext uri="{FF2B5EF4-FFF2-40B4-BE49-F238E27FC236}">
                <a16:creationId xmlns:a16="http://schemas.microsoft.com/office/drawing/2014/main" id="{B8F09C28-2EB4-4150-A06E-BAEBB6668D69}"/>
              </a:ext>
            </a:extLst>
          </p:cNvPr>
          <p:cNvSpPr txBox="1"/>
          <p:nvPr/>
        </p:nvSpPr>
        <p:spPr>
          <a:xfrm>
            <a:off x="3140077" y="2008996"/>
            <a:ext cx="1163782" cy="461665"/>
          </a:xfrm>
          <a:prstGeom prst="rect">
            <a:avLst/>
          </a:prstGeom>
          <a:noFill/>
        </p:spPr>
        <p:txBody>
          <a:bodyPr wrap="square" rtlCol="0">
            <a:spAutoFit/>
          </a:bodyPr>
          <a:lstStyle/>
          <a:p>
            <a:pPr algn="ctr"/>
            <a:r>
              <a:rPr lang="en-US" sz="2400" b="1" dirty="0"/>
              <a:t>E</a:t>
            </a:r>
            <a:r>
              <a:rPr lang="en-US" sz="2200" dirty="0"/>
              <a:t>xtract</a:t>
            </a:r>
            <a:endParaRPr lang="en-IN" sz="2200" dirty="0"/>
          </a:p>
        </p:txBody>
      </p:sp>
      <p:sp>
        <p:nvSpPr>
          <p:cNvPr id="15" name="TextBox 14">
            <a:extLst>
              <a:ext uri="{FF2B5EF4-FFF2-40B4-BE49-F238E27FC236}">
                <a16:creationId xmlns:a16="http://schemas.microsoft.com/office/drawing/2014/main" id="{C344C039-A3AB-4FD4-B7D5-E8BD6F7C467E}"/>
              </a:ext>
            </a:extLst>
          </p:cNvPr>
          <p:cNvSpPr txBox="1"/>
          <p:nvPr/>
        </p:nvSpPr>
        <p:spPr>
          <a:xfrm>
            <a:off x="5292144" y="2008996"/>
            <a:ext cx="1607711" cy="461665"/>
          </a:xfrm>
          <a:prstGeom prst="rect">
            <a:avLst/>
          </a:prstGeom>
          <a:noFill/>
        </p:spPr>
        <p:txBody>
          <a:bodyPr wrap="square" rtlCol="0">
            <a:spAutoFit/>
          </a:bodyPr>
          <a:lstStyle/>
          <a:p>
            <a:pPr algn="ctr"/>
            <a:r>
              <a:rPr lang="en-US" sz="2400" b="1" dirty="0"/>
              <a:t>T</a:t>
            </a:r>
            <a:r>
              <a:rPr lang="en-US" sz="2200" dirty="0"/>
              <a:t>ransform</a:t>
            </a:r>
            <a:endParaRPr lang="en-IN" sz="2200" dirty="0"/>
          </a:p>
        </p:txBody>
      </p:sp>
      <p:sp>
        <p:nvSpPr>
          <p:cNvPr id="16" name="TextBox 15">
            <a:extLst>
              <a:ext uri="{FF2B5EF4-FFF2-40B4-BE49-F238E27FC236}">
                <a16:creationId xmlns:a16="http://schemas.microsoft.com/office/drawing/2014/main" id="{594838C6-9AC8-4086-A7AD-17F43502B2DA}"/>
              </a:ext>
            </a:extLst>
          </p:cNvPr>
          <p:cNvSpPr txBox="1"/>
          <p:nvPr/>
        </p:nvSpPr>
        <p:spPr>
          <a:xfrm>
            <a:off x="7573526" y="2008996"/>
            <a:ext cx="1607711" cy="461665"/>
          </a:xfrm>
          <a:prstGeom prst="rect">
            <a:avLst/>
          </a:prstGeom>
          <a:noFill/>
        </p:spPr>
        <p:txBody>
          <a:bodyPr wrap="square" rtlCol="0">
            <a:spAutoFit/>
          </a:bodyPr>
          <a:lstStyle/>
          <a:p>
            <a:pPr algn="ctr"/>
            <a:r>
              <a:rPr lang="en-US" sz="2400" b="1" dirty="0"/>
              <a:t>L</a:t>
            </a:r>
            <a:r>
              <a:rPr lang="en-US" sz="2200" dirty="0"/>
              <a:t>oad</a:t>
            </a:r>
            <a:endParaRPr lang="en-IN" sz="2200" dirty="0"/>
          </a:p>
        </p:txBody>
      </p:sp>
      <p:sp>
        <p:nvSpPr>
          <p:cNvPr id="17" name="TextBox 16">
            <a:extLst>
              <a:ext uri="{FF2B5EF4-FFF2-40B4-BE49-F238E27FC236}">
                <a16:creationId xmlns:a16="http://schemas.microsoft.com/office/drawing/2014/main" id="{322C49E1-1FFB-49CE-82BB-050593812AAD}"/>
              </a:ext>
            </a:extLst>
          </p:cNvPr>
          <p:cNvSpPr txBox="1"/>
          <p:nvPr/>
        </p:nvSpPr>
        <p:spPr>
          <a:xfrm>
            <a:off x="1794116" y="5655321"/>
            <a:ext cx="1847300" cy="369332"/>
          </a:xfrm>
          <a:prstGeom prst="rect">
            <a:avLst/>
          </a:prstGeom>
          <a:noFill/>
        </p:spPr>
        <p:txBody>
          <a:bodyPr wrap="square" rtlCol="0">
            <a:spAutoFit/>
          </a:bodyPr>
          <a:lstStyle/>
          <a:p>
            <a:pPr algn="ctr"/>
            <a:r>
              <a:rPr lang="en-US" b="1" dirty="0"/>
              <a:t>Data Sources</a:t>
            </a:r>
            <a:endParaRPr lang="en-IN" dirty="0"/>
          </a:p>
        </p:txBody>
      </p:sp>
      <p:sp>
        <p:nvSpPr>
          <p:cNvPr id="18" name="TextBox 17">
            <a:extLst>
              <a:ext uri="{FF2B5EF4-FFF2-40B4-BE49-F238E27FC236}">
                <a16:creationId xmlns:a16="http://schemas.microsoft.com/office/drawing/2014/main" id="{5C9DCBD0-D146-4390-A7D1-953AED60A946}"/>
              </a:ext>
            </a:extLst>
          </p:cNvPr>
          <p:cNvSpPr txBox="1"/>
          <p:nvPr/>
        </p:nvSpPr>
        <p:spPr>
          <a:xfrm>
            <a:off x="5047650" y="5623690"/>
            <a:ext cx="1847300" cy="369332"/>
          </a:xfrm>
          <a:prstGeom prst="rect">
            <a:avLst/>
          </a:prstGeom>
          <a:noFill/>
        </p:spPr>
        <p:txBody>
          <a:bodyPr wrap="square" rtlCol="0">
            <a:spAutoFit/>
          </a:bodyPr>
          <a:lstStyle/>
          <a:p>
            <a:pPr algn="ctr"/>
            <a:r>
              <a:rPr lang="en-US" b="1" dirty="0"/>
              <a:t>Staging Area</a:t>
            </a:r>
            <a:endParaRPr lang="en-IN" dirty="0"/>
          </a:p>
        </p:txBody>
      </p:sp>
      <p:sp>
        <p:nvSpPr>
          <p:cNvPr id="19" name="TextBox 18">
            <a:extLst>
              <a:ext uri="{FF2B5EF4-FFF2-40B4-BE49-F238E27FC236}">
                <a16:creationId xmlns:a16="http://schemas.microsoft.com/office/drawing/2014/main" id="{A75C4982-0D7E-474D-AE36-9A174ACE2BFB}"/>
              </a:ext>
            </a:extLst>
          </p:cNvPr>
          <p:cNvSpPr txBox="1"/>
          <p:nvPr/>
        </p:nvSpPr>
        <p:spPr>
          <a:xfrm>
            <a:off x="7887659" y="5654468"/>
            <a:ext cx="2281383" cy="369332"/>
          </a:xfrm>
          <a:prstGeom prst="rect">
            <a:avLst/>
          </a:prstGeom>
          <a:noFill/>
        </p:spPr>
        <p:txBody>
          <a:bodyPr wrap="square" rtlCol="0">
            <a:spAutoFit/>
          </a:bodyPr>
          <a:lstStyle/>
          <a:p>
            <a:pPr algn="ctr"/>
            <a:r>
              <a:rPr lang="en-US" b="1" dirty="0"/>
              <a:t>Data Warehouse</a:t>
            </a:r>
            <a:endParaRPr lang="en-IN" dirty="0"/>
          </a:p>
        </p:txBody>
      </p:sp>
    </p:spTree>
    <p:extLst>
      <p:ext uri="{BB962C8B-B14F-4D97-AF65-F5344CB8AC3E}">
        <p14:creationId xmlns:p14="http://schemas.microsoft.com/office/powerpoint/2010/main" val="2157349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What is ETL?</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281264"/>
          </a:xfrm>
        </p:spPr>
        <p:txBody>
          <a:bodyPr anchor="t">
            <a:noAutofit/>
          </a:bodyPr>
          <a:lstStyle/>
          <a:p>
            <a:r>
              <a:rPr lang="en-IN" sz="2400" b="1" dirty="0"/>
              <a:t>E</a:t>
            </a:r>
            <a:r>
              <a:rPr lang="en-IN" sz="2400" dirty="0"/>
              <a:t>xtraction, </a:t>
            </a:r>
            <a:r>
              <a:rPr lang="en-IN" sz="2400" b="1" dirty="0"/>
              <a:t>T</a:t>
            </a:r>
            <a:r>
              <a:rPr lang="en-IN" sz="2400" dirty="0"/>
              <a:t>ransform and </a:t>
            </a:r>
            <a:r>
              <a:rPr lang="en-IN" sz="2400" b="1" dirty="0"/>
              <a:t>L</a:t>
            </a:r>
            <a:r>
              <a:rPr lang="en-IN" sz="2400" dirty="0"/>
              <a:t>oad</a:t>
            </a:r>
          </a:p>
          <a:p>
            <a:r>
              <a:rPr lang="en-IN" sz="2400" b="1" i="1" dirty="0"/>
              <a:t>Data Extraction</a:t>
            </a:r>
          </a:p>
          <a:p>
            <a:pPr lvl="1"/>
            <a:r>
              <a:rPr lang="en-US" sz="2400" dirty="0"/>
              <a:t>Extraction of data from the source systems.</a:t>
            </a:r>
            <a:endParaRPr lang="en-IN" sz="2400" dirty="0"/>
          </a:p>
          <a:p>
            <a:r>
              <a:rPr lang="en-IN" sz="2400" b="1" i="1" dirty="0"/>
              <a:t>Data Transformation</a:t>
            </a:r>
          </a:p>
          <a:p>
            <a:pPr lvl="1"/>
            <a:r>
              <a:rPr lang="en-US" sz="2400" dirty="0"/>
              <a:t>Includes all the functions and procedures for changing the source data into the exact formats and structures appropriate for storage in the data warehouse database</a:t>
            </a:r>
            <a:endParaRPr lang="en-IN" sz="2400" dirty="0"/>
          </a:p>
          <a:p>
            <a:r>
              <a:rPr lang="en-IN" sz="2400" b="1" i="1" dirty="0"/>
              <a:t>Loading Data</a:t>
            </a:r>
          </a:p>
          <a:p>
            <a:pPr lvl="1"/>
            <a:r>
              <a:rPr lang="en-US" sz="2400" dirty="0"/>
              <a:t>Physically moves the data into the data warehouse repository.</a:t>
            </a:r>
            <a:endParaRPr lang="en-IN" sz="24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1320902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Steps in ETL</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
        <p:nvSpPr>
          <p:cNvPr id="6" name="Rectangle 5">
            <a:extLst>
              <a:ext uri="{FF2B5EF4-FFF2-40B4-BE49-F238E27FC236}">
                <a16:creationId xmlns:a16="http://schemas.microsoft.com/office/drawing/2014/main" id="{C92B7010-986E-42C6-B597-7594C57321EF}"/>
              </a:ext>
            </a:extLst>
          </p:cNvPr>
          <p:cNvSpPr/>
          <p:nvPr/>
        </p:nvSpPr>
        <p:spPr>
          <a:xfrm>
            <a:off x="1605958" y="5555908"/>
            <a:ext cx="6917210" cy="48461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10. ETL for fact tables.</a:t>
            </a:r>
          </a:p>
        </p:txBody>
      </p:sp>
      <p:sp>
        <p:nvSpPr>
          <p:cNvPr id="7" name="Rectangle 6">
            <a:extLst>
              <a:ext uri="{FF2B5EF4-FFF2-40B4-BE49-F238E27FC236}">
                <a16:creationId xmlns:a16="http://schemas.microsoft.com/office/drawing/2014/main" id="{2EBA4214-4D30-4A27-B92D-CA059308B59D}"/>
              </a:ext>
            </a:extLst>
          </p:cNvPr>
          <p:cNvSpPr/>
          <p:nvPr/>
        </p:nvSpPr>
        <p:spPr>
          <a:xfrm>
            <a:off x="1513598" y="5152295"/>
            <a:ext cx="6917210" cy="48461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9. ETL for dimension tables.</a:t>
            </a:r>
          </a:p>
        </p:txBody>
      </p:sp>
      <p:sp>
        <p:nvSpPr>
          <p:cNvPr id="8" name="Rectangle 7">
            <a:extLst>
              <a:ext uri="{FF2B5EF4-FFF2-40B4-BE49-F238E27FC236}">
                <a16:creationId xmlns:a16="http://schemas.microsoft.com/office/drawing/2014/main" id="{C0C96E8D-12D1-4099-A099-E5B2F6859F17}"/>
              </a:ext>
            </a:extLst>
          </p:cNvPr>
          <p:cNvSpPr/>
          <p:nvPr/>
        </p:nvSpPr>
        <p:spPr>
          <a:xfrm>
            <a:off x="1421238" y="4748682"/>
            <a:ext cx="6917210" cy="48461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8. Write procedures for all data loads.</a:t>
            </a:r>
            <a:endParaRPr lang="en-IN" dirty="0"/>
          </a:p>
        </p:txBody>
      </p:sp>
      <p:sp>
        <p:nvSpPr>
          <p:cNvPr id="9" name="Rectangle 8">
            <a:extLst>
              <a:ext uri="{FF2B5EF4-FFF2-40B4-BE49-F238E27FC236}">
                <a16:creationId xmlns:a16="http://schemas.microsoft.com/office/drawing/2014/main" id="{39C295D7-63E9-4310-957F-DE81EB29D58A}"/>
              </a:ext>
            </a:extLst>
          </p:cNvPr>
          <p:cNvSpPr/>
          <p:nvPr/>
        </p:nvSpPr>
        <p:spPr>
          <a:xfrm>
            <a:off x="1328878" y="4360422"/>
            <a:ext cx="6917210" cy="48461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7. Organize data staging area and test tools.</a:t>
            </a:r>
            <a:endParaRPr lang="en-IN" dirty="0"/>
          </a:p>
        </p:txBody>
      </p:sp>
      <p:sp>
        <p:nvSpPr>
          <p:cNvPr id="10" name="Rectangle 9">
            <a:extLst>
              <a:ext uri="{FF2B5EF4-FFF2-40B4-BE49-F238E27FC236}">
                <a16:creationId xmlns:a16="http://schemas.microsoft.com/office/drawing/2014/main" id="{0157E081-B14E-4CD2-8D2D-50AE8DFAC676}"/>
              </a:ext>
            </a:extLst>
          </p:cNvPr>
          <p:cNvSpPr/>
          <p:nvPr/>
        </p:nvSpPr>
        <p:spPr>
          <a:xfrm>
            <a:off x="1236518" y="3997000"/>
            <a:ext cx="6917210" cy="48461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t>6. Plan for aggregate tables.</a:t>
            </a:r>
          </a:p>
        </p:txBody>
      </p:sp>
      <p:sp>
        <p:nvSpPr>
          <p:cNvPr id="11" name="Rectangle 10">
            <a:extLst>
              <a:ext uri="{FF2B5EF4-FFF2-40B4-BE49-F238E27FC236}">
                <a16:creationId xmlns:a16="http://schemas.microsoft.com/office/drawing/2014/main" id="{299A4ED3-8628-4C02-B6AE-30391286AF1E}"/>
              </a:ext>
            </a:extLst>
          </p:cNvPr>
          <p:cNvSpPr/>
          <p:nvPr/>
        </p:nvSpPr>
        <p:spPr>
          <a:xfrm>
            <a:off x="1144158" y="3591887"/>
            <a:ext cx="6917210" cy="48461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5. Determine data transformation and cleansing rules.</a:t>
            </a:r>
            <a:endParaRPr lang="en-IN" dirty="0"/>
          </a:p>
        </p:txBody>
      </p:sp>
      <p:sp>
        <p:nvSpPr>
          <p:cNvPr id="12" name="Rectangle 11">
            <a:extLst>
              <a:ext uri="{FF2B5EF4-FFF2-40B4-BE49-F238E27FC236}">
                <a16:creationId xmlns:a16="http://schemas.microsoft.com/office/drawing/2014/main" id="{833D29C4-5D73-4773-960C-1E7AC9783DE0}"/>
              </a:ext>
            </a:extLst>
          </p:cNvPr>
          <p:cNvSpPr/>
          <p:nvPr/>
        </p:nvSpPr>
        <p:spPr>
          <a:xfrm>
            <a:off x="1051798" y="3186774"/>
            <a:ext cx="6917210" cy="48461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4. Establish comprehensive data extraction rules.</a:t>
            </a:r>
            <a:endParaRPr lang="en-IN" dirty="0"/>
          </a:p>
        </p:txBody>
      </p:sp>
      <p:sp>
        <p:nvSpPr>
          <p:cNvPr id="13" name="Rectangle 12">
            <a:extLst>
              <a:ext uri="{FF2B5EF4-FFF2-40B4-BE49-F238E27FC236}">
                <a16:creationId xmlns:a16="http://schemas.microsoft.com/office/drawing/2014/main" id="{6827AA9B-85DB-44D7-835F-E21F0CBC2254}"/>
              </a:ext>
            </a:extLst>
          </p:cNvPr>
          <p:cNvSpPr/>
          <p:nvPr/>
        </p:nvSpPr>
        <p:spPr>
          <a:xfrm>
            <a:off x="959438" y="2776993"/>
            <a:ext cx="6917210" cy="48461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3. Prepare data mapping for target data elements from sources.</a:t>
            </a:r>
            <a:endParaRPr lang="en-IN" dirty="0"/>
          </a:p>
        </p:txBody>
      </p:sp>
      <p:sp>
        <p:nvSpPr>
          <p:cNvPr id="14" name="Rectangle 13">
            <a:extLst>
              <a:ext uri="{FF2B5EF4-FFF2-40B4-BE49-F238E27FC236}">
                <a16:creationId xmlns:a16="http://schemas.microsoft.com/office/drawing/2014/main" id="{C9034760-9B7A-437E-8666-828816430815}"/>
              </a:ext>
            </a:extLst>
          </p:cNvPr>
          <p:cNvSpPr/>
          <p:nvPr/>
        </p:nvSpPr>
        <p:spPr>
          <a:xfrm>
            <a:off x="867078" y="2352124"/>
            <a:ext cx="6917210" cy="48461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2. Determine all the data sources, both internal and external.</a:t>
            </a:r>
            <a:endParaRPr lang="en-IN" dirty="0"/>
          </a:p>
        </p:txBody>
      </p:sp>
      <p:sp>
        <p:nvSpPr>
          <p:cNvPr id="15" name="Rectangle 14">
            <a:extLst>
              <a:ext uri="{FF2B5EF4-FFF2-40B4-BE49-F238E27FC236}">
                <a16:creationId xmlns:a16="http://schemas.microsoft.com/office/drawing/2014/main" id="{0F56A238-9025-4AFB-A88A-0A3A141B8019}"/>
              </a:ext>
            </a:extLst>
          </p:cNvPr>
          <p:cNvSpPr/>
          <p:nvPr/>
        </p:nvSpPr>
        <p:spPr>
          <a:xfrm>
            <a:off x="774718" y="1882600"/>
            <a:ext cx="6917210" cy="484612"/>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1. Determine all the target data needed in the data warehouse.</a:t>
            </a:r>
            <a:endParaRPr lang="en-IN" dirty="0"/>
          </a:p>
        </p:txBody>
      </p:sp>
      <p:cxnSp>
        <p:nvCxnSpPr>
          <p:cNvPr id="17" name="Straight Arrow Connector 16">
            <a:extLst>
              <a:ext uri="{FF2B5EF4-FFF2-40B4-BE49-F238E27FC236}">
                <a16:creationId xmlns:a16="http://schemas.microsoft.com/office/drawing/2014/main" id="{37336920-B04F-4056-8B48-D6143D008F20}"/>
              </a:ext>
            </a:extLst>
          </p:cNvPr>
          <p:cNvCxnSpPr/>
          <p:nvPr/>
        </p:nvCxnSpPr>
        <p:spPr>
          <a:xfrm>
            <a:off x="8153728" y="1948873"/>
            <a:ext cx="796308" cy="4007264"/>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382151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ETL Key Factors</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677504"/>
          </a:xfrm>
        </p:spPr>
        <p:txBody>
          <a:bodyPr anchor="t">
            <a:noAutofit/>
          </a:bodyPr>
          <a:lstStyle/>
          <a:p>
            <a:r>
              <a:rPr lang="en-IN" sz="2000" dirty="0"/>
              <a:t>Complexity of data extraction and transformation</a:t>
            </a:r>
          </a:p>
          <a:p>
            <a:pPr lvl="1"/>
            <a:r>
              <a:rPr lang="en-IN" sz="2000" dirty="0"/>
              <a:t>Reason: </a:t>
            </a:r>
            <a:r>
              <a:rPr lang="en-US" sz="2000" dirty="0"/>
              <a:t>the tremendous </a:t>
            </a:r>
            <a:r>
              <a:rPr lang="en-US" sz="2000" b="1" dirty="0"/>
              <a:t>diversity</a:t>
            </a:r>
            <a:r>
              <a:rPr lang="en-US" sz="2000" dirty="0"/>
              <a:t> of the source systems.</a:t>
            </a:r>
          </a:p>
          <a:p>
            <a:pPr lvl="1"/>
            <a:r>
              <a:rPr lang="en-US" sz="2000" dirty="0"/>
              <a:t>Need to pay special attention to the various sources and begin with a complete inventory of the source systems.</a:t>
            </a:r>
          </a:p>
          <a:p>
            <a:pPr lvl="1"/>
            <a:r>
              <a:rPr lang="en-US" sz="2000" dirty="0"/>
              <a:t>The difficulties encountered in the data transformation function also relate to the </a:t>
            </a:r>
            <a:r>
              <a:rPr lang="en-US" sz="2000" b="1" dirty="0"/>
              <a:t>heterogeneity</a:t>
            </a:r>
            <a:r>
              <a:rPr lang="en-US" sz="2000" dirty="0"/>
              <a:t> of the source systems.</a:t>
            </a:r>
          </a:p>
          <a:p>
            <a:r>
              <a:rPr lang="en-US" sz="2000" dirty="0"/>
              <a:t>Data Loading Functions</a:t>
            </a:r>
          </a:p>
          <a:p>
            <a:pPr lvl="1"/>
            <a:r>
              <a:rPr lang="en-US" sz="2000" dirty="0"/>
              <a:t>Find the proper time to schedule full refreshes.</a:t>
            </a:r>
          </a:p>
          <a:p>
            <a:pPr lvl="1"/>
            <a:r>
              <a:rPr lang="en-US" sz="2000" dirty="0"/>
              <a:t>Determine the best method to capture the ongoing changes from each source system</a:t>
            </a:r>
          </a:p>
          <a:p>
            <a:pPr lvl="1"/>
            <a:r>
              <a:rPr lang="en-US" sz="2000" dirty="0"/>
              <a:t>Execute the capture without impacting the source systems.</a:t>
            </a:r>
          </a:p>
          <a:p>
            <a:pPr lvl="1"/>
            <a:r>
              <a:rPr lang="en-US" sz="2000" dirty="0"/>
              <a:t>Schedule the incremental loads without impacting use of the data warehouse by the users</a:t>
            </a:r>
            <a:endParaRPr lang="en-IN" sz="20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3989683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ctrTitle"/>
          </p:nvPr>
        </p:nvSpPr>
        <p:spPr/>
        <p:txBody>
          <a:bodyPr anchor="ctr">
            <a:normAutofit/>
          </a:bodyPr>
          <a:lstStyle/>
          <a:p>
            <a:pPr algn="ctr"/>
            <a:r>
              <a:rPr lang="en-IN" sz="5000" cap="none" dirty="0"/>
              <a:t>Data Extraction</a:t>
            </a:r>
          </a:p>
        </p:txBody>
      </p:sp>
    </p:spTree>
    <p:extLst>
      <p:ext uri="{BB962C8B-B14F-4D97-AF65-F5344CB8AC3E}">
        <p14:creationId xmlns:p14="http://schemas.microsoft.com/office/powerpoint/2010/main" val="2400383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Extraction</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19434"/>
            <a:ext cx="11029615" cy="3832377"/>
          </a:xfrm>
        </p:spPr>
        <p:txBody>
          <a:bodyPr anchor="t">
            <a:normAutofit/>
          </a:bodyPr>
          <a:lstStyle/>
          <a:p>
            <a:r>
              <a:rPr lang="en-IN" sz="2000" dirty="0"/>
              <a:t>Data extraction for a data warehouse</a:t>
            </a:r>
          </a:p>
          <a:p>
            <a:pPr lvl="1"/>
            <a:r>
              <a:rPr lang="en-US" sz="1800" dirty="0"/>
              <a:t>you have to extract data from many different sources</a:t>
            </a:r>
          </a:p>
          <a:p>
            <a:pPr lvl="1"/>
            <a:r>
              <a:rPr lang="en-US" sz="1800" dirty="0"/>
              <a:t>you have to extract data on the changes for ongoing incremental loads as well as for a one-time initial full load.</a:t>
            </a:r>
          </a:p>
          <a:p>
            <a:r>
              <a:rPr lang="en-US" sz="2000" dirty="0"/>
              <a:t>Two factors increase the complexity of data extraction for a data warehouse.</a:t>
            </a:r>
          </a:p>
          <a:p>
            <a:r>
              <a:rPr lang="en-IN" sz="2000" dirty="0"/>
              <a:t>What are the Data Extraction issues??</a:t>
            </a:r>
            <a:endParaRPr lang="en-US" sz="20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
        <p:nvSpPr>
          <p:cNvPr id="6" name="TextBox 5">
            <a:extLst>
              <a:ext uri="{FF2B5EF4-FFF2-40B4-BE49-F238E27FC236}">
                <a16:creationId xmlns:a16="http://schemas.microsoft.com/office/drawing/2014/main" id="{FC280C62-CEAF-40E6-BF83-32752DEE02A0}"/>
              </a:ext>
            </a:extLst>
          </p:cNvPr>
          <p:cNvSpPr txBox="1"/>
          <p:nvPr/>
        </p:nvSpPr>
        <p:spPr>
          <a:xfrm>
            <a:off x="5357089" y="4040468"/>
            <a:ext cx="2946401" cy="2536528"/>
          </a:xfrm>
          <a:prstGeom prst="rect">
            <a:avLst/>
          </a:prstGeom>
          <a:noFill/>
        </p:spPr>
        <p:txBody>
          <a:bodyPr wrap="square" rtlCol="0">
            <a:spAutoFit/>
          </a:bodyPr>
          <a:lstStyle/>
          <a:p>
            <a:pPr marL="342900" indent="-342900">
              <a:lnSpc>
                <a:spcPct val="150000"/>
              </a:lnSpc>
              <a:buFont typeface="+mj-lt"/>
              <a:buAutoNum type="arabicPeriod"/>
            </a:pPr>
            <a:r>
              <a:rPr lang="en-IN" dirty="0">
                <a:solidFill>
                  <a:schemeClr val="tx2"/>
                </a:solidFill>
              </a:rPr>
              <a:t>Source identification</a:t>
            </a:r>
          </a:p>
          <a:p>
            <a:pPr marL="342900" indent="-342900">
              <a:lnSpc>
                <a:spcPct val="150000"/>
              </a:lnSpc>
              <a:buFont typeface="+mj-lt"/>
              <a:buAutoNum type="arabicPeriod"/>
            </a:pPr>
            <a:r>
              <a:rPr lang="en-IN" dirty="0">
                <a:solidFill>
                  <a:schemeClr val="tx2"/>
                </a:solidFill>
              </a:rPr>
              <a:t>Method of extraction</a:t>
            </a:r>
          </a:p>
          <a:p>
            <a:pPr marL="342900" indent="-342900">
              <a:lnSpc>
                <a:spcPct val="150000"/>
              </a:lnSpc>
              <a:buFont typeface="+mj-lt"/>
              <a:buAutoNum type="arabicPeriod"/>
            </a:pPr>
            <a:r>
              <a:rPr lang="en-IN" dirty="0">
                <a:solidFill>
                  <a:schemeClr val="tx2"/>
                </a:solidFill>
              </a:rPr>
              <a:t>extraction frequency</a:t>
            </a:r>
          </a:p>
          <a:p>
            <a:pPr marL="342900" indent="-342900">
              <a:lnSpc>
                <a:spcPct val="150000"/>
              </a:lnSpc>
              <a:buFont typeface="+mj-lt"/>
              <a:buAutoNum type="arabicPeriod"/>
            </a:pPr>
            <a:r>
              <a:rPr lang="en-IN" dirty="0">
                <a:solidFill>
                  <a:schemeClr val="tx2"/>
                </a:solidFill>
              </a:rPr>
              <a:t>Time window</a:t>
            </a:r>
          </a:p>
          <a:p>
            <a:pPr marL="342900" indent="-342900">
              <a:lnSpc>
                <a:spcPct val="150000"/>
              </a:lnSpc>
              <a:buFont typeface="+mj-lt"/>
              <a:buAutoNum type="arabicPeriod"/>
            </a:pPr>
            <a:r>
              <a:rPr lang="en-IN" dirty="0">
                <a:solidFill>
                  <a:schemeClr val="tx2"/>
                </a:solidFill>
              </a:rPr>
              <a:t>Job sequencing</a:t>
            </a:r>
          </a:p>
          <a:p>
            <a:pPr marL="342900" indent="-342900">
              <a:lnSpc>
                <a:spcPct val="150000"/>
              </a:lnSpc>
              <a:buFont typeface="+mj-lt"/>
              <a:buAutoNum type="arabicPeriod"/>
            </a:pPr>
            <a:r>
              <a:rPr lang="en-IN" dirty="0">
                <a:solidFill>
                  <a:schemeClr val="tx2"/>
                </a:solidFill>
              </a:rPr>
              <a:t>Exception handling</a:t>
            </a:r>
          </a:p>
        </p:txBody>
      </p:sp>
    </p:spTree>
    <p:extLst>
      <p:ext uri="{BB962C8B-B14F-4D97-AF65-F5344CB8AC3E}">
        <p14:creationId xmlns:p14="http://schemas.microsoft.com/office/powerpoint/2010/main" val="3889330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Extraction</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3832377"/>
          </a:xfrm>
        </p:spPr>
        <p:txBody>
          <a:bodyPr anchor="t">
            <a:normAutofit/>
          </a:bodyPr>
          <a:lstStyle/>
          <a:p>
            <a:r>
              <a:rPr lang="en-IN" sz="2400" dirty="0"/>
              <a:t>Source Identification </a:t>
            </a:r>
          </a:p>
          <a:p>
            <a:pPr lvl="1"/>
            <a:r>
              <a:rPr lang="en-US" sz="2400" dirty="0"/>
              <a:t>It encompasses the identification of all the proper data sources</a:t>
            </a:r>
          </a:p>
          <a:p>
            <a:pPr lvl="1"/>
            <a:r>
              <a:rPr lang="en-US" sz="2400" dirty="0"/>
              <a:t>It include examination and verification that the identified sources will provide the necessary value to the data warehouse</a:t>
            </a:r>
            <a:endParaRPr lang="en-IN" sz="24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3736125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16</a:t>
            </a:fld>
            <a:endParaRPr lang="en-US" dirty="0"/>
          </a:p>
        </p:txBody>
      </p:sp>
      <p:pic>
        <p:nvPicPr>
          <p:cNvPr id="7" name="Picture 6">
            <a:extLst>
              <a:ext uri="{FF2B5EF4-FFF2-40B4-BE49-F238E27FC236}">
                <a16:creationId xmlns:a16="http://schemas.microsoft.com/office/drawing/2014/main" id="{400CED82-7FA1-4F55-B29C-0970111FD658}"/>
              </a:ext>
            </a:extLst>
          </p:cNvPr>
          <p:cNvPicPr>
            <a:picLocks noChangeAspect="1"/>
          </p:cNvPicPr>
          <p:nvPr/>
        </p:nvPicPr>
        <p:blipFill>
          <a:blip r:embed="rId2"/>
          <a:stretch>
            <a:fillRect/>
          </a:stretch>
        </p:blipFill>
        <p:spPr>
          <a:xfrm>
            <a:off x="1896592" y="0"/>
            <a:ext cx="8805216" cy="6858000"/>
          </a:xfrm>
          <a:prstGeom prst="rect">
            <a:avLst/>
          </a:prstGeom>
          <a:ln>
            <a:solidFill>
              <a:schemeClr val="tx1"/>
            </a:solidFill>
          </a:ln>
        </p:spPr>
      </p:pic>
    </p:spTree>
    <p:extLst>
      <p:ext uri="{BB962C8B-B14F-4D97-AF65-F5344CB8AC3E}">
        <p14:creationId xmlns:p14="http://schemas.microsoft.com/office/powerpoint/2010/main" val="1521525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Extraction Techniques</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433664"/>
          </a:xfrm>
        </p:spPr>
        <p:txBody>
          <a:bodyPr anchor="t">
            <a:noAutofit/>
          </a:bodyPr>
          <a:lstStyle/>
          <a:p>
            <a:r>
              <a:rPr lang="en-US" sz="2000" dirty="0"/>
              <a:t>Data in Operational Systems</a:t>
            </a:r>
          </a:p>
          <a:p>
            <a:pPr lvl="1"/>
            <a:r>
              <a:rPr lang="en-US" sz="2000" dirty="0"/>
              <a:t>Operational data in the source system falls into two broad categories.</a:t>
            </a:r>
          </a:p>
          <a:p>
            <a:pPr lvl="1"/>
            <a:r>
              <a:rPr lang="en-US" sz="2000" dirty="0"/>
              <a:t>The type of data extraction technique you have to use depends on the nature of each of these two categories.</a:t>
            </a:r>
          </a:p>
          <a:p>
            <a:pPr lvl="1"/>
            <a:r>
              <a:rPr lang="en-US" sz="2000" b="1" dirty="0"/>
              <a:t>Current Value</a:t>
            </a:r>
          </a:p>
          <a:p>
            <a:pPr lvl="2"/>
            <a:r>
              <a:rPr lang="en-US" sz="2000" dirty="0"/>
              <a:t>The stored value of an attribute represents the value of the attribute at this moment of time.</a:t>
            </a:r>
          </a:p>
          <a:p>
            <a:pPr lvl="2"/>
            <a:r>
              <a:rPr lang="en-US" sz="2000" dirty="0"/>
              <a:t>The values are transient or transitory.</a:t>
            </a:r>
          </a:p>
          <a:p>
            <a:pPr lvl="2"/>
            <a:r>
              <a:rPr lang="en-US" sz="2000" dirty="0"/>
              <a:t>There is no way to predict how long the present value will stay or when it will get changed next.</a:t>
            </a:r>
          </a:p>
          <a:p>
            <a:pPr lvl="2"/>
            <a:r>
              <a:rPr lang="en-US" sz="2000" dirty="0"/>
              <a:t>Data extraction for preserving the history of the changes in the data warehouse gets quite involved for this category of data.</a:t>
            </a:r>
            <a:endParaRPr lang="en-IN" sz="20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Tree>
    <p:extLst>
      <p:ext uri="{BB962C8B-B14F-4D97-AF65-F5344CB8AC3E}">
        <p14:creationId xmlns:p14="http://schemas.microsoft.com/office/powerpoint/2010/main" val="2479803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Extraction Techniques</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393024"/>
          </a:xfrm>
        </p:spPr>
        <p:txBody>
          <a:bodyPr anchor="t">
            <a:noAutofit/>
          </a:bodyPr>
          <a:lstStyle/>
          <a:p>
            <a:r>
              <a:rPr lang="en-US" sz="2400" dirty="0"/>
              <a:t>Data in Operational Systems</a:t>
            </a:r>
          </a:p>
          <a:p>
            <a:pPr lvl="1"/>
            <a:r>
              <a:rPr lang="en-US" sz="2400" b="1" dirty="0"/>
              <a:t>Periodic Status</a:t>
            </a:r>
          </a:p>
          <a:p>
            <a:pPr lvl="2"/>
            <a:r>
              <a:rPr lang="en-US" sz="2400" dirty="0"/>
              <a:t>The value of the attribute is preserved as the status every time a change occurs.</a:t>
            </a:r>
          </a:p>
          <a:p>
            <a:pPr lvl="2"/>
            <a:r>
              <a:rPr lang="en-US" sz="2400" dirty="0"/>
              <a:t>At each of these points in time, the status value is stored with reference to the time when the new value became effective.</a:t>
            </a:r>
          </a:p>
          <a:p>
            <a:pPr lvl="2"/>
            <a:r>
              <a:rPr lang="en-US" sz="2400" dirty="0"/>
              <a:t>The history of the changes is preserved in the source systems themselves. </a:t>
            </a:r>
          </a:p>
          <a:p>
            <a:pPr lvl="2"/>
            <a:r>
              <a:rPr lang="en-US" sz="2400" dirty="0"/>
              <a:t>Therefore, data extraction for the purpose of keeping history in the data warehouse is relatively easier.</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Tree>
    <p:extLst>
      <p:ext uri="{BB962C8B-B14F-4D97-AF65-F5344CB8AC3E}">
        <p14:creationId xmlns:p14="http://schemas.microsoft.com/office/powerpoint/2010/main" val="1630680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Extraction Techniques</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19434"/>
            <a:ext cx="11029615" cy="3832377"/>
          </a:xfrm>
        </p:spPr>
        <p:txBody>
          <a:bodyPr anchor="t">
            <a:normAutofit/>
          </a:bodyPr>
          <a:lstStyle/>
          <a:p>
            <a:r>
              <a:rPr lang="en-US" sz="2400" dirty="0"/>
              <a:t>Initial load</a:t>
            </a:r>
          </a:p>
          <a:p>
            <a:r>
              <a:rPr lang="en-US" sz="2400" dirty="0"/>
              <a:t>Two major types of data extractions from the source operational systems:</a:t>
            </a:r>
          </a:p>
          <a:p>
            <a:pPr lvl="1"/>
            <a:r>
              <a:rPr lang="en-US" sz="2400" dirty="0"/>
              <a:t>“As is” (static) Data Extraction</a:t>
            </a:r>
          </a:p>
          <a:p>
            <a:pPr lvl="1"/>
            <a:r>
              <a:rPr lang="en-US" sz="2400" dirty="0"/>
              <a:t>Data Extraction of Revisions</a:t>
            </a:r>
          </a:p>
          <a:p>
            <a:endParaRPr lang="en-US" sz="24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Tree>
    <p:extLst>
      <p:ext uri="{BB962C8B-B14F-4D97-AF65-F5344CB8AC3E}">
        <p14:creationId xmlns:p14="http://schemas.microsoft.com/office/powerpoint/2010/main" val="3038781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Extraction Techniques</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19434"/>
            <a:ext cx="11029615" cy="3832377"/>
          </a:xfrm>
        </p:spPr>
        <p:txBody>
          <a:bodyPr anchor="t">
            <a:normAutofit/>
          </a:bodyPr>
          <a:lstStyle/>
          <a:p>
            <a:r>
              <a:rPr lang="en-US" sz="2400" b="1" i="1" dirty="0"/>
              <a:t>“As is” (static) data extraction</a:t>
            </a:r>
          </a:p>
          <a:p>
            <a:pPr lvl="1"/>
            <a:r>
              <a:rPr lang="en-US" sz="2400" dirty="0"/>
              <a:t>The capture of data at a given point in time.</a:t>
            </a:r>
          </a:p>
          <a:p>
            <a:pPr lvl="1"/>
            <a:r>
              <a:rPr lang="en-US" sz="2400" dirty="0"/>
              <a:t>Taking snapshot of relevant source data at certain point in time</a:t>
            </a:r>
          </a:p>
          <a:p>
            <a:pPr lvl="1"/>
            <a:r>
              <a:rPr lang="en-US" sz="2400" dirty="0"/>
              <a:t>Primarily used for initial load of data warehouse</a:t>
            </a:r>
          </a:p>
          <a:p>
            <a:pPr lvl="1"/>
            <a:r>
              <a:rPr lang="en-US" sz="2400" dirty="0"/>
              <a:t>This data capture would include each status or event at each point in time as available in the source operational systems.</a:t>
            </a:r>
          </a:p>
          <a:p>
            <a:pPr marL="0" indent="0">
              <a:buNone/>
            </a:pPr>
            <a:endParaRPr lang="en-US" sz="24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20</a:t>
            </a:fld>
            <a:endParaRPr lang="en-US" dirty="0"/>
          </a:p>
        </p:txBody>
      </p:sp>
    </p:spTree>
    <p:extLst>
      <p:ext uri="{BB962C8B-B14F-4D97-AF65-F5344CB8AC3E}">
        <p14:creationId xmlns:p14="http://schemas.microsoft.com/office/powerpoint/2010/main" val="1577801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Extraction Techniques</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19434"/>
            <a:ext cx="11029615" cy="3832377"/>
          </a:xfrm>
        </p:spPr>
        <p:txBody>
          <a:bodyPr anchor="t">
            <a:noAutofit/>
          </a:bodyPr>
          <a:lstStyle/>
          <a:p>
            <a:r>
              <a:rPr lang="en-US" sz="2400" b="1" i="1" dirty="0"/>
              <a:t>Data of revision</a:t>
            </a:r>
          </a:p>
          <a:p>
            <a:pPr lvl="1"/>
            <a:r>
              <a:rPr lang="en-US" sz="2400" dirty="0"/>
              <a:t>Also called as </a:t>
            </a:r>
            <a:r>
              <a:rPr lang="en-US" sz="2400" b="1" dirty="0"/>
              <a:t>incremental data capture</a:t>
            </a:r>
          </a:p>
          <a:p>
            <a:pPr lvl="1"/>
            <a:r>
              <a:rPr lang="en-US" sz="2400" dirty="0"/>
              <a:t>Not strictly incremental data but the revisions since the last time data was captured</a:t>
            </a:r>
          </a:p>
          <a:p>
            <a:pPr lvl="1"/>
            <a:r>
              <a:rPr lang="en-US" sz="2400" dirty="0"/>
              <a:t>If the source data is transient, the capture of the revisions is not easy.</a:t>
            </a:r>
          </a:p>
          <a:p>
            <a:pPr lvl="1"/>
            <a:r>
              <a:rPr lang="en-US" sz="2400" dirty="0"/>
              <a:t>For periodic status data or periodic event data, extracts the statuses and events that have been recorded since the last data extraction.</a:t>
            </a:r>
          </a:p>
          <a:p>
            <a:pPr lvl="1"/>
            <a:r>
              <a:rPr lang="en-US" sz="2400" dirty="0"/>
              <a:t>Incremental data capture may be </a:t>
            </a:r>
            <a:r>
              <a:rPr lang="en-US" sz="2400" b="1" dirty="0"/>
              <a:t>immediate or deferred.</a:t>
            </a:r>
          </a:p>
          <a:p>
            <a:endParaRPr lang="en-US" sz="24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21</a:t>
            </a:fld>
            <a:endParaRPr lang="en-US" dirty="0"/>
          </a:p>
        </p:txBody>
      </p:sp>
    </p:spTree>
    <p:extLst>
      <p:ext uri="{BB962C8B-B14F-4D97-AF65-F5344CB8AC3E}">
        <p14:creationId xmlns:p14="http://schemas.microsoft.com/office/powerpoint/2010/main" val="1408623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1DFD220-005B-4A6C-87C8-67A998AE5C2E}"/>
              </a:ext>
            </a:extLst>
          </p:cNvPr>
          <p:cNvPicPr>
            <a:picLocks noChangeAspect="1"/>
          </p:cNvPicPr>
          <p:nvPr/>
        </p:nvPicPr>
        <p:blipFill>
          <a:blip r:embed="rId2"/>
          <a:stretch>
            <a:fillRect/>
          </a:stretch>
        </p:blipFill>
        <p:spPr>
          <a:xfrm>
            <a:off x="5890801" y="1902135"/>
            <a:ext cx="5832563" cy="4253709"/>
          </a:xfrm>
          <a:prstGeom prst="rect">
            <a:avLst/>
          </a:prstGeom>
        </p:spPr>
      </p:pic>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Extraction Techniques</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19434"/>
            <a:ext cx="11029615" cy="3832377"/>
          </a:xfrm>
        </p:spPr>
        <p:txBody>
          <a:bodyPr anchor="t">
            <a:normAutofit/>
          </a:bodyPr>
          <a:lstStyle/>
          <a:p>
            <a:r>
              <a:rPr lang="en-US" sz="2400" b="1" i="1" dirty="0"/>
              <a:t>Data of revision</a:t>
            </a:r>
          </a:p>
          <a:p>
            <a:pPr lvl="1"/>
            <a:r>
              <a:rPr lang="en-US" sz="2400" dirty="0"/>
              <a:t>Immediate Data Extraction</a:t>
            </a:r>
          </a:p>
          <a:p>
            <a:pPr lvl="2"/>
            <a:r>
              <a:rPr lang="en-US" sz="2400" dirty="0"/>
              <a:t>The data extraction is real-time. </a:t>
            </a:r>
          </a:p>
          <a:p>
            <a:pPr lvl="2"/>
            <a:r>
              <a:rPr lang="en-US" sz="2400" dirty="0"/>
              <a:t>Three options for immediate data extraction</a:t>
            </a:r>
          </a:p>
          <a:p>
            <a:pPr marL="1350900" lvl="3" indent="-342900">
              <a:buFont typeface="+mj-lt"/>
              <a:buAutoNum type="arabicPeriod"/>
            </a:pPr>
            <a:r>
              <a:rPr lang="en-US" sz="2400" dirty="0"/>
              <a:t>Capture through transaction logs</a:t>
            </a:r>
          </a:p>
          <a:p>
            <a:pPr marL="1350900" lvl="3" indent="-342900">
              <a:buFont typeface="+mj-lt"/>
              <a:buAutoNum type="arabicPeriod"/>
            </a:pPr>
            <a:r>
              <a:rPr lang="en-US" sz="2400" dirty="0"/>
              <a:t>Capture through database triggers</a:t>
            </a:r>
          </a:p>
          <a:p>
            <a:pPr marL="1350900" lvl="3" indent="-342900">
              <a:buFont typeface="+mj-lt"/>
              <a:buAutoNum type="arabicPeriod"/>
            </a:pPr>
            <a:r>
              <a:rPr lang="en-US" sz="2400" dirty="0"/>
              <a:t>Capture in source applications</a:t>
            </a:r>
          </a:p>
          <a:p>
            <a:pPr marL="1350900" lvl="3" indent="-342900">
              <a:buFont typeface="+mj-lt"/>
              <a:buAutoNum type="arabicPeriod"/>
            </a:pPr>
            <a:endParaRPr lang="en-US" sz="24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22</a:t>
            </a:fld>
            <a:endParaRPr lang="en-US" dirty="0"/>
          </a:p>
        </p:txBody>
      </p:sp>
    </p:spTree>
    <p:extLst>
      <p:ext uri="{BB962C8B-B14F-4D97-AF65-F5344CB8AC3E}">
        <p14:creationId xmlns:p14="http://schemas.microsoft.com/office/powerpoint/2010/main" val="1469220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Extraction Techniques</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19434"/>
            <a:ext cx="11029615" cy="4494726"/>
          </a:xfrm>
        </p:spPr>
        <p:txBody>
          <a:bodyPr anchor="t">
            <a:noAutofit/>
          </a:bodyPr>
          <a:lstStyle/>
          <a:p>
            <a:r>
              <a:rPr lang="en-US" sz="2000" b="1" i="1" dirty="0"/>
              <a:t>Data of revision</a:t>
            </a:r>
          </a:p>
          <a:p>
            <a:pPr lvl="1"/>
            <a:r>
              <a:rPr lang="en-US" sz="2000" dirty="0"/>
              <a:t>Immediate Data Extraction: </a:t>
            </a:r>
            <a:r>
              <a:rPr lang="en-US" sz="2000" b="1" dirty="0"/>
              <a:t>Capture through transaction logs</a:t>
            </a:r>
          </a:p>
          <a:p>
            <a:pPr marL="1008900" lvl="2" indent="-342900"/>
            <a:r>
              <a:rPr lang="en-US" sz="2000" dirty="0"/>
              <a:t>Uses the transaction logs of the DBMSs maintained for recovery from possible failures.</a:t>
            </a:r>
          </a:p>
          <a:p>
            <a:pPr marL="1008900" lvl="2" indent="-342900"/>
            <a:r>
              <a:rPr lang="en-US" sz="2000" dirty="0"/>
              <a:t>As each transaction adds, updates, or deletes a row from a database table, the DBMS immediately writes entries on the log file. </a:t>
            </a:r>
          </a:p>
          <a:p>
            <a:pPr marL="1008900" lvl="2" indent="-342900"/>
            <a:r>
              <a:rPr lang="en-US" sz="2000" dirty="0"/>
              <a:t>This data extraction technique reads the transaction log and selects all the committed transactions.</a:t>
            </a:r>
          </a:p>
          <a:p>
            <a:pPr marL="1008900" lvl="2" indent="-342900"/>
            <a:r>
              <a:rPr lang="en-US" sz="2000" dirty="0"/>
              <a:t>Make sure that all transactions are extracted before the log file gets refreshed</a:t>
            </a:r>
          </a:p>
          <a:p>
            <a:pPr marL="1008900" lvl="2" indent="-342900"/>
            <a:r>
              <a:rPr lang="en-US" sz="2000" dirty="0"/>
              <a:t>If source system data is on indexed and other flat files, this option will not work for these cases.</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23</a:t>
            </a:fld>
            <a:endParaRPr lang="en-US" dirty="0"/>
          </a:p>
        </p:txBody>
      </p:sp>
    </p:spTree>
    <p:extLst>
      <p:ext uri="{BB962C8B-B14F-4D97-AF65-F5344CB8AC3E}">
        <p14:creationId xmlns:p14="http://schemas.microsoft.com/office/powerpoint/2010/main" val="16466319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Extraction Techniques</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19434"/>
            <a:ext cx="11029615" cy="4515046"/>
          </a:xfrm>
        </p:spPr>
        <p:txBody>
          <a:bodyPr anchor="t">
            <a:noAutofit/>
          </a:bodyPr>
          <a:lstStyle/>
          <a:p>
            <a:r>
              <a:rPr lang="en-US" sz="2000" b="1" i="1" dirty="0"/>
              <a:t>Data of revision</a:t>
            </a:r>
          </a:p>
          <a:p>
            <a:pPr lvl="1"/>
            <a:r>
              <a:rPr lang="en-US" sz="2000" dirty="0"/>
              <a:t>Immediate Data Extraction: </a:t>
            </a:r>
            <a:r>
              <a:rPr lang="en-US" sz="2000" b="1" dirty="0"/>
              <a:t>Capture through Database Triggers</a:t>
            </a:r>
          </a:p>
          <a:p>
            <a:pPr marL="1008900" lvl="2" indent="-342900"/>
            <a:r>
              <a:rPr lang="en-US" sz="2000" dirty="0"/>
              <a:t>Create trigger programs for all events for which you need data to be captured.</a:t>
            </a:r>
          </a:p>
          <a:p>
            <a:pPr marL="1008900" lvl="2" indent="-342900"/>
            <a:r>
              <a:rPr lang="en-US" sz="2000" dirty="0"/>
              <a:t>The output of the trigger programs is written to a separate file that will be used to extract data for the data warehouse.</a:t>
            </a:r>
          </a:p>
          <a:p>
            <a:pPr marL="1008900" lvl="2" indent="-342900"/>
            <a:r>
              <a:rPr lang="en-US" sz="2000" dirty="0"/>
              <a:t>Data capture through database triggers occurs right at the source and is therefore quite reliable.</a:t>
            </a:r>
          </a:p>
          <a:p>
            <a:pPr marL="1008900" lvl="2" indent="-342900"/>
            <a:r>
              <a:rPr lang="en-US" sz="2000" dirty="0"/>
              <a:t>You can capture both before and after images.</a:t>
            </a:r>
          </a:p>
          <a:p>
            <a:pPr marL="1008900" lvl="2" indent="-342900"/>
            <a:r>
              <a:rPr lang="en-US" sz="2000" dirty="0"/>
              <a:t>Building and maintaining trigger programs puts an additional burden on the development effort.</a:t>
            </a:r>
          </a:p>
          <a:p>
            <a:pPr marL="1008900" lvl="2" indent="-342900"/>
            <a:r>
              <a:rPr lang="en-US" sz="2000" dirty="0"/>
              <a:t>Applicable only for source data in databases.</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24</a:t>
            </a:fld>
            <a:endParaRPr lang="en-US" dirty="0"/>
          </a:p>
        </p:txBody>
      </p:sp>
    </p:spTree>
    <p:extLst>
      <p:ext uri="{BB962C8B-B14F-4D97-AF65-F5344CB8AC3E}">
        <p14:creationId xmlns:p14="http://schemas.microsoft.com/office/powerpoint/2010/main" val="698404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Extraction Techniques</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19434"/>
            <a:ext cx="11029615" cy="3832377"/>
          </a:xfrm>
        </p:spPr>
        <p:txBody>
          <a:bodyPr anchor="t">
            <a:normAutofit/>
          </a:bodyPr>
          <a:lstStyle/>
          <a:p>
            <a:r>
              <a:rPr lang="en-US" sz="2000" b="1" i="1" dirty="0"/>
              <a:t>Data of revision</a:t>
            </a:r>
          </a:p>
          <a:p>
            <a:pPr lvl="1"/>
            <a:r>
              <a:rPr lang="en-US" sz="2000" dirty="0"/>
              <a:t>Immediate Data Extraction: </a:t>
            </a:r>
            <a:r>
              <a:rPr lang="en-US" sz="2000" b="1" dirty="0"/>
              <a:t>Capture through Source Applications</a:t>
            </a:r>
          </a:p>
          <a:p>
            <a:pPr marL="1008900" lvl="2" indent="-342900"/>
            <a:r>
              <a:rPr lang="en-US" sz="1800" dirty="0"/>
              <a:t>Also referred to as application assisted data capture.</a:t>
            </a:r>
          </a:p>
          <a:p>
            <a:pPr marL="1008900" lvl="2" indent="-342900"/>
            <a:r>
              <a:rPr lang="en-US" sz="1800" dirty="0"/>
              <a:t>The source application is made to assist in the data capture for the data warehouse.</a:t>
            </a:r>
          </a:p>
          <a:p>
            <a:pPr marL="1008900" lvl="2" indent="-342900"/>
            <a:r>
              <a:rPr lang="en-US" sz="1800" dirty="0"/>
              <a:t>Revise the programs to write all adds, updates, and deletes to the source files and database tables.</a:t>
            </a:r>
          </a:p>
          <a:p>
            <a:pPr marL="1008900" lvl="2" indent="-342900"/>
            <a:r>
              <a:rPr lang="en-US" sz="1800" dirty="0"/>
              <a:t>Other extract programs can use the separate file containing the changes to the source data.</a:t>
            </a:r>
          </a:p>
          <a:p>
            <a:pPr marL="1008900" lvl="2" indent="-342900"/>
            <a:r>
              <a:rPr lang="en-US" sz="1800" dirty="0"/>
              <a:t>Applicable for all types of source data irrespective of whether it is in databases, indexed files, or other flat files.</a:t>
            </a:r>
          </a:p>
          <a:p>
            <a:pPr marL="1008900" lvl="2" indent="-342900"/>
            <a:r>
              <a:rPr lang="en-US" sz="1800" dirty="0"/>
              <a:t>May degrade the performance of the source applications because of the additional processing needed to capture the changes on separate files.</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25</a:t>
            </a:fld>
            <a:endParaRPr lang="en-US" dirty="0"/>
          </a:p>
        </p:txBody>
      </p:sp>
    </p:spTree>
    <p:extLst>
      <p:ext uri="{BB962C8B-B14F-4D97-AF65-F5344CB8AC3E}">
        <p14:creationId xmlns:p14="http://schemas.microsoft.com/office/powerpoint/2010/main" val="1260548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6041C19-76BC-4DD1-BE8F-090BE13EFA69}"/>
              </a:ext>
            </a:extLst>
          </p:cNvPr>
          <p:cNvPicPr>
            <a:picLocks noChangeAspect="1"/>
          </p:cNvPicPr>
          <p:nvPr/>
        </p:nvPicPr>
        <p:blipFill>
          <a:blip r:embed="rId2"/>
          <a:stretch>
            <a:fillRect/>
          </a:stretch>
        </p:blipFill>
        <p:spPr>
          <a:xfrm>
            <a:off x="6095999" y="1825754"/>
            <a:ext cx="5665932" cy="4419737"/>
          </a:xfrm>
          <a:prstGeom prst="rect">
            <a:avLst/>
          </a:prstGeom>
        </p:spPr>
      </p:pic>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Extraction Techniques</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19434"/>
            <a:ext cx="11029615" cy="3832377"/>
          </a:xfrm>
        </p:spPr>
        <p:txBody>
          <a:bodyPr anchor="t">
            <a:normAutofit/>
          </a:bodyPr>
          <a:lstStyle/>
          <a:p>
            <a:r>
              <a:rPr lang="en-US" sz="2000" b="1" i="1" dirty="0"/>
              <a:t>Data of revision</a:t>
            </a:r>
          </a:p>
          <a:p>
            <a:pPr lvl="1"/>
            <a:r>
              <a:rPr lang="en-US" sz="2000" dirty="0"/>
              <a:t>Deferred Data Extraction:</a:t>
            </a:r>
            <a:endParaRPr lang="en-US" sz="2000" b="1" dirty="0"/>
          </a:p>
          <a:p>
            <a:pPr marL="1008900" lvl="2" indent="-342900"/>
            <a:r>
              <a:rPr lang="en-US" sz="1800" dirty="0"/>
              <a:t>Do not capture the changes in real time. </a:t>
            </a:r>
          </a:p>
          <a:p>
            <a:pPr marL="1008900" lvl="2" indent="-342900"/>
            <a:r>
              <a:rPr lang="en-US" sz="1800" dirty="0"/>
              <a:t>The capture happens later.</a:t>
            </a:r>
          </a:p>
          <a:p>
            <a:pPr marL="1008900" lvl="2" indent="-342900"/>
            <a:r>
              <a:rPr lang="en-US" sz="1800" dirty="0"/>
              <a:t>Two options</a:t>
            </a:r>
          </a:p>
          <a:p>
            <a:pPr marL="1350900" lvl="3" indent="-342900">
              <a:buFont typeface="+mj-lt"/>
              <a:buAutoNum type="arabicPeriod"/>
            </a:pPr>
            <a:r>
              <a:rPr lang="en-US" sz="1800" dirty="0"/>
              <a:t>Capture based on date and time stamp</a:t>
            </a:r>
          </a:p>
          <a:p>
            <a:pPr marL="1350900" lvl="3" indent="-342900">
              <a:buFont typeface="+mj-lt"/>
              <a:buAutoNum type="arabicPeriod"/>
            </a:pPr>
            <a:r>
              <a:rPr lang="en-US" sz="1800" dirty="0"/>
              <a:t>Capture by comparing files</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26</a:t>
            </a:fld>
            <a:endParaRPr lang="en-US" dirty="0"/>
          </a:p>
        </p:txBody>
      </p:sp>
    </p:spTree>
    <p:extLst>
      <p:ext uri="{BB962C8B-B14F-4D97-AF65-F5344CB8AC3E}">
        <p14:creationId xmlns:p14="http://schemas.microsoft.com/office/powerpoint/2010/main" val="19325007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Extraction Techniques</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19434"/>
            <a:ext cx="11029615" cy="4115111"/>
          </a:xfrm>
        </p:spPr>
        <p:txBody>
          <a:bodyPr anchor="t">
            <a:normAutofit lnSpcReduction="10000"/>
          </a:bodyPr>
          <a:lstStyle/>
          <a:p>
            <a:r>
              <a:rPr lang="en-US" sz="2000" b="1" i="1" dirty="0"/>
              <a:t>Data of revision</a:t>
            </a:r>
          </a:p>
          <a:p>
            <a:pPr lvl="1"/>
            <a:r>
              <a:rPr lang="en-US" sz="2000" dirty="0"/>
              <a:t>Deferred Data Extraction:</a:t>
            </a:r>
            <a:r>
              <a:rPr lang="en-US" sz="2000" b="1" dirty="0"/>
              <a:t> Capture based on date and time stamp</a:t>
            </a:r>
          </a:p>
          <a:p>
            <a:pPr marL="1008900" lvl="2" indent="-342900"/>
            <a:r>
              <a:rPr lang="en-US" sz="1800" dirty="0"/>
              <a:t>Every time a source record is created or updated it may be marked with a stamp showing the date and time.</a:t>
            </a:r>
          </a:p>
          <a:p>
            <a:pPr marL="1008900" lvl="2" indent="-342900"/>
            <a:r>
              <a:rPr lang="en-US" sz="1800" dirty="0"/>
              <a:t>The time stamp provides the basis for selecting records for data extraction.</a:t>
            </a:r>
          </a:p>
          <a:p>
            <a:pPr marL="1008900" lvl="2" indent="-342900"/>
            <a:r>
              <a:rPr lang="en-US" sz="1800" dirty="0"/>
              <a:t>This technique works well if the number of revised records is small.</a:t>
            </a:r>
          </a:p>
          <a:p>
            <a:pPr marL="1008900" lvl="2" indent="-342900"/>
            <a:r>
              <a:rPr lang="en-US" sz="1800" dirty="0"/>
              <a:t>Data capture based on date and time stamp can work for any type of source file.</a:t>
            </a:r>
          </a:p>
          <a:p>
            <a:pPr marL="1008900" lvl="2" indent="-342900"/>
            <a:r>
              <a:rPr lang="en-US" sz="1800" dirty="0"/>
              <a:t>It captures the latest state of the source data. </a:t>
            </a:r>
          </a:p>
          <a:p>
            <a:pPr marL="1008900" lvl="2" indent="-342900"/>
            <a:r>
              <a:rPr lang="en-US" sz="1800" dirty="0"/>
              <a:t>Any intermediary states between two data extraction runs are lost.</a:t>
            </a:r>
          </a:p>
          <a:p>
            <a:pPr marL="1008900" lvl="2" indent="-342900"/>
            <a:r>
              <a:rPr lang="en-US" sz="1800" dirty="0"/>
              <a:t>Deletion of source records presents a special problem.</a:t>
            </a:r>
          </a:p>
          <a:p>
            <a:pPr marL="1350900" lvl="3" indent="-342900"/>
            <a:r>
              <a:rPr lang="en-US" sz="1600" dirty="0"/>
              <a:t>Mark the source record for delete, do the extraction run, and then physically delete the record</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27</a:t>
            </a:fld>
            <a:endParaRPr lang="en-US" dirty="0"/>
          </a:p>
        </p:txBody>
      </p:sp>
    </p:spTree>
    <p:extLst>
      <p:ext uri="{BB962C8B-B14F-4D97-AF65-F5344CB8AC3E}">
        <p14:creationId xmlns:p14="http://schemas.microsoft.com/office/powerpoint/2010/main" val="39305780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Extraction Techniques</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19434"/>
            <a:ext cx="11029615" cy="4115111"/>
          </a:xfrm>
        </p:spPr>
        <p:txBody>
          <a:bodyPr anchor="t">
            <a:normAutofit/>
          </a:bodyPr>
          <a:lstStyle/>
          <a:p>
            <a:r>
              <a:rPr lang="en-US" sz="2000" b="1" i="1" dirty="0"/>
              <a:t>Data of revision</a:t>
            </a:r>
          </a:p>
          <a:p>
            <a:pPr lvl="1"/>
            <a:r>
              <a:rPr lang="en-US" sz="2000" dirty="0"/>
              <a:t>Deferred Data Extraction:</a:t>
            </a:r>
            <a:r>
              <a:rPr lang="en-US" sz="2000" b="1" dirty="0"/>
              <a:t> Capture by Comparing Files</a:t>
            </a:r>
          </a:p>
          <a:p>
            <a:pPr marL="1008900" lvl="2" indent="-342900"/>
            <a:r>
              <a:rPr lang="en-US" sz="1800" dirty="0"/>
              <a:t>Also called the snapshot differential technique,</a:t>
            </a:r>
          </a:p>
          <a:p>
            <a:pPr marL="1008900" lvl="2" indent="-342900"/>
            <a:r>
              <a:rPr lang="en-US" sz="1800" dirty="0"/>
              <a:t>Do a full file comparison between today’s copy of the data and yesterday’s copy.</a:t>
            </a:r>
          </a:p>
          <a:p>
            <a:pPr marL="1008900" lvl="2" indent="-342900"/>
            <a:r>
              <a:rPr lang="en-US" sz="1800" dirty="0"/>
              <a:t>Compare the record keys to find the inserts and deletes.</a:t>
            </a:r>
          </a:p>
          <a:p>
            <a:pPr marL="1008900" lvl="2" indent="-342900"/>
            <a:r>
              <a:rPr lang="en-US" sz="1800" dirty="0"/>
              <a:t>Capture any changes between the two copies.</a:t>
            </a:r>
          </a:p>
          <a:p>
            <a:pPr marL="1008900" lvl="2" indent="-342900"/>
            <a:r>
              <a:rPr lang="en-US" sz="1800" dirty="0"/>
              <a:t>Requires to keep the prior copies of all the relevant source data.</a:t>
            </a:r>
          </a:p>
          <a:p>
            <a:pPr marL="1008900" lvl="2" indent="-342900"/>
            <a:r>
              <a:rPr lang="en-US" sz="1800" dirty="0"/>
              <a:t>Though simple and straightforward, comparison of full rows in a large file can be very inefficient.</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28</a:t>
            </a:fld>
            <a:endParaRPr lang="en-US" dirty="0"/>
          </a:p>
        </p:txBody>
      </p:sp>
    </p:spTree>
    <p:extLst>
      <p:ext uri="{BB962C8B-B14F-4D97-AF65-F5344CB8AC3E}">
        <p14:creationId xmlns:p14="http://schemas.microsoft.com/office/powerpoint/2010/main" val="33885753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Extraction Techniques</a:t>
            </a:r>
          </a:p>
        </p:txBody>
      </p:sp>
      <p:graphicFrame>
        <p:nvGraphicFramePr>
          <p:cNvPr id="4" name="Content Placeholder 3">
            <a:extLst>
              <a:ext uri="{FF2B5EF4-FFF2-40B4-BE49-F238E27FC236}">
                <a16:creationId xmlns:a16="http://schemas.microsoft.com/office/drawing/2014/main" id="{8CDADBE6-E977-4A02-BEDC-A12B88286006}"/>
              </a:ext>
            </a:extLst>
          </p:cNvPr>
          <p:cNvGraphicFramePr>
            <a:graphicFrameLocks noGrp="1"/>
          </p:cNvGraphicFramePr>
          <p:nvPr>
            <p:ph idx="1"/>
            <p:extLst>
              <p:ext uri="{D42A27DB-BD31-4B8C-83A1-F6EECF244321}">
                <p14:modId xmlns:p14="http://schemas.microsoft.com/office/powerpoint/2010/main" val="2342154621"/>
              </p:ext>
            </p:extLst>
          </p:nvPr>
        </p:nvGraphicFramePr>
        <p:xfrm>
          <a:off x="2603789" y="1848715"/>
          <a:ext cx="6253884" cy="4676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29</a:t>
            </a:fld>
            <a:endParaRPr lang="en-US" dirty="0"/>
          </a:p>
        </p:txBody>
      </p:sp>
    </p:spTree>
    <p:extLst>
      <p:ext uri="{BB962C8B-B14F-4D97-AF65-F5344CB8AC3E}">
        <p14:creationId xmlns:p14="http://schemas.microsoft.com/office/powerpoint/2010/main" val="42566275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ctrTitle"/>
          </p:nvPr>
        </p:nvSpPr>
        <p:spPr/>
        <p:txBody>
          <a:bodyPr anchor="ctr">
            <a:normAutofit/>
          </a:bodyPr>
          <a:lstStyle/>
          <a:p>
            <a:pPr algn="ctr"/>
            <a:r>
              <a:rPr lang="en-IN" sz="5000" cap="none" dirty="0"/>
              <a:t>Data Transformation</a:t>
            </a:r>
          </a:p>
        </p:txBody>
      </p:sp>
    </p:spTree>
    <p:extLst>
      <p:ext uri="{BB962C8B-B14F-4D97-AF65-F5344CB8AC3E}">
        <p14:creationId xmlns:p14="http://schemas.microsoft.com/office/powerpoint/2010/main" val="10539500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Transformation</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3832377"/>
          </a:xfrm>
        </p:spPr>
        <p:txBody>
          <a:bodyPr anchor="t">
            <a:normAutofit lnSpcReduction="10000"/>
          </a:bodyPr>
          <a:lstStyle/>
          <a:p>
            <a:r>
              <a:rPr lang="en-US" sz="2000" dirty="0"/>
              <a:t>The extracted data must be made usable in the data warehouse.</a:t>
            </a:r>
          </a:p>
          <a:p>
            <a:r>
              <a:rPr lang="en-US" sz="2000" dirty="0"/>
              <a:t>We have to enrich and improve the quality of the data before it can be usable in the data warehouse.</a:t>
            </a:r>
          </a:p>
          <a:p>
            <a:r>
              <a:rPr lang="en-US" sz="2000" dirty="0"/>
              <a:t>Basic Tasks in Data Transformation</a:t>
            </a:r>
          </a:p>
          <a:p>
            <a:pPr lvl="1"/>
            <a:r>
              <a:rPr lang="en-US" sz="2000" b="1" dirty="0"/>
              <a:t>Selection</a:t>
            </a:r>
          </a:p>
          <a:p>
            <a:pPr lvl="2"/>
            <a:r>
              <a:rPr lang="en-US" sz="1800" dirty="0"/>
              <a:t>Select either whole records or parts of several records from the source systems.</a:t>
            </a:r>
          </a:p>
          <a:p>
            <a:pPr lvl="1"/>
            <a:r>
              <a:rPr lang="en-US" sz="2000" b="1" dirty="0"/>
              <a:t>Splitting / Joining</a:t>
            </a:r>
          </a:p>
          <a:p>
            <a:pPr lvl="2"/>
            <a:r>
              <a:rPr lang="en-US" sz="1800" dirty="0"/>
              <a:t>Splitting the selected parts even further during data transformation.</a:t>
            </a:r>
          </a:p>
          <a:p>
            <a:pPr lvl="2"/>
            <a:r>
              <a:rPr lang="en-US" sz="1800" dirty="0"/>
              <a:t>Joining of parts selected from many source systems is more widespread in the data warehouse environment.</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31</a:t>
            </a:fld>
            <a:endParaRPr lang="en-US" dirty="0"/>
          </a:p>
        </p:txBody>
      </p:sp>
    </p:spTree>
    <p:extLst>
      <p:ext uri="{BB962C8B-B14F-4D97-AF65-F5344CB8AC3E}">
        <p14:creationId xmlns:p14="http://schemas.microsoft.com/office/powerpoint/2010/main" val="9540282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Transformation</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72522"/>
          </a:xfrm>
        </p:spPr>
        <p:txBody>
          <a:bodyPr anchor="t">
            <a:normAutofit lnSpcReduction="10000"/>
          </a:bodyPr>
          <a:lstStyle/>
          <a:p>
            <a:r>
              <a:rPr lang="en-US" sz="2000" dirty="0"/>
              <a:t>Basic Tasks in Data Transformation</a:t>
            </a:r>
          </a:p>
          <a:p>
            <a:pPr lvl="1"/>
            <a:r>
              <a:rPr lang="en-US" sz="2000" b="1" dirty="0"/>
              <a:t>Conversion</a:t>
            </a:r>
          </a:p>
          <a:p>
            <a:pPr lvl="2"/>
            <a:r>
              <a:rPr lang="en-US" sz="1800" dirty="0"/>
              <a:t>Includes fundamental conversions of single fields for two primary reasons</a:t>
            </a:r>
          </a:p>
          <a:p>
            <a:pPr lvl="3"/>
            <a:r>
              <a:rPr lang="en-US" sz="1800" dirty="0"/>
              <a:t>To standardize among the data extractions from disparate source systems,</a:t>
            </a:r>
          </a:p>
          <a:p>
            <a:pPr lvl="3"/>
            <a:r>
              <a:rPr lang="en-US" sz="1800" dirty="0"/>
              <a:t>To make the fields usable and understandable to the users.</a:t>
            </a:r>
          </a:p>
          <a:p>
            <a:pPr lvl="1"/>
            <a:r>
              <a:rPr lang="en-US" sz="2200" b="1" dirty="0"/>
              <a:t>Summarization</a:t>
            </a:r>
          </a:p>
          <a:p>
            <a:pPr lvl="2"/>
            <a:r>
              <a:rPr lang="en-US" sz="2000" dirty="0"/>
              <a:t>Summarizing data at different level of granularities</a:t>
            </a:r>
          </a:p>
          <a:p>
            <a:pPr lvl="1"/>
            <a:r>
              <a:rPr lang="en-US" sz="2200" b="1" dirty="0"/>
              <a:t>Enrichment</a:t>
            </a:r>
          </a:p>
          <a:p>
            <a:pPr lvl="2"/>
            <a:r>
              <a:rPr lang="en-US" sz="2000" dirty="0"/>
              <a:t>The rearrangement and simplification of individual fields to make them more useful for the data warehouse environment</a:t>
            </a:r>
          </a:p>
          <a:p>
            <a:pPr lvl="2"/>
            <a:endParaRPr lang="en-US" sz="20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32</a:t>
            </a:fld>
            <a:endParaRPr lang="en-US" dirty="0"/>
          </a:p>
        </p:txBody>
      </p:sp>
    </p:spTree>
    <p:extLst>
      <p:ext uri="{BB962C8B-B14F-4D97-AF65-F5344CB8AC3E}">
        <p14:creationId xmlns:p14="http://schemas.microsoft.com/office/powerpoint/2010/main" val="6831375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Transformation</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72522"/>
          </a:xfrm>
        </p:spPr>
        <p:txBody>
          <a:bodyPr anchor="t">
            <a:normAutofit/>
          </a:bodyPr>
          <a:lstStyle/>
          <a:p>
            <a:r>
              <a:rPr lang="en-US" sz="2000" dirty="0"/>
              <a:t>Major Transformation Types / Transformation Functions</a:t>
            </a:r>
          </a:p>
          <a:p>
            <a:pPr lvl="1"/>
            <a:r>
              <a:rPr lang="en-US" sz="2000" b="1" dirty="0"/>
              <a:t>Format Revisions</a:t>
            </a:r>
          </a:p>
          <a:p>
            <a:pPr lvl="2"/>
            <a:r>
              <a:rPr lang="en-US" sz="1800" dirty="0"/>
              <a:t>Includes changes to the data types and lengths of individual fields.</a:t>
            </a:r>
          </a:p>
          <a:p>
            <a:pPr lvl="2"/>
            <a:r>
              <a:rPr lang="en-US" sz="1800" dirty="0"/>
              <a:t>It is wise to standardize and change the data type to text to provide values meaningful to the users.</a:t>
            </a:r>
          </a:p>
          <a:p>
            <a:pPr lvl="1"/>
            <a:r>
              <a:rPr lang="en-US" sz="2000" b="1" dirty="0"/>
              <a:t>Decoding of fields</a:t>
            </a:r>
          </a:p>
          <a:p>
            <a:pPr lvl="2"/>
            <a:r>
              <a:rPr lang="en-US" sz="1800" dirty="0"/>
              <a:t>You are bound to have the same data items described by a plethora of field values.</a:t>
            </a:r>
          </a:p>
          <a:p>
            <a:pPr lvl="2"/>
            <a:r>
              <a:rPr lang="en-US" sz="1800" dirty="0"/>
              <a:t>E.g. codes used for recording gender information</a:t>
            </a:r>
          </a:p>
          <a:p>
            <a:pPr lvl="2"/>
            <a:r>
              <a:rPr lang="en-US" sz="1800" dirty="0"/>
              <a:t>You need to decode all such cryptic codes and change these into values that make sense to the users.</a:t>
            </a:r>
          </a:p>
          <a:p>
            <a:pPr lvl="2"/>
            <a:endParaRPr lang="en-US" sz="1800" dirty="0"/>
          </a:p>
          <a:p>
            <a:pPr lvl="1"/>
            <a:endParaRPr lang="en-US" sz="18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33</a:t>
            </a:fld>
            <a:endParaRPr lang="en-US" dirty="0"/>
          </a:p>
        </p:txBody>
      </p:sp>
    </p:spTree>
    <p:extLst>
      <p:ext uri="{BB962C8B-B14F-4D97-AF65-F5344CB8AC3E}">
        <p14:creationId xmlns:p14="http://schemas.microsoft.com/office/powerpoint/2010/main" val="13531749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Transformation</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72522"/>
          </a:xfrm>
        </p:spPr>
        <p:txBody>
          <a:bodyPr anchor="t">
            <a:normAutofit/>
          </a:bodyPr>
          <a:lstStyle/>
          <a:p>
            <a:r>
              <a:rPr lang="en-US" sz="2000" dirty="0"/>
              <a:t>Major Transformation Types / Transformation Functions</a:t>
            </a:r>
          </a:p>
          <a:p>
            <a:pPr lvl="1"/>
            <a:r>
              <a:rPr lang="en-US" sz="2000" b="1" dirty="0"/>
              <a:t>Calculated and Derived values:</a:t>
            </a:r>
          </a:p>
          <a:p>
            <a:pPr lvl="2"/>
            <a:r>
              <a:rPr lang="en-US" sz="1800" dirty="0" err="1"/>
              <a:t>e.g</a:t>
            </a:r>
            <a:r>
              <a:rPr lang="en-US" sz="1800" dirty="0"/>
              <a:t> The sales system contains sales amounts, sales units, and operating cost estimates by product. </a:t>
            </a:r>
          </a:p>
          <a:p>
            <a:pPr lvl="2"/>
            <a:r>
              <a:rPr lang="en-US" sz="1800" dirty="0"/>
              <a:t>You will have to calculate the total cost and the profit margin before data can be stored in the data warehouse</a:t>
            </a:r>
          </a:p>
          <a:p>
            <a:pPr lvl="1"/>
            <a:r>
              <a:rPr lang="en-US" sz="2000" b="1" dirty="0"/>
              <a:t>Splitting of single field</a:t>
            </a:r>
          </a:p>
          <a:p>
            <a:pPr lvl="2"/>
            <a:r>
              <a:rPr lang="en-US" sz="1800" dirty="0"/>
              <a:t>By splitting the fields</a:t>
            </a:r>
          </a:p>
          <a:p>
            <a:pPr lvl="3"/>
            <a:r>
              <a:rPr lang="en-US" sz="1800" dirty="0"/>
              <a:t>You may improve the operating performance by indexing on individual components.</a:t>
            </a:r>
          </a:p>
          <a:p>
            <a:pPr lvl="3"/>
            <a:r>
              <a:rPr lang="en-US" sz="1800" dirty="0"/>
              <a:t>Users may need to perform analysis by using individual components</a:t>
            </a:r>
          </a:p>
          <a:p>
            <a:pPr lvl="3"/>
            <a:r>
              <a:rPr lang="en-US" sz="1800" dirty="0" err="1"/>
              <a:t>E.g</a:t>
            </a:r>
            <a:r>
              <a:rPr lang="en-US" sz="1800" dirty="0"/>
              <a:t> address of an employee or customers</a:t>
            </a:r>
          </a:p>
          <a:p>
            <a:pPr lvl="2"/>
            <a:endParaRPr lang="en-US" sz="18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34</a:t>
            </a:fld>
            <a:endParaRPr lang="en-US" dirty="0"/>
          </a:p>
        </p:txBody>
      </p:sp>
    </p:spTree>
    <p:extLst>
      <p:ext uri="{BB962C8B-B14F-4D97-AF65-F5344CB8AC3E}">
        <p14:creationId xmlns:p14="http://schemas.microsoft.com/office/powerpoint/2010/main" val="9305311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Transformation</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72522"/>
          </a:xfrm>
        </p:spPr>
        <p:txBody>
          <a:bodyPr anchor="t">
            <a:normAutofit/>
          </a:bodyPr>
          <a:lstStyle/>
          <a:p>
            <a:r>
              <a:rPr lang="en-US" sz="2000" dirty="0"/>
              <a:t>Major Transformation Types / Transformation Functions</a:t>
            </a:r>
          </a:p>
          <a:p>
            <a:pPr lvl="1"/>
            <a:r>
              <a:rPr lang="en-US" sz="2000" b="1" dirty="0"/>
              <a:t>Merging of Information:</a:t>
            </a:r>
          </a:p>
          <a:p>
            <a:pPr lvl="2"/>
            <a:r>
              <a:rPr lang="en-US" sz="1800" dirty="0"/>
              <a:t>Merging of information denotes the combination of the different fields from different sources into a single entity.</a:t>
            </a:r>
          </a:p>
          <a:p>
            <a:pPr lvl="1"/>
            <a:r>
              <a:rPr lang="en-US" sz="2000" b="1" dirty="0"/>
              <a:t>Character set conversion</a:t>
            </a:r>
          </a:p>
          <a:p>
            <a:pPr lvl="2"/>
            <a:r>
              <a:rPr lang="en-US" sz="1800" dirty="0"/>
              <a:t>The conversion of character sets to an agreed standard character set for textual data in the data warehouse.</a:t>
            </a:r>
          </a:p>
          <a:p>
            <a:pPr lvl="1"/>
            <a:r>
              <a:rPr lang="en-US" sz="2000" b="1" dirty="0"/>
              <a:t>Conversion of Units of Measurements</a:t>
            </a:r>
          </a:p>
          <a:p>
            <a:pPr lvl="2"/>
            <a:r>
              <a:rPr lang="en-US" sz="1800" dirty="0"/>
              <a:t>You may have to convert the metrics so that the numbers are all in one standard unit of measurement.</a:t>
            </a:r>
          </a:p>
          <a:p>
            <a:pPr lvl="2"/>
            <a:r>
              <a:rPr lang="en-US" sz="1800" dirty="0"/>
              <a:t>E.g. currency</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35</a:t>
            </a:fld>
            <a:endParaRPr lang="en-US" dirty="0"/>
          </a:p>
        </p:txBody>
      </p:sp>
    </p:spTree>
    <p:extLst>
      <p:ext uri="{BB962C8B-B14F-4D97-AF65-F5344CB8AC3E}">
        <p14:creationId xmlns:p14="http://schemas.microsoft.com/office/powerpoint/2010/main" val="15349621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Transformation</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72522"/>
          </a:xfrm>
        </p:spPr>
        <p:txBody>
          <a:bodyPr anchor="t">
            <a:normAutofit/>
          </a:bodyPr>
          <a:lstStyle/>
          <a:p>
            <a:r>
              <a:rPr lang="en-US" sz="2000" dirty="0"/>
              <a:t>Major Transformation Types / Transformation Functions</a:t>
            </a:r>
          </a:p>
          <a:p>
            <a:pPr lvl="1"/>
            <a:r>
              <a:rPr lang="en-US" sz="2000" b="1" dirty="0"/>
              <a:t>Date/Time Conversion:</a:t>
            </a:r>
          </a:p>
          <a:p>
            <a:pPr lvl="2"/>
            <a:r>
              <a:rPr lang="en-US" sz="1800" dirty="0"/>
              <a:t>Representation of date and time in standard formats.</a:t>
            </a:r>
          </a:p>
          <a:p>
            <a:pPr lvl="1"/>
            <a:r>
              <a:rPr lang="en-US" sz="2000" b="1" dirty="0"/>
              <a:t>Summarization:</a:t>
            </a:r>
          </a:p>
          <a:p>
            <a:pPr lvl="2"/>
            <a:r>
              <a:rPr lang="en-US" sz="1800" dirty="0"/>
              <a:t>The creation of summaries to be loaded in the data warehouse instead of loading the most granular level of data.</a:t>
            </a:r>
          </a:p>
          <a:p>
            <a:pPr lvl="1"/>
            <a:r>
              <a:rPr lang="en-US" sz="2000" b="1" dirty="0"/>
              <a:t>Deduplication</a:t>
            </a:r>
          </a:p>
          <a:p>
            <a:pPr lvl="2"/>
            <a:r>
              <a:rPr lang="en-US" sz="1800"/>
              <a:t>Keeping </a:t>
            </a:r>
            <a:r>
              <a:rPr lang="en-US" sz="1800" dirty="0"/>
              <a:t>a single record for one customer and link all the duplicates in the source systems to this single record.</a:t>
            </a:r>
          </a:p>
          <a:p>
            <a:pPr lvl="1"/>
            <a:endParaRPr lang="en-US" sz="20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36</a:t>
            </a:fld>
            <a:endParaRPr lang="en-US" dirty="0"/>
          </a:p>
        </p:txBody>
      </p:sp>
    </p:spTree>
    <p:extLst>
      <p:ext uri="{BB962C8B-B14F-4D97-AF65-F5344CB8AC3E}">
        <p14:creationId xmlns:p14="http://schemas.microsoft.com/office/powerpoint/2010/main" val="8896895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Transformation</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72522"/>
          </a:xfrm>
        </p:spPr>
        <p:txBody>
          <a:bodyPr anchor="t">
            <a:normAutofit/>
          </a:bodyPr>
          <a:lstStyle/>
          <a:p>
            <a:r>
              <a:rPr lang="en-US" sz="2000" dirty="0"/>
              <a:t>Major Transformation Types / Transformation Functions</a:t>
            </a:r>
          </a:p>
          <a:p>
            <a:pPr lvl="1"/>
            <a:r>
              <a:rPr lang="en-US" sz="2000" b="1" dirty="0"/>
              <a:t>Key Restructuring</a:t>
            </a:r>
          </a:p>
          <a:p>
            <a:pPr lvl="2"/>
            <a:r>
              <a:rPr lang="en-US" sz="1800" dirty="0"/>
              <a:t>Transform primary keys of extracted records into generic keys generated by the system itself. </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37</a:t>
            </a:fld>
            <a:endParaRPr lang="en-US" dirty="0"/>
          </a:p>
        </p:txBody>
      </p:sp>
      <p:pic>
        <p:nvPicPr>
          <p:cNvPr id="6" name="Picture 5">
            <a:extLst>
              <a:ext uri="{FF2B5EF4-FFF2-40B4-BE49-F238E27FC236}">
                <a16:creationId xmlns:a16="http://schemas.microsoft.com/office/drawing/2014/main" id="{140B07C7-670A-4F79-A419-19E3E9FE30E1}"/>
              </a:ext>
            </a:extLst>
          </p:cNvPr>
          <p:cNvPicPr>
            <a:picLocks noChangeAspect="1"/>
          </p:cNvPicPr>
          <p:nvPr/>
        </p:nvPicPr>
        <p:blipFill rotWithShape="1">
          <a:blip r:embed="rId2"/>
          <a:srcRect b="35691"/>
          <a:stretch/>
        </p:blipFill>
        <p:spPr>
          <a:xfrm>
            <a:off x="266492" y="3739566"/>
            <a:ext cx="6358045" cy="2405541"/>
          </a:xfrm>
          <a:prstGeom prst="rect">
            <a:avLst/>
          </a:prstGeom>
        </p:spPr>
      </p:pic>
      <p:pic>
        <p:nvPicPr>
          <p:cNvPr id="8" name="Picture 7">
            <a:extLst>
              <a:ext uri="{FF2B5EF4-FFF2-40B4-BE49-F238E27FC236}">
                <a16:creationId xmlns:a16="http://schemas.microsoft.com/office/drawing/2014/main" id="{09AC2180-71C0-4F30-A00E-EB35A771D305}"/>
              </a:ext>
            </a:extLst>
          </p:cNvPr>
          <p:cNvPicPr>
            <a:picLocks noChangeAspect="1"/>
          </p:cNvPicPr>
          <p:nvPr/>
        </p:nvPicPr>
        <p:blipFill rotWithShape="1">
          <a:blip r:embed="rId2"/>
          <a:srcRect l="14132" t="80529" r="19340"/>
          <a:stretch/>
        </p:blipFill>
        <p:spPr>
          <a:xfrm>
            <a:off x="7830766" y="3954110"/>
            <a:ext cx="4017524" cy="691778"/>
          </a:xfrm>
          <a:prstGeom prst="rect">
            <a:avLst/>
          </a:prstGeom>
        </p:spPr>
      </p:pic>
      <p:sp>
        <p:nvSpPr>
          <p:cNvPr id="9" name="Arrow: Right 8">
            <a:extLst>
              <a:ext uri="{FF2B5EF4-FFF2-40B4-BE49-F238E27FC236}">
                <a16:creationId xmlns:a16="http://schemas.microsoft.com/office/drawing/2014/main" id="{5DCCFB26-2D8E-4353-B642-DBC01ECE00C0}"/>
              </a:ext>
            </a:extLst>
          </p:cNvPr>
          <p:cNvSpPr/>
          <p:nvPr/>
        </p:nvSpPr>
        <p:spPr>
          <a:xfrm>
            <a:off x="5768502" y="4299999"/>
            <a:ext cx="1750979" cy="345889"/>
          </a:xfrm>
          <a:prstGeom prst="rightArrow">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255679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Transformation</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72522"/>
          </a:xfrm>
        </p:spPr>
        <p:txBody>
          <a:bodyPr anchor="t">
            <a:normAutofit/>
          </a:bodyPr>
          <a:lstStyle/>
          <a:p>
            <a:r>
              <a:rPr lang="en-US" sz="2000" b="1" dirty="0"/>
              <a:t>Data Integration and Consolidation</a:t>
            </a:r>
          </a:p>
          <a:p>
            <a:pPr lvl="1"/>
            <a:r>
              <a:rPr lang="en-US" sz="1800" dirty="0"/>
              <a:t>The real challenge of ETL functions is the </a:t>
            </a:r>
            <a:r>
              <a:rPr lang="en-US" sz="1800" b="1" i="1" dirty="0"/>
              <a:t>pulling together of all the source data from many disparate, dissimilar source systems.</a:t>
            </a:r>
          </a:p>
          <a:p>
            <a:pPr lvl="1"/>
            <a:r>
              <a:rPr lang="en-US" sz="1800" dirty="0"/>
              <a:t>Integrating the data involves combining all the relevant operational data into coherent data structures to be made ready for loading into the data warehouse.</a:t>
            </a:r>
          </a:p>
          <a:p>
            <a:pPr lvl="1"/>
            <a:r>
              <a:rPr lang="en-US" sz="1800" dirty="0"/>
              <a:t>Standardize the names and data representations and resolve discrepancies in the ways in which the same data is represented in different source systems.</a:t>
            </a:r>
          </a:p>
          <a:p>
            <a:pPr lvl="1"/>
            <a:r>
              <a:rPr lang="en-US" sz="1800" dirty="0"/>
              <a:t>Data integration and consolidation is a type of preprocessing before any data transformation</a:t>
            </a:r>
          </a:p>
          <a:p>
            <a:pPr lvl="1"/>
            <a:endParaRPr lang="en-US" sz="1800" dirty="0"/>
          </a:p>
        </p:txBody>
      </p:sp>
    </p:spTree>
    <p:extLst>
      <p:ext uri="{BB962C8B-B14F-4D97-AF65-F5344CB8AC3E}">
        <p14:creationId xmlns:p14="http://schemas.microsoft.com/office/powerpoint/2010/main" val="21072834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Transformation</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72522"/>
          </a:xfrm>
        </p:spPr>
        <p:txBody>
          <a:bodyPr anchor="t">
            <a:normAutofit/>
          </a:bodyPr>
          <a:lstStyle/>
          <a:p>
            <a:r>
              <a:rPr lang="en-US" sz="2000" b="1" dirty="0"/>
              <a:t>Data Integration and Consolidation</a:t>
            </a:r>
          </a:p>
          <a:p>
            <a:pPr lvl="1"/>
            <a:r>
              <a:rPr lang="en-US" sz="1800" b="1" i="1" dirty="0"/>
              <a:t>Entity Identification Problem</a:t>
            </a:r>
          </a:p>
          <a:p>
            <a:pPr lvl="2"/>
            <a:r>
              <a:rPr lang="en-US" sz="1800" dirty="0"/>
              <a:t>e. g. Three different legacy applications have three different customer files supporting those systems.</a:t>
            </a:r>
          </a:p>
          <a:p>
            <a:pPr lvl="2"/>
            <a:r>
              <a:rPr lang="en-US" sz="1800" dirty="0"/>
              <a:t>The same customer on each of the files may have a unique identification number which may not be the same across the three systems.</a:t>
            </a:r>
          </a:p>
          <a:p>
            <a:pPr lvl="2"/>
            <a:r>
              <a:rPr lang="en-US" sz="1800" dirty="0"/>
              <a:t>In this case, you do not know which of the customer records relate to the same customer.</a:t>
            </a:r>
          </a:p>
          <a:p>
            <a:pPr lvl="2"/>
            <a:r>
              <a:rPr lang="en-US" sz="1800" dirty="0"/>
              <a:t>In the data warehouse you need to keep a single record for each customer.</a:t>
            </a:r>
          </a:p>
          <a:p>
            <a:pPr lvl="2"/>
            <a:r>
              <a:rPr lang="en-US" sz="1800" dirty="0"/>
              <a:t>Match up the activities of the single customer from the various source systems with the single record to be loaded to the data warehouse.</a:t>
            </a:r>
          </a:p>
          <a:p>
            <a:pPr marL="324000" lvl="1" indent="0">
              <a:buNone/>
            </a:pPr>
            <a:endParaRPr lang="en-US" sz="1800" dirty="0"/>
          </a:p>
        </p:txBody>
      </p:sp>
    </p:spTree>
    <p:extLst>
      <p:ext uri="{BB962C8B-B14F-4D97-AF65-F5344CB8AC3E}">
        <p14:creationId xmlns:p14="http://schemas.microsoft.com/office/powerpoint/2010/main" val="41983487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Transformation</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72522"/>
          </a:xfrm>
        </p:spPr>
        <p:txBody>
          <a:bodyPr anchor="t">
            <a:normAutofit/>
          </a:bodyPr>
          <a:lstStyle/>
          <a:p>
            <a:r>
              <a:rPr lang="en-US" sz="2000" b="1" dirty="0"/>
              <a:t>Data Integration and Consolidation</a:t>
            </a:r>
          </a:p>
          <a:p>
            <a:pPr lvl="1"/>
            <a:r>
              <a:rPr lang="en-US" sz="1800" b="1" i="1" dirty="0"/>
              <a:t>Entity Identification Problem</a:t>
            </a:r>
          </a:p>
          <a:p>
            <a:pPr lvl="2"/>
            <a:r>
              <a:rPr lang="en-US" sz="1800" dirty="0"/>
              <a:t>Users need to be involved in reviewing the exceptions to the automated procedures.</a:t>
            </a:r>
          </a:p>
          <a:p>
            <a:pPr lvl="2"/>
            <a:r>
              <a:rPr lang="en-US" sz="1800" dirty="0"/>
              <a:t>Solution is in two phases. </a:t>
            </a:r>
          </a:p>
          <a:p>
            <a:pPr lvl="3"/>
            <a:r>
              <a:rPr lang="en-US" sz="1800" dirty="0"/>
              <a:t>In the first phase, all records, irrespective of whether they are duplicates or not, are assigned unique identifiers.</a:t>
            </a:r>
          </a:p>
          <a:p>
            <a:pPr lvl="3"/>
            <a:r>
              <a:rPr lang="en-US" sz="1800" dirty="0"/>
              <a:t> The second phase consists of integrating the duplicates periodically through automatic algorithms and manual verification.</a:t>
            </a:r>
          </a:p>
          <a:p>
            <a:pPr lvl="2"/>
            <a:endParaRPr lang="en-US" sz="1600" dirty="0"/>
          </a:p>
          <a:p>
            <a:pPr lvl="1"/>
            <a:endParaRPr lang="en-US" sz="1800" dirty="0"/>
          </a:p>
        </p:txBody>
      </p:sp>
    </p:spTree>
    <p:extLst>
      <p:ext uri="{BB962C8B-B14F-4D97-AF65-F5344CB8AC3E}">
        <p14:creationId xmlns:p14="http://schemas.microsoft.com/office/powerpoint/2010/main" val="32857294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Transformation</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72522"/>
          </a:xfrm>
        </p:spPr>
        <p:txBody>
          <a:bodyPr anchor="t">
            <a:normAutofit/>
          </a:bodyPr>
          <a:lstStyle/>
          <a:p>
            <a:r>
              <a:rPr lang="en-US" sz="2000" b="1" dirty="0"/>
              <a:t>Data Integration and Consolidation</a:t>
            </a:r>
          </a:p>
          <a:p>
            <a:pPr lvl="1"/>
            <a:r>
              <a:rPr lang="en-US" sz="1800" b="1" i="1" dirty="0"/>
              <a:t>Multiple Sources Problem</a:t>
            </a:r>
          </a:p>
          <a:p>
            <a:pPr lvl="2"/>
            <a:r>
              <a:rPr lang="en-US" sz="1800" dirty="0"/>
              <a:t>This problem results from a single data element having more than one source.</a:t>
            </a:r>
          </a:p>
          <a:p>
            <a:pPr lvl="2"/>
            <a:r>
              <a:rPr lang="en-US" sz="1800" dirty="0"/>
              <a:t>E.g. unit cost of products is available from two systems. From which system should you get the cost for storing in the data warehouse?</a:t>
            </a:r>
          </a:p>
          <a:p>
            <a:pPr lvl="2"/>
            <a:r>
              <a:rPr lang="en-US" sz="1800" dirty="0"/>
              <a:t>Assigning a higher priority to one of the two sources and pick up the product unit cost from that source.</a:t>
            </a:r>
          </a:p>
          <a:p>
            <a:pPr lvl="2"/>
            <a:r>
              <a:rPr lang="en-US" sz="1800" dirty="0"/>
              <a:t>Select from either of the files based on the last update date.</a:t>
            </a:r>
          </a:p>
          <a:p>
            <a:pPr lvl="2"/>
            <a:r>
              <a:rPr lang="en-US" sz="1800" dirty="0"/>
              <a:t>Determining of the appropriate source which depends on other related fields.</a:t>
            </a:r>
          </a:p>
          <a:p>
            <a:pPr lvl="1"/>
            <a:endParaRPr lang="en-US" sz="1800" dirty="0"/>
          </a:p>
        </p:txBody>
      </p:sp>
    </p:spTree>
    <p:extLst>
      <p:ext uri="{BB962C8B-B14F-4D97-AF65-F5344CB8AC3E}">
        <p14:creationId xmlns:p14="http://schemas.microsoft.com/office/powerpoint/2010/main" val="22747950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Transformation</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083322"/>
            <a:ext cx="11029615" cy="4072522"/>
          </a:xfrm>
        </p:spPr>
        <p:txBody>
          <a:bodyPr anchor="t">
            <a:normAutofit/>
          </a:bodyPr>
          <a:lstStyle/>
          <a:p>
            <a:r>
              <a:rPr lang="en-US" sz="2000" b="1" dirty="0"/>
              <a:t>Transformation for Dimension Attributes</a:t>
            </a:r>
            <a:endParaRPr lang="en-US" sz="1800" dirty="0"/>
          </a:p>
        </p:txBody>
      </p:sp>
      <p:pic>
        <p:nvPicPr>
          <p:cNvPr id="5" name="Picture 4">
            <a:extLst>
              <a:ext uri="{FF2B5EF4-FFF2-40B4-BE49-F238E27FC236}">
                <a16:creationId xmlns:a16="http://schemas.microsoft.com/office/drawing/2014/main" id="{E9D9E477-89E6-423D-95D1-2FFDF3ECC8DC}"/>
              </a:ext>
            </a:extLst>
          </p:cNvPr>
          <p:cNvPicPr>
            <a:picLocks noChangeAspect="1"/>
          </p:cNvPicPr>
          <p:nvPr/>
        </p:nvPicPr>
        <p:blipFill>
          <a:blip r:embed="rId2"/>
          <a:stretch>
            <a:fillRect/>
          </a:stretch>
        </p:blipFill>
        <p:spPr>
          <a:xfrm>
            <a:off x="2404340" y="2430741"/>
            <a:ext cx="7383319" cy="4390315"/>
          </a:xfrm>
          <a:prstGeom prst="rect">
            <a:avLst/>
          </a:prstGeom>
        </p:spPr>
      </p:pic>
    </p:spTree>
    <p:extLst>
      <p:ext uri="{BB962C8B-B14F-4D97-AF65-F5344CB8AC3E}">
        <p14:creationId xmlns:p14="http://schemas.microsoft.com/office/powerpoint/2010/main" val="14876574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Transformation</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72522"/>
          </a:xfrm>
        </p:spPr>
        <p:txBody>
          <a:bodyPr anchor="t">
            <a:normAutofit/>
          </a:bodyPr>
          <a:lstStyle/>
          <a:p>
            <a:r>
              <a:rPr lang="en-US" sz="2000" b="1" dirty="0"/>
              <a:t>How to Implement Transformation?</a:t>
            </a:r>
            <a:endParaRPr lang="en-US" sz="1800" b="1" i="1" dirty="0"/>
          </a:p>
          <a:p>
            <a:pPr lvl="1"/>
            <a:r>
              <a:rPr lang="en-US" sz="1800" dirty="0"/>
              <a:t>The types of data transformation are by far more difficult and challenging.</a:t>
            </a:r>
          </a:p>
          <a:p>
            <a:pPr lvl="1"/>
            <a:r>
              <a:rPr lang="en-US" sz="1800" dirty="0"/>
              <a:t>Data transformation tools can be expensive.</a:t>
            </a:r>
          </a:p>
          <a:p>
            <a:pPr lvl="1"/>
            <a:r>
              <a:rPr lang="en-US" sz="1800" b="1" i="1" dirty="0"/>
              <a:t>Using Transformation Tools </a:t>
            </a:r>
          </a:p>
          <a:p>
            <a:pPr lvl="2"/>
            <a:r>
              <a:rPr lang="en-US" sz="1800" dirty="0"/>
              <a:t>Improves efficiency and accuracy.</a:t>
            </a:r>
          </a:p>
          <a:p>
            <a:pPr lvl="2"/>
            <a:r>
              <a:rPr lang="en-US" sz="1800" dirty="0"/>
              <a:t>You just have to specify the parameters, the data definitions, and the rules to the transformation tool.</a:t>
            </a:r>
          </a:p>
          <a:p>
            <a:pPr lvl="2"/>
            <a:r>
              <a:rPr lang="en-US" sz="1800" dirty="0"/>
              <a:t>When you specify the transformation parameters and rules, these are stored as metadata by the tool.</a:t>
            </a:r>
          </a:p>
          <a:p>
            <a:pPr lvl="2"/>
            <a:r>
              <a:rPr lang="en-US" sz="1800" dirty="0"/>
              <a:t>When changes occur to transformation functions, the metadata for the transformations get automatically adjusted by the tool. </a:t>
            </a:r>
          </a:p>
          <a:p>
            <a:pPr lvl="2"/>
            <a:endParaRPr lang="en-US" sz="1600" dirty="0"/>
          </a:p>
        </p:txBody>
      </p:sp>
    </p:spTree>
    <p:extLst>
      <p:ext uri="{BB962C8B-B14F-4D97-AF65-F5344CB8AC3E}">
        <p14:creationId xmlns:p14="http://schemas.microsoft.com/office/powerpoint/2010/main" val="3035021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Transformation</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72522"/>
          </a:xfrm>
        </p:spPr>
        <p:txBody>
          <a:bodyPr anchor="t">
            <a:normAutofit/>
          </a:bodyPr>
          <a:lstStyle/>
          <a:p>
            <a:r>
              <a:rPr lang="en-US" sz="2000" b="1" dirty="0"/>
              <a:t>How to Implement Transformation?</a:t>
            </a:r>
            <a:endParaRPr lang="en-US" sz="1800" b="1" i="1" dirty="0"/>
          </a:p>
          <a:p>
            <a:pPr lvl="1"/>
            <a:r>
              <a:rPr lang="en-US" sz="1800" b="1" i="1" dirty="0"/>
              <a:t>Using Manual Techniques</a:t>
            </a:r>
          </a:p>
          <a:p>
            <a:pPr lvl="2"/>
            <a:r>
              <a:rPr lang="en-US" sz="1600" dirty="0"/>
              <a:t>Manual techniques are adequate for smaller data warehouses.</a:t>
            </a:r>
          </a:p>
          <a:p>
            <a:pPr lvl="2"/>
            <a:r>
              <a:rPr lang="en-US" sz="1600" dirty="0"/>
              <a:t>Manually coded programs and scripts perform every data transformation.</a:t>
            </a:r>
          </a:p>
          <a:p>
            <a:pPr lvl="2"/>
            <a:r>
              <a:rPr lang="en-US" sz="1600" dirty="0"/>
              <a:t>This method involves elaborate coding and testing.</a:t>
            </a:r>
          </a:p>
          <a:p>
            <a:pPr lvl="2"/>
            <a:r>
              <a:rPr lang="en-US" sz="1600" dirty="0"/>
              <a:t>Unlike automated tools, the manual method is more likely to be prone to errors.</a:t>
            </a:r>
          </a:p>
          <a:p>
            <a:pPr lvl="2"/>
            <a:r>
              <a:rPr lang="en-US" sz="1600" dirty="0"/>
              <a:t>In-house programs have to be designed differently if you need to store and use metadata.</a:t>
            </a:r>
          </a:p>
          <a:p>
            <a:pPr lvl="2"/>
            <a:r>
              <a:rPr lang="en-US" sz="1600" dirty="0"/>
              <a:t>Every time changes occur to transformation rules, the metadata has to be maintained.</a:t>
            </a:r>
          </a:p>
          <a:p>
            <a:pPr lvl="2"/>
            <a:r>
              <a:rPr lang="en-US" sz="1600" dirty="0"/>
              <a:t>This puts an additional burden on the maintenance of manually coded transformation programs</a:t>
            </a:r>
          </a:p>
        </p:txBody>
      </p:sp>
    </p:spTree>
    <p:extLst>
      <p:ext uri="{BB962C8B-B14F-4D97-AF65-F5344CB8AC3E}">
        <p14:creationId xmlns:p14="http://schemas.microsoft.com/office/powerpoint/2010/main" val="13067152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3CC762-0C1D-4D64-A171-EA2C786AFB33}"/>
              </a:ext>
            </a:extLst>
          </p:cNvPr>
          <p:cNvSpPr>
            <a:spLocks noGrp="1"/>
          </p:cNvSpPr>
          <p:nvPr>
            <p:ph type="ctrTitle"/>
          </p:nvPr>
        </p:nvSpPr>
        <p:spPr/>
        <p:txBody>
          <a:bodyPr anchor="ctr">
            <a:normAutofit/>
          </a:bodyPr>
          <a:lstStyle/>
          <a:p>
            <a:pPr algn="ctr"/>
            <a:r>
              <a:rPr lang="en-IN" sz="5000" cap="none" dirty="0"/>
              <a:t>Data Loading</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45</a:t>
            </a:fld>
            <a:endParaRPr lang="en-US" dirty="0"/>
          </a:p>
        </p:txBody>
      </p:sp>
    </p:spTree>
    <p:extLst>
      <p:ext uri="{BB962C8B-B14F-4D97-AF65-F5344CB8AC3E}">
        <p14:creationId xmlns:p14="http://schemas.microsoft.com/office/powerpoint/2010/main" val="8712316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Loading</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44813"/>
          </a:xfrm>
        </p:spPr>
        <p:txBody>
          <a:bodyPr anchor="t">
            <a:normAutofit lnSpcReduction="10000"/>
          </a:bodyPr>
          <a:lstStyle/>
          <a:p>
            <a:r>
              <a:rPr lang="en-US" sz="2000" dirty="0"/>
              <a:t>Transformation functions end as soon as load images are created.</a:t>
            </a:r>
          </a:p>
          <a:p>
            <a:r>
              <a:rPr lang="en-US" sz="2000" dirty="0"/>
              <a:t>Create load images to correspond to the target files to be loaded in the data warehouse database.</a:t>
            </a:r>
          </a:p>
          <a:p>
            <a:r>
              <a:rPr lang="en-US" sz="2000" dirty="0"/>
              <a:t>Moving data into the data warehouse repository can be done in following ways</a:t>
            </a:r>
          </a:p>
          <a:p>
            <a:pPr lvl="1"/>
            <a:r>
              <a:rPr lang="en-US" sz="1800" b="1" i="1" dirty="0"/>
              <a:t>Initial load</a:t>
            </a:r>
          </a:p>
          <a:p>
            <a:pPr lvl="2"/>
            <a:r>
              <a:rPr lang="en-US" sz="1800" dirty="0"/>
              <a:t>Populating all the data warehouse tables for the very first time</a:t>
            </a:r>
            <a:endParaRPr lang="en-IN" sz="1800" dirty="0"/>
          </a:p>
          <a:p>
            <a:pPr lvl="1"/>
            <a:r>
              <a:rPr lang="en-IN" sz="1800" b="1" i="1" dirty="0"/>
              <a:t>Incremental Load</a:t>
            </a:r>
          </a:p>
          <a:p>
            <a:pPr lvl="2"/>
            <a:r>
              <a:rPr lang="en-US" sz="1800" dirty="0"/>
              <a:t>Applying ongoing changes as necessary in a periodic manner.</a:t>
            </a:r>
          </a:p>
          <a:p>
            <a:pPr lvl="1"/>
            <a:r>
              <a:rPr lang="en-US" sz="1800" b="1" i="1" dirty="0"/>
              <a:t>Full Refresh</a:t>
            </a:r>
          </a:p>
          <a:p>
            <a:pPr lvl="2"/>
            <a:r>
              <a:rPr lang="en-US" sz="1800" dirty="0"/>
              <a:t>Completely erasing the contents of one or more tables and reloading with fresh data</a:t>
            </a:r>
          </a:p>
          <a:p>
            <a:pPr lvl="2"/>
            <a:r>
              <a:rPr lang="en-US" sz="1800" dirty="0"/>
              <a:t>Initial load is a refresh of all the tables</a:t>
            </a:r>
            <a:endParaRPr lang="en-IN" sz="18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46</a:t>
            </a:fld>
            <a:endParaRPr lang="en-US" dirty="0"/>
          </a:p>
        </p:txBody>
      </p:sp>
    </p:spTree>
    <p:extLst>
      <p:ext uri="{BB962C8B-B14F-4D97-AF65-F5344CB8AC3E}">
        <p14:creationId xmlns:p14="http://schemas.microsoft.com/office/powerpoint/2010/main" val="28385099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Loading</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44813"/>
          </a:xfrm>
        </p:spPr>
        <p:txBody>
          <a:bodyPr anchor="t">
            <a:normAutofit/>
          </a:bodyPr>
          <a:lstStyle/>
          <a:p>
            <a:r>
              <a:rPr lang="en-US" sz="2000" dirty="0"/>
              <a:t>During the loads, the data warehouse has to be </a:t>
            </a:r>
            <a:r>
              <a:rPr lang="en-US" sz="2000" b="1" dirty="0"/>
              <a:t>offline</a:t>
            </a:r>
            <a:r>
              <a:rPr lang="en-US" sz="2000" dirty="0"/>
              <a:t>.</a:t>
            </a:r>
          </a:p>
          <a:p>
            <a:r>
              <a:rPr lang="en-US" sz="2000" dirty="0"/>
              <a:t>Need to find a </a:t>
            </a:r>
            <a:r>
              <a:rPr lang="en-US" sz="2000" b="1" dirty="0"/>
              <a:t>window of time</a:t>
            </a:r>
            <a:r>
              <a:rPr lang="en-US" sz="2000" dirty="0"/>
              <a:t> when the loads may be scheduled without affecting your data warehouse users.</a:t>
            </a:r>
          </a:p>
          <a:p>
            <a:r>
              <a:rPr lang="en-US" sz="2000" b="1" dirty="0"/>
              <a:t>Divide up the whole load process</a:t>
            </a:r>
            <a:r>
              <a:rPr lang="en-US" sz="2000" dirty="0"/>
              <a:t> into smaller chunks and populating a few files at a time</a:t>
            </a:r>
          </a:p>
          <a:p>
            <a:pPr lvl="1"/>
            <a:r>
              <a:rPr lang="en-US" sz="1800" dirty="0"/>
              <a:t>You may be able to run the smaller loads in parallel.</a:t>
            </a:r>
          </a:p>
          <a:p>
            <a:pPr lvl="1"/>
            <a:r>
              <a:rPr lang="en-US" sz="1800" dirty="0"/>
              <a:t>You might be able to keep some parts of the data warehouse up and running while loading the other parts.</a:t>
            </a:r>
          </a:p>
          <a:p>
            <a:r>
              <a:rPr lang="en-US" sz="2000" dirty="0"/>
              <a:t>Provide procedures to handle the load images that do not load.</a:t>
            </a:r>
          </a:p>
          <a:p>
            <a:r>
              <a:rPr lang="en-US" sz="2000" dirty="0"/>
              <a:t>Have a plan for quality assurance of the loaded records.</a:t>
            </a:r>
          </a:p>
          <a:p>
            <a:pPr marL="0" indent="0">
              <a:buNone/>
            </a:pPr>
            <a:endParaRPr lang="en-IN" sz="20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47</a:t>
            </a:fld>
            <a:endParaRPr lang="en-US" dirty="0"/>
          </a:p>
        </p:txBody>
      </p:sp>
    </p:spTree>
    <p:extLst>
      <p:ext uri="{BB962C8B-B14F-4D97-AF65-F5344CB8AC3E}">
        <p14:creationId xmlns:p14="http://schemas.microsoft.com/office/powerpoint/2010/main" val="6726719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Loading</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44813"/>
          </a:xfrm>
        </p:spPr>
        <p:txBody>
          <a:bodyPr anchor="t">
            <a:normAutofit/>
          </a:bodyPr>
          <a:lstStyle/>
          <a:p>
            <a:r>
              <a:rPr lang="en-US" sz="2000" dirty="0"/>
              <a:t>Having staging area and data warehouse database on same server will save efforts.</a:t>
            </a:r>
          </a:p>
          <a:p>
            <a:r>
              <a:rPr lang="en-US" sz="2000" dirty="0"/>
              <a:t>If they are on different servers, consider the options carefully and select one wisely.</a:t>
            </a:r>
          </a:p>
          <a:p>
            <a:pPr lvl="1"/>
            <a:r>
              <a:rPr lang="en-US" sz="1800" dirty="0"/>
              <a:t>The Web, FTP, and database links are a few of the options. </a:t>
            </a:r>
          </a:p>
          <a:p>
            <a:pPr lvl="1"/>
            <a:r>
              <a:rPr lang="en-US" sz="1800" dirty="0"/>
              <a:t>You have to consider the necessary bandwidth needed and also the impact of the transmissions on the network.</a:t>
            </a:r>
            <a:endParaRPr lang="en-US" sz="1600" dirty="0"/>
          </a:p>
          <a:p>
            <a:r>
              <a:rPr lang="en-US" sz="2000" b="1" i="1" dirty="0"/>
              <a:t>How can we apply data?</a:t>
            </a:r>
          </a:p>
          <a:p>
            <a:pPr lvl="1"/>
            <a:r>
              <a:rPr lang="en-US" sz="1800" dirty="0"/>
              <a:t>By writing </a:t>
            </a:r>
            <a:r>
              <a:rPr lang="en-US" sz="1800" b="1" dirty="0"/>
              <a:t>special load programs</a:t>
            </a:r>
            <a:r>
              <a:rPr lang="en-US" sz="1800" dirty="0"/>
              <a:t>.</a:t>
            </a:r>
          </a:p>
          <a:p>
            <a:pPr lvl="1"/>
            <a:r>
              <a:rPr lang="en-US" sz="1800" b="1" dirty="0"/>
              <a:t>Load utilities </a:t>
            </a:r>
            <a:r>
              <a:rPr lang="en-US" sz="1800" dirty="0"/>
              <a:t>that come with the DBMSs provide a fast method for loading.</a:t>
            </a:r>
          </a:p>
          <a:p>
            <a:pPr lvl="1"/>
            <a:endParaRPr lang="en-US" sz="1800" dirty="0"/>
          </a:p>
          <a:p>
            <a:pPr marL="0" indent="0">
              <a:buNone/>
            </a:pPr>
            <a:endParaRPr lang="en-IN" sz="20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48</a:t>
            </a:fld>
            <a:endParaRPr lang="en-US" dirty="0"/>
          </a:p>
        </p:txBody>
      </p:sp>
    </p:spTree>
    <p:extLst>
      <p:ext uri="{BB962C8B-B14F-4D97-AF65-F5344CB8AC3E}">
        <p14:creationId xmlns:p14="http://schemas.microsoft.com/office/powerpoint/2010/main" val="14572104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Loading</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276449"/>
            <a:ext cx="11029615" cy="4475333"/>
          </a:xfrm>
        </p:spPr>
        <p:txBody>
          <a:bodyPr anchor="t">
            <a:normAutofit fontScale="92500" lnSpcReduction="10000"/>
          </a:bodyPr>
          <a:lstStyle/>
          <a:p>
            <a:r>
              <a:rPr lang="en-IN" sz="2200" b="1" i="1" dirty="0"/>
              <a:t>Techniques and Processes for Applying Data </a:t>
            </a:r>
          </a:p>
          <a:p>
            <a:pPr lvl="1"/>
            <a:r>
              <a:rPr lang="en-US" sz="1900" dirty="0"/>
              <a:t>Three types of application of data to the data warehouse: </a:t>
            </a:r>
            <a:r>
              <a:rPr lang="en-US" sz="1900" i="1" dirty="0"/>
              <a:t>initial load, incremental load, and full refresh</a:t>
            </a:r>
          </a:p>
          <a:p>
            <a:pPr lvl="1"/>
            <a:r>
              <a:rPr lang="en-US" sz="1900" b="1" dirty="0"/>
              <a:t>For the initial load</a:t>
            </a:r>
            <a:endParaRPr lang="en-US" sz="1900" dirty="0"/>
          </a:p>
          <a:p>
            <a:pPr lvl="2"/>
            <a:r>
              <a:rPr lang="en-US" sz="1800" dirty="0"/>
              <a:t>Extract the data from the various source systems, </a:t>
            </a:r>
          </a:p>
          <a:p>
            <a:pPr lvl="2"/>
            <a:r>
              <a:rPr lang="en-US" sz="1800" dirty="0"/>
              <a:t>Integrate and transform the data, </a:t>
            </a:r>
          </a:p>
          <a:p>
            <a:pPr lvl="2"/>
            <a:r>
              <a:rPr lang="en-US" sz="1800" dirty="0"/>
              <a:t>Then create load images for loading the data into the respective dimension table.</a:t>
            </a:r>
          </a:p>
          <a:p>
            <a:pPr lvl="1"/>
            <a:r>
              <a:rPr lang="en-IN" sz="1900" b="1" dirty="0"/>
              <a:t>For an </a:t>
            </a:r>
            <a:r>
              <a:rPr lang="en-US" sz="1900" b="1" dirty="0"/>
              <a:t>incremental load</a:t>
            </a:r>
            <a:endParaRPr lang="en-US" sz="1900" dirty="0"/>
          </a:p>
          <a:p>
            <a:pPr lvl="2"/>
            <a:r>
              <a:rPr lang="en-US" sz="1800" dirty="0"/>
              <a:t>Collect the changes to the product data for those product records that have changed in the source systems since the previous extract,</a:t>
            </a:r>
          </a:p>
          <a:p>
            <a:pPr lvl="2"/>
            <a:r>
              <a:rPr lang="en-US" sz="1800" dirty="0"/>
              <a:t>Run the changes through the integration and transformation process, </a:t>
            </a:r>
          </a:p>
          <a:p>
            <a:pPr lvl="2"/>
            <a:r>
              <a:rPr lang="en-US" sz="1800" dirty="0"/>
              <a:t>Create output records to be applied to the product dimension table.</a:t>
            </a:r>
          </a:p>
          <a:p>
            <a:pPr lvl="1"/>
            <a:r>
              <a:rPr lang="en-US" sz="1900" b="1" dirty="0"/>
              <a:t>A full refresh </a:t>
            </a:r>
            <a:r>
              <a:rPr lang="en-US" sz="1900" dirty="0"/>
              <a:t>is similar to the initial load</a:t>
            </a:r>
            <a:endParaRPr lang="en-IN" sz="19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49</a:t>
            </a:fld>
            <a:endParaRPr lang="en-US" dirty="0"/>
          </a:p>
        </p:txBody>
      </p:sp>
    </p:spTree>
    <p:extLst>
      <p:ext uri="{BB962C8B-B14F-4D97-AF65-F5344CB8AC3E}">
        <p14:creationId xmlns:p14="http://schemas.microsoft.com/office/powerpoint/2010/main" val="39815520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Loading</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44813"/>
          </a:xfrm>
        </p:spPr>
        <p:txBody>
          <a:bodyPr anchor="t">
            <a:normAutofit/>
          </a:bodyPr>
          <a:lstStyle/>
          <a:p>
            <a:r>
              <a:rPr lang="en-IN" sz="2000" b="1" i="1" dirty="0"/>
              <a:t>Techniques and Processes for Applying Data </a:t>
            </a:r>
          </a:p>
          <a:p>
            <a:pPr lvl="1"/>
            <a:r>
              <a:rPr lang="en-US" sz="1800" dirty="0"/>
              <a:t>We need to create a file of data to be applied to the product dimension table in the data warehouse.</a:t>
            </a:r>
          </a:p>
          <a:p>
            <a:pPr lvl="1"/>
            <a:r>
              <a:rPr lang="en-US" sz="1800" dirty="0"/>
              <a:t>Data may be applied in the following four different modes:</a:t>
            </a:r>
          </a:p>
          <a:p>
            <a:pPr marL="972900" lvl="2" indent="-342900">
              <a:buFont typeface="+mj-lt"/>
              <a:buAutoNum type="arabicPeriod"/>
            </a:pPr>
            <a:r>
              <a:rPr lang="en-US" sz="1800" dirty="0"/>
              <a:t>Load</a:t>
            </a:r>
          </a:p>
          <a:p>
            <a:pPr marL="972900" lvl="2" indent="-342900">
              <a:buFont typeface="+mj-lt"/>
              <a:buAutoNum type="arabicPeriod"/>
            </a:pPr>
            <a:r>
              <a:rPr lang="en-US" sz="1800" dirty="0"/>
              <a:t>Append</a:t>
            </a:r>
          </a:p>
          <a:p>
            <a:pPr marL="972900" lvl="2" indent="-342900">
              <a:buFont typeface="+mj-lt"/>
              <a:buAutoNum type="arabicPeriod"/>
            </a:pPr>
            <a:r>
              <a:rPr lang="en-US" sz="1800" dirty="0"/>
              <a:t>Destructive Merge</a:t>
            </a:r>
          </a:p>
          <a:p>
            <a:pPr marL="972900" lvl="2" indent="-342900">
              <a:buFont typeface="+mj-lt"/>
              <a:buAutoNum type="arabicPeriod"/>
            </a:pPr>
            <a:r>
              <a:rPr lang="en-US" sz="1800" dirty="0"/>
              <a:t>Constructive Merge</a:t>
            </a:r>
            <a:endParaRPr lang="en-IN" sz="18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50</a:t>
            </a:fld>
            <a:endParaRPr lang="en-US" dirty="0"/>
          </a:p>
        </p:txBody>
      </p:sp>
    </p:spTree>
    <p:extLst>
      <p:ext uri="{BB962C8B-B14F-4D97-AF65-F5344CB8AC3E}">
        <p14:creationId xmlns:p14="http://schemas.microsoft.com/office/powerpoint/2010/main" val="5109746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Loading</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44813"/>
          </a:xfrm>
        </p:spPr>
        <p:txBody>
          <a:bodyPr anchor="t">
            <a:normAutofit/>
          </a:bodyPr>
          <a:lstStyle/>
          <a:p>
            <a:r>
              <a:rPr lang="en-IN" sz="2000" b="1" i="1" dirty="0"/>
              <a:t>Modes for Applying Data </a:t>
            </a:r>
          </a:p>
          <a:p>
            <a:pPr marL="702900" lvl="1" indent="-342900">
              <a:buFont typeface="+mj-lt"/>
              <a:buAutoNum type="arabicPeriod"/>
            </a:pPr>
            <a:r>
              <a:rPr lang="en-US" sz="2000" b="1" dirty="0"/>
              <a:t>Load</a:t>
            </a:r>
          </a:p>
          <a:p>
            <a:pPr lvl="2"/>
            <a:r>
              <a:rPr lang="en-US" sz="1800" dirty="0"/>
              <a:t>If the target table to be loaded already exists and data exists in the table, the load process wipes out the existing data and applies the data from the incoming file. </a:t>
            </a:r>
          </a:p>
          <a:p>
            <a:pPr lvl="2"/>
            <a:r>
              <a:rPr lang="en-US" sz="1800" dirty="0"/>
              <a:t>If the table is already empty before loading, the load process simply applies the data from the incoming file.</a:t>
            </a:r>
          </a:p>
          <a:p>
            <a:pPr lvl="2"/>
            <a:endParaRPr lang="en-US" sz="18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51</a:t>
            </a:fld>
            <a:endParaRPr lang="en-US" dirty="0"/>
          </a:p>
        </p:txBody>
      </p:sp>
      <p:grpSp>
        <p:nvGrpSpPr>
          <p:cNvPr id="13" name="Group 12">
            <a:extLst>
              <a:ext uri="{FF2B5EF4-FFF2-40B4-BE49-F238E27FC236}">
                <a16:creationId xmlns:a16="http://schemas.microsoft.com/office/drawing/2014/main" id="{F29DA8E1-4769-464C-A77D-ABD6E46BBD69}"/>
              </a:ext>
            </a:extLst>
          </p:cNvPr>
          <p:cNvGrpSpPr/>
          <p:nvPr/>
        </p:nvGrpSpPr>
        <p:grpSpPr>
          <a:xfrm>
            <a:off x="1099128" y="4553531"/>
            <a:ext cx="2013276" cy="2062431"/>
            <a:chOff x="904462" y="4481431"/>
            <a:chExt cx="2094871" cy="2079109"/>
          </a:xfrm>
          <a:solidFill>
            <a:schemeClr val="accent3">
              <a:lumMod val="75000"/>
            </a:schemeClr>
          </a:solidFill>
        </p:grpSpPr>
        <p:sp>
          <p:nvSpPr>
            <p:cNvPr id="9" name="Flowchart: Magnetic Disk 8">
              <a:extLst>
                <a:ext uri="{FF2B5EF4-FFF2-40B4-BE49-F238E27FC236}">
                  <a16:creationId xmlns:a16="http://schemas.microsoft.com/office/drawing/2014/main" id="{529C57E7-A484-4BEE-97BE-69194257D951}"/>
                </a:ext>
              </a:extLst>
            </p:cNvPr>
            <p:cNvSpPr/>
            <p:nvPr/>
          </p:nvSpPr>
          <p:spPr>
            <a:xfrm>
              <a:off x="904462" y="4481431"/>
              <a:ext cx="2094871" cy="2079109"/>
            </a:xfrm>
            <a:prstGeom prst="flowChartMagneticDisk">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0" name="TextBox 9">
              <a:extLst>
                <a:ext uri="{FF2B5EF4-FFF2-40B4-BE49-F238E27FC236}">
                  <a16:creationId xmlns:a16="http://schemas.microsoft.com/office/drawing/2014/main" id="{CECA701C-BADA-4D5A-B7EF-0989514BB771}"/>
                </a:ext>
              </a:extLst>
            </p:cNvPr>
            <p:cNvSpPr txBox="1"/>
            <p:nvPr/>
          </p:nvSpPr>
          <p:spPr>
            <a:xfrm>
              <a:off x="1017397" y="4657309"/>
              <a:ext cx="1883325" cy="400110"/>
            </a:xfrm>
            <a:prstGeom prst="rect">
              <a:avLst/>
            </a:prstGeom>
            <a:noFill/>
          </p:spPr>
          <p:txBody>
            <a:bodyPr wrap="square" rtlCol="0">
              <a:spAutoFit/>
            </a:bodyPr>
            <a:lstStyle/>
            <a:p>
              <a:pPr algn="ctr"/>
              <a:r>
                <a:rPr lang="en-IN" sz="2000" b="1" dirty="0">
                  <a:solidFill>
                    <a:schemeClr val="bg1"/>
                  </a:solidFill>
                </a:rPr>
                <a:t>Data Staging</a:t>
              </a:r>
            </a:p>
          </p:txBody>
        </p:sp>
        <p:sp>
          <p:nvSpPr>
            <p:cNvPr id="11" name="TextBox 10">
              <a:extLst>
                <a:ext uri="{FF2B5EF4-FFF2-40B4-BE49-F238E27FC236}">
                  <a16:creationId xmlns:a16="http://schemas.microsoft.com/office/drawing/2014/main" id="{994AC5CC-4069-4C59-BA7F-C52B4E54FF1A}"/>
                </a:ext>
              </a:extLst>
            </p:cNvPr>
            <p:cNvSpPr txBox="1"/>
            <p:nvPr/>
          </p:nvSpPr>
          <p:spPr>
            <a:xfrm>
              <a:off x="1214231" y="5192595"/>
              <a:ext cx="776553" cy="1200329"/>
            </a:xfrm>
            <a:prstGeom prst="rect">
              <a:avLst/>
            </a:prstGeom>
            <a:noFill/>
          </p:spPr>
          <p:txBody>
            <a:bodyPr wrap="square" rtlCol="0">
              <a:spAutoFit/>
            </a:bodyPr>
            <a:lstStyle/>
            <a:p>
              <a:r>
                <a:rPr lang="en-IN" dirty="0">
                  <a:solidFill>
                    <a:schemeClr val="bg1"/>
                  </a:solidFill>
                </a:rPr>
                <a:t>Key</a:t>
              </a:r>
            </a:p>
            <a:p>
              <a:r>
                <a:rPr lang="en-IN" dirty="0">
                  <a:solidFill>
                    <a:schemeClr val="bg1"/>
                  </a:solidFill>
                </a:rPr>
                <a:t>123</a:t>
              </a:r>
            </a:p>
            <a:p>
              <a:r>
                <a:rPr lang="en-IN" dirty="0">
                  <a:solidFill>
                    <a:schemeClr val="bg1"/>
                  </a:solidFill>
                </a:rPr>
                <a:t>234</a:t>
              </a:r>
            </a:p>
            <a:p>
              <a:r>
                <a:rPr lang="en-IN" dirty="0">
                  <a:solidFill>
                    <a:schemeClr val="bg1"/>
                  </a:solidFill>
                </a:rPr>
                <a:t>345</a:t>
              </a:r>
            </a:p>
          </p:txBody>
        </p:sp>
        <p:sp>
          <p:nvSpPr>
            <p:cNvPr id="12" name="TextBox 11">
              <a:extLst>
                <a:ext uri="{FF2B5EF4-FFF2-40B4-BE49-F238E27FC236}">
                  <a16:creationId xmlns:a16="http://schemas.microsoft.com/office/drawing/2014/main" id="{A33935C1-5F67-4112-982A-53EE3064A5DE}"/>
                </a:ext>
              </a:extLst>
            </p:cNvPr>
            <p:cNvSpPr txBox="1"/>
            <p:nvPr/>
          </p:nvSpPr>
          <p:spPr>
            <a:xfrm>
              <a:off x="1960592" y="5200169"/>
              <a:ext cx="1038741" cy="1200329"/>
            </a:xfrm>
            <a:prstGeom prst="rect">
              <a:avLst/>
            </a:prstGeom>
            <a:noFill/>
          </p:spPr>
          <p:txBody>
            <a:bodyPr wrap="square" rtlCol="0">
              <a:spAutoFit/>
            </a:bodyPr>
            <a:lstStyle/>
            <a:p>
              <a:r>
                <a:rPr lang="en-IN" dirty="0">
                  <a:solidFill>
                    <a:schemeClr val="bg1"/>
                  </a:solidFill>
                </a:rPr>
                <a:t>Data</a:t>
              </a:r>
            </a:p>
            <a:p>
              <a:r>
                <a:rPr lang="en-IN" dirty="0">
                  <a:solidFill>
                    <a:schemeClr val="bg1"/>
                  </a:solidFill>
                </a:rPr>
                <a:t>AAAA</a:t>
              </a:r>
            </a:p>
            <a:p>
              <a:r>
                <a:rPr lang="en-IN" dirty="0">
                  <a:solidFill>
                    <a:schemeClr val="bg1"/>
                  </a:solidFill>
                </a:rPr>
                <a:t>BBB</a:t>
              </a:r>
            </a:p>
            <a:p>
              <a:r>
                <a:rPr lang="en-IN" dirty="0">
                  <a:solidFill>
                    <a:schemeClr val="bg1"/>
                  </a:solidFill>
                </a:rPr>
                <a:t>CCCCC</a:t>
              </a:r>
            </a:p>
          </p:txBody>
        </p:sp>
      </p:grpSp>
      <p:grpSp>
        <p:nvGrpSpPr>
          <p:cNvPr id="14" name="Group 13">
            <a:extLst>
              <a:ext uri="{FF2B5EF4-FFF2-40B4-BE49-F238E27FC236}">
                <a16:creationId xmlns:a16="http://schemas.microsoft.com/office/drawing/2014/main" id="{C4AD454C-E6DD-4D53-8D1F-EF636535C491}"/>
              </a:ext>
            </a:extLst>
          </p:cNvPr>
          <p:cNvGrpSpPr/>
          <p:nvPr/>
        </p:nvGrpSpPr>
        <p:grpSpPr>
          <a:xfrm>
            <a:off x="4755619" y="4553531"/>
            <a:ext cx="2013276" cy="2062431"/>
            <a:chOff x="904462" y="4481431"/>
            <a:chExt cx="2094871" cy="2079109"/>
          </a:xfrm>
        </p:grpSpPr>
        <p:sp>
          <p:nvSpPr>
            <p:cNvPr id="15" name="Flowchart: Magnetic Disk 14">
              <a:extLst>
                <a:ext uri="{FF2B5EF4-FFF2-40B4-BE49-F238E27FC236}">
                  <a16:creationId xmlns:a16="http://schemas.microsoft.com/office/drawing/2014/main" id="{011423D8-8BDB-4E55-B480-CC8B0EBE8079}"/>
                </a:ext>
              </a:extLst>
            </p:cNvPr>
            <p:cNvSpPr/>
            <p:nvPr/>
          </p:nvSpPr>
          <p:spPr>
            <a:xfrm>
              <a:off x="904462" y="4481431"/>
              <a:ext cx="2094871" cy="2079109"/>
            </a:xfrm>
            <a:prstGeom prst="flowChartMagneticDisk">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ECF552AD-B5FA-4092-8DF4-D8F5BE051F4C}"/>
                </a:ext>
              </a:extLst>
            </p:cNvPr>
            <p:cNvSpPr txBox="1"/>
            <p:nvPr/>
          </p:nvSpPr>
          <p:spPr>
            <a:xfrm>
              <a:off x="1116006" y="4657309"/>
              <a:ext cx="1671781" cy="400110"/>
            </a:xfrm>
            <a:prstGeom prst="rect">
              <a:avLst/>
            </a:prstGeom>
            <a:noFill/>
          </p:spPr>
          <p:txBody>
            <a:bodyPr wrap="square" rtlCol="0">
              <a:spAutoFit/>
            </a:bodyPr>
            <a:lstStyle/>
            <a:p>
              <a:pPr algn="ctr"/>
              <a:r>
                <a:rPr lang="en-IN" sz="2000" b="1" dirty="0">
                  <a:solidFill>
                    <a:schemeClr val="bg1"/>
                  </a:solidFill>
                </a:rPr>
                <a:t>Warehouse</a:t>
              </a:r>
            </a:p>
          </p:txBody>
        </p:sp>
        <p:sp>
          <p:nvSpPr>
            <p:cNvPr id="17" name="TextBox 16">
              <a:extLst>
                <a:ext uri="{FF2B5EF4-FFF2-40B4-BE49-F238E27FC236}">
                  <a16:creationId xmlns:a16="http://schemas.microsoft.com/office/drawing/2014/main" id="{F368CE84-77E7-4F98-AB65-542806A3BB5D}"/>
                </a:ext>
              </a:extLst>
            </p:cNvPr>
            <p:cNvSpPr txBox="1"/>
            <p:nvPr/>
          </p:nvSpPr>
          <p:spPr>
            <a:xfrm>
              <a:off x="1214231" y="5192595"/>
              <a:ext cx="776553" cy="1200329"/>
            </a:xfrm>
            <a:prstGeom prst="rect">
              <a:avLst/>
            </a:prstGeom>
            <a:noFill/>
          </p:spPr>
          <p:txBody>
            <a:bodyPr wrap="square" rtlCol="0">
              <a:spAutoFit/>
            </a:bodyPr>
            <a:lstStyle/>
            <a:p>
              <a:r>
                <a:rPr lang="en-IN" dirty="0">
                  <a:solidFill>
                    <a:schemeClr val="bg1"/>
                  </a:solidFill>
                </a:rPr>
                <a:t>Key</a:t>
              </a:r>
            </a:p>
            <a:p>
              <a:r>
                <a:rPr lang="en-IN" dirty="0">
                  <a:solidFill>
                    <a:schemeClr val="bg1"/>
                  </a:solidFill>
                </a:rPr>
                <a:t>567</a:t>
              </a:r>
            </a:p>
            <a:p>
              <a:r>
                <a:rPr lang="en-IN" dirty="0">
                  <a:solidFill>
                    <a:schemeClr val="bg1"/>
                  </a:solidFill>
                </a:rPr>
                <a:t>678</a:t>
              </a:r>
            </a:p>
            <a:p>
              <a:r>
                <a:rPr lang="en-IN" dirty="0">
                  <a:solidFill>
                    <a:schemeClr val="bg1"/>
                  </a:solidFill>
                </a:rPr>
                <a:t>789	</a:t>
              </a:r>
            </a:p>
          </p:txBody>
        </p:sp>
        <p:sp>
          <p:nvSpPr>
            <p:cNvPr id="18" name="TextBox 17">
              <a:extLst>
                <a:ext uri="{FF2B5EF4-FFF2-40B4-BE49-F238E27FC236}">
                  <a16:creationId xmlns:a16="http://schemas.microsoft.com/office/drawing/2014/main" id="{5E24D1DA-BDFF-44DC-87DD-B7ECB2D3DD72}"/>
                </a:ext>
              </a:extLst>
            </p:cNvPr>
            <p:cNvSpPr txBox="1"/>
            <p:nvPr/>
          </p:nvSpPr>
          <p:spPr>
            <a:xfrm>
              <a:off x="1960592" y="5200169"/>
              <a:ext cx="1038741" cy="1200329"/>
            </a:xfrm>
            <a:prstGeom prst="rect">
              <a:avLst/>
            </a:prstGeom>
            <a:noFill/>
          </p:spPr>
          <p:txBody>
            <a:bodyPr wrap="square" rtlCol="0">
              <a:spAutoFit/>
            </a:bodyPr>
            <a:lstStyle/>
            <a:p>
              <a:r>
                <a:rPr lang="en-IN" dirty="0">
                  <a:solidFill>
                    <a:schemeClr val="bg1"/>
                  </a:solidFill>
                </a:rPr>
                <a:t>Data</a:t>
              </a:r>
            </a:p>
            <a:p>
              <a:r>
                <a:rPr lang="en-IN" dirty="0">
                  <a:solidFill>
                    <a:schemeClr val="bg1"/>
                  </a:solidFill>
                </a:rPr>
                <a:t>XXXXX</a:t>
              </a:r>
            </a:p>
            <a:p>
              <a:r>
                <a:rPr lang="en-IN" dirty="0">
                  <a:solidFill>
                    <a:schemeClr val="bg1"/>
                  </a:solidFill>
                </a:rPr>
                <a:t>YY</a:t>
              </a:r>
            </a:p>
            <a:p>
              <a:r>
                <a:rPr lang="en-IN" dirty="0">
                  <a:solidFill>
                    <a:schemeClr val="bg1"/>
                  </a:solidFill>
                </a:rPr>
                <a:t>ZZZZ</a:t>
              </a:r>
            </a:p>
          </p:txBody>
        </p:sp>
      </p:grpSp>
      <p:grpSp>
        <p:nvGrpSpPr>
          <p:cNvPr id="19" name="Group 18">
            <a:extLst>
              <a:ext uri="{FF2B5EF4-FFF2-40B4-BE49-F238E27FC236}">
                <a16:creationId xmlns:a16="http://schemas.microsoft.com/office/drawing/2014/main" id="{29098D2E-DCA1-4FF4-A511-565E946268E1}"/>
              </a:ext>
            </a:extLst>
          </p:cNvPr>
          <p:cNvGrpSpPr/>
          <p:nvPr/>
        </p:nvGrpSpPr>
        <p:grpSpPr>
          <a:xfrm>
            <a:off x="8085470" y="4587806"/>
            <a:ext cx="2013276" cy="2062431"/>
            <a:chOff x="904462" y="4481431"/>
            <a:chExt cx="2094871" cy="2079109"/>
          </a:xfrm>
        </p:grpSpPr>
        <p:sp>
          <p:nvSpPr>
            <p:cNvPr id="20" name="Flowchart: Magnetic Disk 19">
              <a:extLst>
                <a:ext uri="{FF2B5EF4-FFF2-40B4-BE49-F238E27FC236}">
                  <a16:creationId xmlns:a16="http://schemas.microsoft.com/office/drawing/2014/main" id="{C0F49364-FFD9-4B01-BFB1-70E68A42072F}"/>
                </a:ext>
              </a:extLst>
            </p:cNvPr>
            <p:cNvSpPr/>
            <p:nvPr/>
          </p:nvSpPr>
          <p:spPr>
            <a:xfrm>
              <a:off x="904462" y="4481431"/>
              <a:ext cx="2094871" cy="2079109"/>
            </a:xfrm>
            <a:prstGeom prst="flowChartMagneticDisk">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1" name="TextBox 20">
              <a:extLst>
                <a:ext uri="{FF2B5EF4-FFF2-40B4-BE49-F238E27FC236}">
                  <a16:creationId xmlns:a16="http://schemas.microsoft.com/office/drawing/2014/main" id="{EA25C60D-E7C9-4994-9886-87BDD2A8F2A8}"/>
                </a:ext>
              </a:extLst>
            </p:cNvPr>
            <p:cNvSpPr txBox="1"/>
            <p:nvPr/>
          </p:nvSpPr>
          <p:spPr>
            <a:xfrm>
              <a:off x="1116006" y="4657309"/>
              <a:ext cx="1671781" cy="400110"/>
            </a:xfrm>
            <a:prstGeom prst="rect">
              <a:avLst/>
            </a:prstGeom>
            <a:noFill/>
          </p:spPr>
          <p:txBody>
            <a:bodyPr wrap="square" rtlCol="0">
              <a:spAutoFit/>
            </a:bodyPr>
            <a:lstStyle/>
            <a:p>
              <a:pPr algn="ctr"/>
              <a:r>
                <a:rPr lang="en-IN" sz="2000" b="1" dirty="0">
                  <a:solidFill>
                    <a:schemeClr val="bg1"/>
                  </a:solidFill>
                </a:rPr>
                <a:t>Warehouse</a:t>
              </a:r>
            </a:p>
          </p:txBody>
        </p:sp>
        <p:sp>
          <p:nvSpPr>
            <p:cNvPr id="22" name="TextBox 21">
              <a:extLst>
                <a:ext uri="{FF2B5EF4-FFF2-40B4-BE49-F238E27FC236}">
                  <a16:creationId xmlns:a16="http://schemas.microsoft.com/office/drawing/2014/main" id="{8668E33F-17BE-4D4E-9B4A-9F71CD4E0A62}"/>
                </a:ext>
              </a:extLst>
            </p:cNvPr>
            <p:cNvSpPr txBox="1"/>
            <p:nvPr/>
          </p:nvSpPr>
          <p:spPr>
            <a:xfrm>
              <a:off x="1214231" y="5192595"/>
              <a:ext cx="776553" cy="1200329"/>
            </a:xfrm>
            <a:prstGeom prst="rect">
              <a:avLst/>
            </a:prstGeom>
            <a:noFill/>
          </p:spPr>
          <p:txBody>
            <a:bodyPr wrap="square" rtlCol="0">
              <a:spAutoFit/>
            </a:bodyPr>
            <a:lstStyle/>
            <a:p>
              <a:r>
                <a:rPr lang="en-IN" dirty="0">
                  <a:solidFill>
                    <a:schemeClr val="bg1"/>
                  </a:solidFill>
                </a:rPr>
                <a:t>Key</a:t>
              </a:r>
            </a:p>
            <a:p>
              <a:r>
                <a:rPr lang="en-IN" dirty="0">
                  <a:solidFill>
                    <a:schemeClr val="bg1"/>
                  </a:solidFill>
                </a:rPr>
                <a:t>123</a:t>
              </a:r>
            </a:p>
            <a:p>
              <a:r>
                <a:rPr lang="en-IN" dirty="0">
                  <a:solidFill>
                    <a:schemeClr val="bg1"/>
                  </a:solidFill>
                </a:rPr>
                <a:t>234</a:t>
              </a:r>
            </a:p>
            <a:p>
              <a:r>
                <a:rPr lang="en-IN" dirty="0">
                  <a:solidFill>
                    <a:schemeClr val="bg1"/>
                  </a:solidFill>
                </a:rPr>
                <a:t>345</a:t>
              </a:r>
            </a:p>
          </p:txBody>
        </p:sp>
        <p:sp>
          <p:nvSpPr>
            <p:cNvPr id="23" name="TextBox 22">
              <a:extLst>
                <a:ext uri="{FF2B5EF4-FFF2-40B4-BE49-F238E27FC236}">
                  <a16:creationId xmlns:a16="http://schemas.microsoft.com/office/drawing/2014/main" id="{533BFC49-2652-4B65-A995-E2077AFBC6B8}"/>
                </a:ext>
              </a:extLst>
            </p:cNvPr>
            <p:cNvSpPr txBox="1"/>
            <p:nvPr/>
          </p:nvSpPr>
          <p:spPr>
            <a:xfrm>
              <a:off x="1960592" y="5200169"/>
              <a:ext cx="1038741" cy="1200329"/>
            </a:xfrm>
            <a:prstGeom prst="rect">
              <a:avLst/>
            </a:prstGeom>
            <a:noFill/>
          </p:spPr>
          <p:txBody>
            <a:bodyPr wrap="square" rtlCol="0">
              <a:spAutoFit/>
            </a:bodyPr>
            <a:lstStyle/>
            <a:p>
              <a:r>
                <a:rPr lang="en-IN" dirty="0">
                  <a:solidFill>
                    <a:schemeClr val="bg1"/>
                  </a:solidFill>
                </a:rPr>
                <a:t>Data</a:t>
              </a:r>
            </a:p>
            <a:p>
              <a:r>
                <a:rPr lang="en-IN" dirty="0">
                  <a:solidFill>
                    <a:schemeClr val="bg1"/>
                  </a:solidFill>
                </a:rPr>
                <a:t>AAAA</a:t>
              </a:r>
            </a:p>
            <a:p>
              <a:r>
                <a:rPr lang="en-IN" dirty="0">
                  <a:solidFill>
                    <a:schemeClr val="bg1"/>
                  </a:solidFill>
                </a:rPr>
                <a:t>BBB</a:t>
              </a:r>
            </a:p>
            <a:p>
              <a:r>
                <a:rPr lang="en-IN" dirty="0">
                  <a:solidFill>
                    <a:schemeClr val="bg1"/>
                  </a:solidFill>
                </a:rPr>
                <a:t>CCCCC</a:t>
              </a:r>
            </a:p>
          </p:txBody>
        </p:sp>
      </p:grpSp>
      <p:cxnSp>
        <p:nvCxnSpPr>
          <p:cNvPr id="25" name="Straight Arrow Connector 24">
            <a:extLst>
              <a:ext uri="{FF2B5EF4-FFF2-40B4-BE49-F238E27FC236}">
                <a16:creationId xmlns:a16="http://schemas.microsoft.com/office/drawing/2014/main" id="{800486C0-D323-44DC-956D-E8C81F0AF49D}"/>
              </a:ext>
            </a:extLst>
          </p:cNvPr>
          <p:cNvCxnSpPr>
            <a:endCxn id="15" idx="2"/>
          </p:cNvCxnSpPr>
          <p:nvPr/>
        </p:nvCxnSpPr>
        <p:spPr>
          <a:xfrm>
            <a:off x="3118148" y="5584746"/>
            <a:ext cx="1637471" cy="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A72031B6-1138-4C7A-9564-073BA89FA53D}"/>
              </a:ext>
            </a:extLst>
          </p:cNvPr>
          <p:cNvSpPr txBox="1"/>
          <p:nvPr/>
        </p:nvSpPr>
        <p:spPr>
          <a:xfrm>
            <a:off x="3460868" y="5165342"/>
            <a:ext cx="737652" cy="369332"/>
          </a:xfrm>
          <a:prstGeom prst="rect">
            <a:avLst/>
          </a:prstGeom>
          <a:noFill/>
        </p:spPr>
        <p:txBody>
          <a:bodyPr wrap="square" rtlCol="0">
            <a:spAutoFit/>
          </a:bodyPr>
          <a:lstStyle/>
          <a:p>
            <a:pPr algn="ctr"/>
            <a:r>
              <a:rPr lang="en-IN" b="1" dirty="0"/>
              <a:t>Load</a:t>
            </a:r>
          </a:p>
        </p:txBody>
      </p:sp>
      <p:sp>
        <p:nvSpPr>
          <p:cNvPr id="27" name="TextBox 26">
            <a:extLst>
              <a:ext uri="{FF2B5EF4-FFF2-40B4-BE49-F238E27FC236}">
                <a16:creationId xmlns:a16="http://schemas.microsoft.com/office/drawing/2014/main" id="{9BD17ABC-97FD-4805-A91B-5D178C56CF6F}"/>
              </a:ext>
            </a:extLst>
          </p:cNvPr>
          <p:cNvSpPr txBox="1"/>
          <p:nvPr/>
        </p:nvSpPr>
        <p:spPr>
          <a:xfrm>
            <a:off x="6467314" y="4368865"/>
            <a:ext cx="998282" cy="369332"/>
          </a:xfrm>
          <a:prstGeom prst="rect">
            <a:avLst/>
          </a:prstGeom>
          <a:noFill/>
        </p:spPr>
        <p:txBody>
          <a:bodyPr wrap="square" rtlCol="0">
            <a:spAutoFit/>
          </a:bodyPr>
          <a:lstStyle/>
          <a:p>
            <a:pPr algn="ctr"/>
            <a:r>
              <a:rPr lang="en-IN" b="1" dirty="0"/>
              <a:t>Before</a:t>
            </a:r>
          </a:p>
        </p:txBody>
      </p:sp>
      <p:sp>
        <p:nvSpPr>
          <p:cNvPr id="28" name="TextBox 27">
            <a:extLst>
              <a:ext uri="{FF2B5EF4-FFF2-40B4-BE49-F238E27FC236}">
                <a16:creationId xmlns:a16="http://schemas.microsoft.com/office/drawing/2014/main" id="{296B39F2-9FB6-457E-9263-8BF2C495B647}"/>
              </a:ext>
            </a:extLst>
          </p:cNvPr>
          <p:cNvSpPr txBox="1"/>
          <p:nvPr/>
        </p:nvSpPr>
        <p:spPr>
          <a:xfrm>
            <a:off x="9599605" y="4368865"/>
            <a:ext cx="998282" cy="369332"/>
          </a:xfrm>
          <a:prstGeom prst="rect">
            <a:avLst/>
          </a:prstGeom>
          <a:noFill/>
        </p:spPr>
        <p:txBody>
          <a:bodyPr wrap="square" rtlCol="0">
            <a:spAutoFit/>
          </a:bodyPr>
          <a:lstStyle/>
          <a:p>
            <a:pPr algn="ctr"/>
            <a:r>
              <a:rPr lang="en-IN" b="1" dirty="0"/>
              <a:t>After</a:t>
            </a:r>
          </a:p>
        </p:txBody>
      </p:sp>
    </p:spTree>
    <p:extLst>
      <p:ext uri="{BB962C8B-B14F-4D97-AF65-F5344CB8AC3E}">
        <p14:creationId xmlns:p14="http://schemas.microsoft.com/office/powerpoint/2010/main" val="3090493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Loading</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44813"/>
          </a:xfrm>
        </p:spPr>
        <p:txBody>
          <a:bodyPr anchor="t">
            <a:normAutofit/>
          </a:bodyPr>
          <a:lstStyle/>
          <a:p>
            <a:r>
              <a:rPr lang="en-IN" sz="2000" b="1" i="1" dirty="0"/>
              <a:t>Modes for Applying Data </a:t>
            </a:r>
          </a:p>
          <a:p>
            <a:pPr marL="817200" lvl="1" indent="-457200">
              <a:buFont typeface="+mj-lt"/>
              <a:buAutoNum type="arabicPeriod" startAt="2"/>
            </a:pPr>
            <a:r>
              <a:rPr lang="en-US" sz="2000" b="1" dirty="0"/>
              <a:t>Append</a:t>
            </a:r>
          </a:p>
          <a:p>
            <a:pPr lvl="2"/>
            <a:r>
              <a:rPr lang="en-US" sz="1800" dirty="0"/>
              <a:t>If data already exists in the table, the append process unconditionally adds the incoming data, preserving the existing data in the target table.</a:t>
            </a:r>
          </a:p>
          <a:p>
            <a:pPr lvl="2"/>
            <a:r>
              <a:rPr lang="en-US" sz="1800" dirty="0"/>
              <a:t>When an incoming record is a duplicate of an already existing record, you may define how to handle an incoming duplicate.</a:t>
            </a:r>
          </a:p>
          <a:p>
            <a:pPr lvl="2"/>
            <a:r>
              <a:rPr lang="en-US" sz="1800" dirty="0"/>
              <a:t>The incoming record may be allowed to be added as a duplicate.</a:t>
            </a:r>
          </a:p>
          <a:p>
            <a:pPr lvl="2"/>
            <a:r>
              <a:rPr lang="en-US" sz="1800" dirty="0"/>
              <a:t>the incoming duplicate record may be rejected during the append process.</a:t>
            </a:r>
          </a:p>
          <a:p>
            <a:pPr marL="972900" lvl="2" indent="-342900">
              <a:buFont typeface="+mj-lt"/>
              <a:buAutoNum type="arabicPeriod"/>
            </a:pPr>
            <a:endParaRPr lang="en-IN" sz="18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52</a:t>
            </a:fld>
            <a:endParaRPr lang="en-US" dirty="0"/>
          </a:p>
        </p:txBody>
      </p:sp>
    </p:spTree>
    <p:extLst>
      <p:ext uri="{BB962C8B-B14F-4D97-AF65-F5344CB8AC3E}">
        <p14:creationId xmlns:p14="http://schemas.microsoft.com/office/powerpoint/2010/main" val="33662991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Loading</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44813"/>
          </a:xfrm>
        </p:spPr>
        <p:txBody>
          <a:bodyPr anchor="t">
            <a:normAutofit/>
          </a:bodyPr>
          <a:lstStyle/>
          <a:p>
            <a:r>
              <a:rPr lang="en-IN" sz="2000" b="1" i="1" dirty="0"/>
              <a:t>Modes for Applying Data </a:t>
            </a:r>
          </a:p>
          <a:p>
            <a:pPr marL="817200" lvl="1" indent="-457200">
              <a:buFont typeface="+mj-lt"/>
              <a:buAutoNum type="arabicPeriod" startAt="2"/>
            </a:pPr>
            <a:r>
              <a:rPr lang="en-US" sz="2000" b="1" dirty="0"/>
              <a:t>Append</a:t>
            </a:r>
          </a:p>
          <a:p>
            <a:pPr marL="630000" lvl="2" indent="0">
              <a:buNone/>
            </a:pPr>
            <a:endParaRPr lang="en-IN" sz="18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53</a:t>
            </a:fld>
            <a:endParaRPr lang="en-US" dirty="0"/>
          </a:p>
        </p:txBody>
      </p:sp>
      <p:grpSp>
        <p:nvGrpSpPr>
          <p:cNvPr id="6" name="Group 5">
            <a:extLst>
              <a:ext uri="{FF2B5EF4-FFF2-40B4-BE49-F238E27FC236}">
                <a16:creationId xmlns:a16="http://schemas.microsoft.com/office/drawing/2014/main" id="{8F657C9C-F523-4087-BFD1-7A04FD79C3D5}"/>
              </a:ext>
            </a:extLst>
          </p:cNvPr>
          <p:cNvGrpSpPr/>
          <p:nvPr/>
        </p:nvGrpSpPr>
        <p:grpSpPr>
          <a:xfrm>
            <a:off x="979055" y="3429000"/>
            <a:ext cx="2013276" cy="2380673"/>
            <a:chOff x="904462" y="4481431"/>
            <a:chExt cx="2094871" cy="2079109"/>
          </a:xfrm>
          <a:solidFill>
            <a:schemeClr val="accent3">
              <a:lumMod val="75000"/>
            </a:schemeClr>
          </a:solidFill>
        </p:grpSpPr>
        <p:sp>
          <p:nvSpPr>
            <p:cNvPr id="7" name="Flowchart: Magnetic Disk 6">
              <a:extLst>
                <a:ext uri="{FF2B5EF4-FFF2-40B4-BE49-F238E27FC236}">
                  <a16:creationId xmlns:a16="http://schemas.microsoft.com/office/drawing/2014/main" id="{0E14715D-189B-4CB5-8C00-570C626B83B9}"/>
                </a:ext>
              </a:extLst>
            </p:cNvPr>
            <p:cNvSpPr/>
            <p:nvPr/>
          </p:nvSpPr>
          <p:spPr>
            <a:xfrm>
              <a:off x="904462" y="4481431"/>
              <a:ext cx="2094871" cy="2079109"/>
            </a:xfrm>
            <a:prstGeom prst="flowChartMagneticDisk">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8B5A75C3-BA59-4AF2-A8AE-7298A391E7C1}"/>
                </a:ext>
              </a:extLst>
            </p:cNvPr>
            <p:cNvSpPr txBox="1"/>
            <p:nvPr/>
          </p:nvSpPr>
          <p:spPr>
            <a:xfrm>
              <a:off x="1017397" y="4657309"/>
              <a:ext cx="1883325" cy="400110"/>
            </a:xfrm>
            <a:prstGeom prst="rect">
              <a:avLst/>
            </a:prstGeom>
            <a:noFill/>
          </p:spPr>
          <p:txBody>
            <a:bodyPr wrap="square" rtlCol="0">
              <a:spAutoFit/>
            </a:bodyPr>
            <a:lstStyle/>
            <a:p>
              <a:pPr algn="ctr"/>
              <a:r>
                <a:rPr lang="en-IN" sz="2000" b="1" dirty="0">
                  <a:solidFill>
                    <a:schemeClr val="bg1"/>
                  </a:solidFill>
                </a:rPr>
                <a:t>Data Staging</a:t>
              </a:r>
            </a:p>
          </p:txBody>
        </p:sp>
        <p:sp>
          <p:nvSpPr>
            <p:cNvPr id="9" name="TextBox 8">
              <a:extLst>
                <a:ext uri="{FF2B5EF4-FFF2-40B4-BE49-F238E27FC236}">
                  <a16:creationId xmlns:a16="http://schemas.microsoft.com/office/drawing/2014/main" id="{55CE180B-D2D5-46C5-B619-7958919270B1}"/>
                </a:ext>
              </a:extLst>
            </p:cNvPr>
            <p:cNvSpPr txBox="1"/>
            <p:nvPr/>
          </p:nvSpPr>
          <p:spPr>
            <a:xfrm>
              <a:off x="1214231" y="5192595"/>
              <a:ext cx="776553" cy="1200329"/>
            </a:xfrm>
            <a:prstGeom prst="rect">
              <a:avLst/>
            </a:prstGeom>
            <a:noFill/>
          </p:spPr>
          <p:txBody>
            <a:bodyPr wrap="square" rtlCol="0">
              <a:spAutoFit/>
            </a:bodyPr>
            <a:lstStyle/>
            <a:p>
              <a:r>
                <a:rPr lang="en-IN" dirty="0">
                  <a:solidFill>
                    <a:schemeClr val="bg1"/>
                  </a:solidFill>
                </a:rPr>
                <a:t>Key</a:t>
              </a:r>
            </a:p>
            <a:p>
              <a:r>
                <a:rPr lang="en-IN" dirty="0">
                  <a:solidFill>
                    <a:schemeClr val="bg1"/>
                  </a:solidFill>
                </a:rPr>
                <a:t>123</a:t>
              </a:r>
            </a:p>
            <a:p>
              <a:r>
                <a:rPr lang="en-IN" dirty="0">
                  <a:solidFill>
                    <a:schemeClr val="bg1"/>
                  </a:solidFill>
                </a:rPr>
                <a:t>234</a:t>
              </a:r>
            </a:p>
            <a:p>
              <a:r>
                <a:rPr lang="en-IN" dirty="0">
                  <a:solidFill>
                    <a:schemeClr val="bg1"/>
                  </a:solidFill>
                </a:rPr>
                <a:t>345</a:t>
              </a:r>
            </a:p>
          </p:txBody>
        </p:sp>
        <p:sp>
          <p:nvSpPr>
            <p:cNvPr id="10" name="TextBox 9">
              <a:extLst>
                <a:ext uri="{FF2B5EF4-FFF2-40B4-BE49-F238E27FC236}">
                  <a16:creationId xmlns:a16="http://schemas.microsoft.com/office/drawing/2014/main" id="{662198F5-0D1F-4092-8405-E82CC5C7F480}"/>
                </a:ext>
              </a:extLst>
            </p:cNvPr>
            <p:cNvSpPr txBox="1"/>
            <p:nvPr/>
          </p:nvSpPr>
          <p:spPr>
            <a:xfrm>
              <a:off x="1960592" y="5200169"/>
              <a:ext cx="1038741" cy="1200329"/>
            </a:xfrm>
            <a:prstGeom prst="rect">
              <a:avLst/>
            </a:prstGeom>
            <a:noFill/>
          </p:spPr>
          <p:txBody>
            <a:bodyPr wrap="square" rtlCol="0">
              <a:spAutoFit/>
            </a:bodyPr>
            <a:lstStyle/>
            <a:p>
              <a:r>
                <a:rPr lang="en-IN" dirty="0">
                  <a:solidFill>
                    <a:schemeClr val="bg1"/>
                  </a:solidFill>
                </a:rPr>
                <a:t>Data</a:t>
              </a:r>
            </a:p>
            <a:p>
              <a:r>
                <a:rPr lang="en-IN" dirty="0">
                  <a:solidFill>
                    <a:schemeClr val="bg1"/>
                  </a:solidFill>
                </a:rPr>
                <a:t>AAAA</a:t>
              </a:r>
            </a:p>
            <a:p>
              <a:r>
                <a:rPr lang="en-IN" dirty="0">
                  <a:solidFill>
                    <a:schemeClr val="bg1"/>
                  </a:solidFill>
                </a:rPr>
                <a:t>BBB</a:t>
              </a:r>
            </a:p>
            <a:p>
              <a:r>
                <a:rPr lang="en-IN" dirty="0">
                  <a:solidFill>
                    <a:schemeClr val="bg1"/>
                  </a:solidFill>
                </a:rPr>
                <a:t>CCCCC</a:t>
              </a:r>
            </a:p>
          </p:txBody>
        </p:sp>
      </p:grpSp>
      <p:grpSp>
        <p:nvGrpSpPr>
          <p:cNvPr id="11" name="Group 10">
            <a:extLst>
              <a:ext uri="{FF2B5EF4-FFF2-40B4-BE49-F238E27FC236}">
                <a16:creationId xmlns:a16="http://schemas.microsoft.com/office/drawing/2014/main" id="{C0946082-AFDC-47CE-BF33-741E2B393619}"/>
              </a:ext>
            </a:extLst>
          </p:cNvPr>
          <p:cNvGrpSpPr/>
          <p:nvPr/>
        </p:nvGrpSpPr>
        <p:grpSpPr>
          <a:xfrm>
            <a:off x="4635546" y="3429000"/>
            <a:ext cx="2013276" cy="2380673"/>
            <a:chOff x="904462" y="4481431"/>
            <a:chExt cx="2094871" cy="2079109"/>
          </a:xfrm>
        </p:grpSpPr>
        <p:sp>
          <p:nvSpPr>
            <p:cNvPr id="12" name="Flowchart: Magnetic Disk 11">
              <a:extLst>
                <a:ext uri="{FF2B5EF4-FFF2-40B4-BE49-F238E27FC236}">
                  <a16:creationId xmlns:a16="http://schemas.microsoft.com/office/drawing/2014/main" id="{6C3949CE-C79A-4CA5-889B-1B78D407B82F}"/>
                </a:ext>
              </a:extLst>
            </p:cNvPr>
            <p:cNvSpPr/>
            <p:nvPr/>
          </p:nvSpPr>
          <p:spPr>
            <a:xfrm>
              <a:off x="904462" y="4481431"/>
              <a:ext cx="2094871" cy="2079109"/>
            </a:xfrm>
            <a:prstGeom prst="flowChartMagneticDisk">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TextBox 12">
              <a:extLst>
                <a:ext uri="{FF2B5EF4-FFF2-40B4-BE49-F238E27FC236}">
                  <a16:creationId xmlns:a16="http://schemas.microsoft.com/office/drawing/2014/main" id="{30BDEF24-0F3D-473F-BA68-C587C03A3352}"/>
                </a:ext>
              </a:extLst>
            </p:cNvPr>
            <p:cNvSpPr txBox="1"/>
            <p:nvPr/>
          </p:nvSpPr>
          <p:spPr>
            <a:xfrm>
              <a:off x="1116006" y="4657309"/>
              <a:ext cx="1671781" cy="400110"/>
            </a:xfrm>
            <a:prstGeom prst="rect">
              <a:avLst/>
            </a:prstGeom>
            <a:noFill/>
          </p:spPr>
          <p:txBody>
            <a:bodyPr wrap="square" rtlCol="0">
              <a:spAutoFit/>
            </a:bodyPr>
            <a:lstStyle/>
            <a:p>
              <a:pPr algn="ctr"/>
              <a:r>
                <a:rPr lang="en-IN" sz="2000" b="1" dirty="0">
                  <a:solidFill>
                    <a:schemeClr val="bg1"/>
                  </a:solidFill>
                </a:rPr>
                <a:t>Warehouse</a:t>
              </a:r>
            </a:p>
          </p:txBody>
        </p:sp>
        <p:sp>
          <p:nvSpPr>
            <p:cNvPr id="14" name="TextBox 13">
              <a:extLst>
                <a:ext uri="{FF2B5EF4-FFF2-40B4-BE49-F238E27FC236}">
                  <a16:creationId xmlns:a16="http://schemas.microsoft.com/office/drawing/2014/main" id="{9C445414-954A-417C-A215-41A8D207C654}"/>
                </a:ext>
              </a:extLst>
            </p:cNvPr>
            <p:cNvSpPr txBox="1"/>
            <p:nvPr/>
          </p:nvSpPr>
          <p:spPr>
            <a:xfrm>
              <a:off x="1214231" y="5192595"/>
              <a:ext cx="776553" cy="651558"/>
            </a:xfrm>
            <a:prstGeom prst="rect">
              <a:avLst/>
            </a:prstGeom>
            <a:noFill/>
          </p:spPr>
          <p:txBody>
            <a:bodyPr wrap="square" rtlCol="0">
              <a:spAutoFit/>
            </a:bodyPr>
            <a:lstStyle/>
            <a:p>
              <a:r>
                <a:rPr lang="en-IN" dirty="0">
                  <a:solidFill>
                    <a:schemeClr val="bg1"/>
                  </a:solidFill>
                </a:rPr>
                <a:t>Key</a:t>
              </a:r>
            </a:p>
            <a:p>
              <a:r>
                <a:rPr lang="en-IN" dirty="0">
                  <a:solidFill>
                    <a:schemeClr val="bg1"/>
                  </a:solidFill>
                </a:rPr>
                <a:t>111</a:t>
              </a:r>
            </a:p>
          </p:txBody>
        </p:sp>
        <p:sp>
          <p:nvSpPr>
            <p:cNvPr id="15" name="TextBox 14">
              <a:extLst>
                <a:ext uri="{FF2B5EF4-FFF2-40B4-BE49-F238E27FC236}">
                  <a16:creationId xmlns:a16="http://schemas.microsoft.com/office/drawing/2014/main" id="{66CC927B-2AEA-4B93-94F3-9B424ABF65EC}"/>
                </a:ext>
              </a:extLst>
            </p:cNvPr>
            <p:cNvSpPr txBox="1"/>
            <p:nvPr/>
          </p:nvSpPr>
          <p:spPr>
            <a:xfrm>
              <a:off x="1960592" y="5200169"/>
              <a:ext cx="1038741" cy="651558"/>
            </a:xfrm>
            <a:prstGeom prst="rect">
              <a:avLst/>
            </a:prstGeom>
            <a:noFill/>
          </p:spPr>
          <p:txBody>
            <a:bodyPr wrap="square" rtlCol="0">
              <a:spAutoFit/>
            </a:bodyPr>
            <a:lstStyle/>
            <a:p>
              <a:r>
                <a:rPr lang="en-IN" dirty="0">
                  <a:solidFill>
                    <a:schemeClr val="bg1"/>
                  </a:solidFill>
                </a:rPr>
                <a:t>Data</a:t>
              </a:r>
            </a:p>
            <a:p>
              <a:r>
                <a:rPr lang="en-IN" dirty="0">
                  <a:solidFill>
                    <a:schemeClr val="bg1"/>
                  </a:solidFill>
                </a:rPr>
                <a:t>RRR</a:t>
              </a:r>
            </a:p>
          </p:txBody>
        </p:sp>
      </p:grpSp>
      <p:grpSp>
        <p:nvGrpSpPr>
          <p:cNvPr id="16" name="Group 15">
            <a:extLst>
              <a:ext uri="{FF2B5EF4-FFF2-40B4-BE49-F238E27FC236}">
                <a16:creationId xmlns:a16="http://schemas.microsoft.com/office/drawing/2014/main" id="{A280AE1A-0147-4BCB-A372-36BF4293FF93}"/>
              </a:ext>
            </a:extLst>
          </p:cNvPr>
          <p:cNvGrpSpPr/>
          <p:nvPr/>
        </p:nvGrpSpPr>
        <p:grpSpPr>
          <a:xfrm>
            <a:off x="7965397" y="3463274"/>
            <a:ext cx="2013276" cy="2528273"/>
            <a:chOff x="904462" y="4481431"/>
            <a:chExt cx="2094871" cy="2208012"/>
          </a:xfrm>
        </p:grpSpPr>
        <p:sp>
          <p:nvSpPr>
            <p:cNvPr id="17" name="Flowchart: Magnetic Disk 16">
              <a:extLst>
                <a:ext uri="{FF2B5EF4-FFF2-40B4-BE49-F238E27FC236}">
                  <a16:creationId xmlns:a16="http://schemas.microsoft.com/office/drawing/2014/main" id="{CCBB072E-3404-49BF-930F-C4FF5E994905}"/>
                </a:ext>
              </a:extLst>
            </p:cNvPr>
            <p:cNvSpPr/>
            <p:nvPr/>
          </p:nvSpPr>
          <p:spPr>
            <a:xfrm>
              <a:off x="904462" y="4481431"/>
              <a:ext cx="2094871" cy="2079109"/>
            </a:xfrm>
            <a:prstGeom prst="flowChartMagneticDisk">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TextBox 17">
              <a:extLst>
                <a:ext uri="{FF2B5EF4-FFF2-40B4-BE49-F238E27FC236}">
                  <a16:creationId xmlns:a16="http://schemas.microsoft.com/office/drawing/2014/main" id="{732CBBA5-D1C0-46FF-924F-95AC608D960A}"/>
                </a:ext>
              </a:extLst>
            </p:cNvPr>
            <p:cNvSpPr txBox="1"/>
            <p:nvPr/>
          </p:nvSpPr>
          <p:spPr>
            <a:xfrm>
              <a:off x="1116006" y="4657309"/>
              <a:ext cx="1671781" cy="400110"/>
            </a:xfrm>
            <a:prstGeom prst="rect">
              <a:avLst/>
            </a:prstGeom>
            <a:noFill/>
          </p:spPr>
          <p:txBody>
            <a:bodyPr wrap="square" rtlCol="0">
              <a:spAutoFit/>
            </a:bodyPr>
            <a:lstStyle/>
            <a:p>
              <a:pPr algn="ctr"/>
              <a:r>
                <a:rPr lang="en-IN" sz="2000" b="1" dirty="0">
                  <a:solidFill>
                    <a:schemeClr val="bg1"/>
                  </a:solidFill>
                </a:rPr>
                <a:t>Warehouse</a:t>
              </a:r>
            </a:p>
          </p:txBody>
        </p:sp>
        <p:sp>
          <p:nvSpPr>
            <p:cNvPr id="19" name="TextBox 18">
              <a:extLst>
                <a:ext uri="{FF2B5EF4-FFF2-40B4-BE49-F238E27FC236}">
                  <a16:creationId xmlns:a16="http://schemas.microsoft.com/office/drawing/2014/main" id="{9749DF35-AD21-4877-844A-CE13768C67BB}"/>
                </a:ext>
              </a:extLst>
            </p:cNvPr>
            <p:cNvSpPr txBox="1"/>
            <p:nvPr/>
          </p:nvSpPr>
          <p:spPr>
            <a:xfrm>
              <a:off x="1214231" y="5192595"/>
              <a:ext cx="776553" cy="1489275"/>
            </a:xfrm>
            <a:prstGeom prst="rect">
              <a:avLst/>
            </a:prstGeom>
            <a:noFill/>
          </p:spPr>
          <p:txBody>
            <a:bodyPr wrap="square" rtlCol="0">
              <a:spAutoFit/>
            </a:bodyPr>
            <a:lstStyle/>
            <a:p>
              <a:r>
                <a:rPr lang="en-IN" dirty="0">
                  <a:solidFill>
                    <a:schemeClr val="bg1"/>
                  </a:solidFill>
                </a:rPr>
                <a:t>Key</a:t>
              </a:r>
            </a:p>
            <a:p>
              <a:r>
                <a:rPr lang="en-IN" dirty="0">
                  <a:solidFill>
                    <a:schemeClr val="bg1"/>
                  </a:solidFill>
                </a:rPr>
                <a:t>111</a:t>
              </a:r>
            </a:p>
            <a:p>
              <a:r>
                <a:rPr lang="en-IN" dirty="0">
                  <a:solidFill>
                    <a:schemeClr val="bg1"/>
                  </a:solidFill>
                </a:rPr>
                <a:t>123</a:t>
              </a:r>
            </a:p>
            <a:p>
              <a:r>
                <a:rPr lang="en-IN" dirty="0">
                  <a:solidFill>
                    <a:schemeClr val="bg1"/>
                  </a:solidFill>
                </a:rPr>
                <a:t>234</a:t>
              </a:r>
            </a:p>
            <a:p>
              <a:r>
                <a:rPr lang="en-IN" dirty="0">
                  <a:solidFill>
                    <a:schemeClr val="bg1"/>
                  </a:solidFill>
                </a:rPr>
                <a:t>345</a:t>
              </a:r>
            </a:p>
          </p:txBody>
        </p:sp>
        <p:sp>
          <p:nvSpPr>
            <p:cNvPr id="20" name="TextBox 19">
              <a:extLst>
                <a:ext uri="{FF2B5EF4-FFF2-40B4-BE49-F238E27FC236}">
                  <a16:creationId xmlns:a16="http://schemas.microsoft.com/office/drawing/2014/main" id="{82AF3E54-7A2C-482A-B6D3-68B4FAEAB57B}"/>
                </a:ext>
              </a:extLst>
            </p:cNvPr>
            <p:cNvSpPr txBox="1"/>
            <p:nvPr/>
          </p:nvSpPr>
          <p:spPr>
            <a:xfrm>
              <a:off x="1960592" y="5200169"/>
              <a:ext cx="1038741" cy="1489274"/>
            </a:xfrm>
            <a:prstGeom prst="rect">
              <a:avLst/>
            </a:prstGeom>
            <a:noFill/>
          </p:spPr>
          <p:txBody>
            <a:bodyPr wrap="square" rtlCol="0">
              <a:spAutoFit/>
            </a:bodyPr>
            <a:lstStyle/>
            <a:p>
              <a:r>
                <a:rPr lang="en-IN" dirty="0">
                  <a:solidFill>
                    <a:schemeClr val="bg1"/>
                  </a:solidFill>
                </a:rPr>
                <a:t>Data</a:t>
              </a:r>
            </a:p>
            <a:p>
              <a:r>
                <a:rPr lang="en-IN" dirty="0">
                  <a:solidFill>
                    <a:schemeClr val="bg1"/>
                  </a:solidFill>
                </a:rPr>
                <a:t>RRR</a:t>
              </a:r>
            </a:p>
            <a:p>
              <a:r>
                <a:rPr lang="en-IN" dirty="0">
                  <a:solidFill>
                    <a:schemeClr val="bg1"/>
                  </a:solidFill>
                </a:rPr>
                <a:t>AAAA</a:t>
              </a:r>
            </a:p>
            <a:p>
              <a:r>
                <a:rPr lang="en-IN" dirty="0">
                  <a:solidFill>
                    <a:schemeClr val="bg1"/>
                  </a:solidFill>
                </a:rPr>
                <a:t>BBB</a:t>
              </a:r>
            </a:p>
            <a:p>
              <a:r>
                <a:rPr lang="en-IN" dirty="0">
                  <a:solidFill>
                    <a:schemeClr val="bg1"/>
                  </a:solidFill>
                </a:rPr>
                <a:t>CCCCC</a:t>
              </a:r>
            </a:p>
          </p:txBody>
        </p:sp>
      </p:grpSp>
      <p:cxnSp>
        <p:nvCxnSpPr>
          <p:cNvPr id="21" name="Straight Arrow Connector 20">
            <a:extLst>
              <a:ext uri="{FF2B5EF4-FFF2-40B4-BE49-F238E27FC236}">
                <a16:creationId xmlns:a16="http://schemas.microsoft.com/office/drawing/2014/main" id="{22C47686-452B-4958-8DF1-8C8C1ECB4457}"/>
              </a:ext>
            </a:extLst>
          </p:cNvPr>
          <p:cNvCxnSpPr>
            <a:cxnSpLocks/>
            <a:stCxn id="7" idx="4"/>
            <a:endCxn id="12" idx="2"/>
          </p:cNvCxnSpPr>
          <p:nvPr/>
        </p:nvCxnSpPr>
        <p:spPr>
          <a:xfrm>
            <a:off x="2992331" y="4619337"/>
            <a:ext cx="1643215"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3F746DE9-3C5B-4857-A095-B750AB42F713}"/>
              </a:ext>
            </a:extLst>
          </p:cNvPr>
          <p:cNvSpPr txBox="1"/>
          <p:nvPr/>
        </p:nvSpPr>
        <p:spPr>
          <a:xfrm>
            <a:off x="3234165" y="4127327"/>
            <a:ext cx="1091444" cy="369332"/>
          </a:xfrm>
          <a:prstGeom prst="rect">
            <a:avLst/>
          </a:prstGeom>
          <a:noFill/>
        </p:spPr>
        <p:txBody>
          <a:bodyPr wrap="square" rtlCol="0">
            <a:spAutoFit/>
          </a:bodyPr>
          <a:lstStyle/>
          <a:p>
            <a:pPr algn="ctr"/>
            <a:r>
              <a:rPr lang="en-IN" b="1" dirty="0"/>
              <a:t>Append</a:t>
            </a:r>
          </a:p>
        </p:txBody>
      </p:sp>
      <p:sp>
        <p:nvSpPr>
          <p:cNvPr id="23" name="TextBox 22">
            <a:extLst>
              <a:ext uri="{FF2B5EF4-FFF2-40B4-BE49-F238E27FC236}">
                <a16:creationId xmlns:a16="http://schemas.microsoft.com/office/drawing/2014/main" id="{705647CA-12C3-4ADD-A489-C42AD51723C0}"/>
              </a:ext>
            </a:extLst>
          </p:cNvPr>
          <p:cNvSpPr txBox="1"/>
          <p:nvPr/>
        </p:nvSpPr>
        <p:spPr>
          <a:xfrm>
            <a:off x="5105594" y="3033426"/>
            <a:ext cx="998282" cy="369332"/>
          </a:xfrm>
          <a:prstGeom prst="rect">
            <a:avLst/>
          </a:prstGeom>
          <a:noFill/>
        </p:spPr>
        <p:txBody>
          <a:bodyPr wrap="square" rtlCol="0">
            <a:spAutoFit/>
          </a:bodyPr>
          <a:lstStyle/>
          <a:p>
            <a:pPr algn="ctr"/>
            <a:r>
              <a:rPr lang="en-IN" b="1" dirty="0"/>
              <a:t>Before</a:t>
            </a:r>
          </a:p>
        </p:txBody>
      </p:sp>
      <p:sp>
        <p:nvSpPr>
          <p:cNvPr id="24" name="TextBox 23">
            <a:extLst>
              <a:ext uri="{FF2B5EF4-FFF2-40B4-BE49-F238E27FC236}">
                <a16:creationId xmlns:a16="http://schemas.microsoft.com/office/drawing/2014/main" id="{AB3F2125-6146-4E04-B8DC-2BF828A29119}"/>
              </a:ext>
            </a:extLst>
          </p:cNvPr>
          <p:cNvSpPr txBox="1"/>
          <p:nvPr/>
        </p:nvSpPr>
        <p:spPr>
          <a:xfrm>
            <a:off x="8472892" y="3039188"/>
            <a:ext cx="998282" cy="369332"/>
          </a:xfrm>
          <a:prstGeom prst="rect">
            <a:avLst/>
          </a:prstGeom>
          <a:noFill/>
        </p:spPr>
        <p:txBody>
          <a:bodyPr wrap="square" rtlCol="0">
            <a:spAutoFit/>
          </a:bodyPr>
          <a:lstStyle/>
          <a:p>
            <a:pPr algn="ctr"/>
            <a:r>
              <a:rPr lang="en-IN" b="1" dirty="0"/>
              <a:t>After</a:t>
            </a:r>
          </a:p>
        </p:txBody>
      </p:sp>
    </p:spTree>
    <p:extLst>
      <p:ext uri="{BB962C8B-B14F-4D97-AF65-F5344CB8AC3E}">
        <p14:creationId xmlns:p14="http://schemas.microsoft.com/office/powerpoint/2010/main" val="3100743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Loading</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44813"/>
          </a:xfrm>
        </p:spPr>
        <p:txBody>
          <a:bodyPr anchor="t">
            <a:normAutofit/>
          </a:bodyPr>
          <a:lstStyle/>
          <a:p>
            <a:r>
              <a:rPr lang="en-IN" sz="2000" b="1" i="1" dirty="0"/>
              <a:t>Modes for Applying Data </a:t>
            </a:r>
          </a:p>
          <a:p>
            <a:pPr marL="817200" lvl="1" indent="-457200">
              <a:buFont typeface="+mj-lt"/>
              <a:buAutoNum type="arabicPeriod" startAt="3"/>
            </a:pPr>
            <a:r>
              <a:rPr lang="en-US" sz="2000" b="1" dirty="0"/>
              <a:t>Destructive Merge</a:t>
            </a:r>
          </a:p>
          <a:p>
            <a:pPr lvl="2"/>
            <a:r>
              <a:rPr lang="en-US" sz="1800" dirty="0"/>
              <a:t>If the primary key of an incoming record matches with the key of an existing record, update the matching target record.</a:t>
            </a:r>
          </a:p>
          <a:p>
            <a:pPr lvl="2"/>
            <a:r>
              <a:rPr lang="en-US" sz="1800" dirty="0"/>
              <a:t>If the incoming record is a new record without a match with any existing record, add the incoming record to the target table.</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54</a:t>
            </a:fld>
            <a:endParaRPr lang="en-US" dirty="0"/>
          </a:p>
        </p:txBody>
      </p:sp>
      <p:grpSp>
        <p:nvGrpSpPr>
          <p:cNvPr id="6" name="Group 5">
            <a:extLst>
              <a:ext uri="{FF2B5EF4-FFF2-40B4-BE49-F238E27FC236}">
                <a16:creationId xmlns:a16="http://schemas.microsoft.com/office/drawing/2014/main" id="{EADD57BA-B1C3-4289-91C3-9607709A25F6}"/>
              </a:ext>
            </a:extLst>
          </p:cNvPr>
          <p:cNvGrpSpPr/>
          <p:nvPr/>
        </p:nvGrpSpPr>
        <p:grpSpPr>
          <a:xfrm>
            <a:off x="1099128" y="4553531"/>
            <a:ext cx="2013276" cy="2062431"/>
            <a:chOff x="904462" y="4481431"/>
            <a:chExt cx="2094871" cy="2079109"/>
          </a:xfrm>
          <a:solidFill>
            <a:schemeClr val="accent3">
              <a:lumMod val="75000"/>
            </a:schemeClr>
          </a:solidFill>
        </p:grpSpPr>
        <p:sp>
          <p:nvSpPr>
            <p:cNvPr id="7" name="Flowchart: Magnetic Disk 6">
              <a:extLst>
                <a:ext uri="{FF2B5EF4-FFF2-40B4-BE49-F238E27FC236}">
                  <a16:creationId xmlns:a16="http://schemas.microsoft.com/office/drawing/2014/main" id="{290AE0D2-F05A-4000-953F-65A99B6390F5}"/>
                </a:ext>
              </a:extLst>
            </p:cNvPr>
            <p:cNvSpPr/>
            <p:nvPr/>
          </p:nvSpPr>
          <p:spPr>
            <a:xfrm>
              <a:off x="904462" y="4481431"/>
              <a:ext cx="2094871" cy="2079109"/>
            </a:xfrm>
            <a:prstGeom prst="flowChartMagneticDisk">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E28C3E82-4AB7-4781-AC84-3F295D62DD8E}"/>
                </a:ext>
              </a:extLst>
            </p:cNvPr>
            <p:cNvSpPr txBox="1"/>
            <p:nvPr/>
          </p:nvSpPr>
          <p:spPr>
            <a:xfrm>
              <a:off x="1017397" y="4657309"/>
              <a:ext cx="1883325" cy="400110"/>
            </a:xfrm>
            <a:prstGeom prst="rect">
              <a:avLst/>
            </a:prstGeom>
            <a:noFill/>
          </p:spPr>
          <p:txBody>
            <a:bodyPr wrap="square" rtlCol="0">
              <a:spAutoFit/>
            </a:bodyPr>
            <a:lstStyle/>
            <a:p>
              <a:pPr algn="ctr"/>
              <a:r>
                <a:rPr lang="en-IN" sz="2000" b="1" dirty="0">
                  <a:solidFill>
                    <a:schemeClr val="bg1"/>
                  </a:solidFill>
                </a:rPr>
                <a:t>Data Staging</a:t>
              </a:r>
            </a:p>
          </p:txBody>
        </p:sp>
        <p:sp>
          <p:nvSpPr>
            <p:cNvPr id="9" name="TextBox 8">
              <a:extLst>
                <a:ext uri="{FF2B5EF4-FFF2-40B4-BE49-F238E27FC236}">
                  <a16:creationId xmlns:a16="http://schemas.microsoft.com/office/drawing/2014/main" id="{BA9272CC-77D9-4C79-920D-DA946164F771}"/>
                </a:ext>
              </a:extLst>
            </p:cNvPr>
            <p:cNvSpPr txBox="1"/>
            <p:nvPr/>
          </p:nvSpPr>
          <p:spPr>
            <a:xfrm>
              <a:off x="1214231" y="5192595"/>
              <a:ext cx="776553" cy="1200329"/>
            </a:xfrm>
            <a:prstGeom prst="rect">
              <a:avLst/>
            </a:prstGeom>
            <a:noFill/>
          </p:spPr>
          <p:txBody>
            <a:bodyPr wrap="square" rtlCol="0">
              <a:spAutoFit/>
            </a:bodyPr>
            <a:lstStyle/>
            <a:p>
              <a:r>
                <a:rPr lang="en-IN" dirty="0">
                  <a:solidFill>
                    <a:schemeClr val="bg1"/>
                  </a:solidFill>
                </a:rPr>
                <a:t>Key</a:t>
              </a:r>
            </a:p>
            <a:p>
              <a:r>
                <a:rPr lang="en-IN" dirty="0">
                  <a:solidFill>
                    <a:schemeClr val="bg1"/>
                  </a:solidFill>
                </a:rPr>
                <a:t>123</a:t>
              </a:r>
            </a:p>
            <a:p>
              <a:r>
                <a:rPr lang="en-IN" dirty="0">
                  <a:solidFill>
                    <a:schemeClr val="bg1"/>
                  </a:solidFill>
                </a:rPr>
                <a:t>234</a:t>
              </a:r>
            </a:p>
            <a:p>
              <a:r>
                <a:rPr lang="en-IN" dirty="0">
                  <a:solidFill>
                    <a:schemeClr val="bg1"/>
                  </a:solidFill>
                </a:rPr>
                <a:t>345</a:t>
              </a:r>
            </a:p>
          </p:txBody>
        </p:sp>
        <p:sp>
          <p:nvSpPr>
            <p:cNvPr id="10" name="TextBox 9">
              <a:extLst>
                <a:ext uri="{FF2B5EF4-FFF2-40B4-BE49-F238E27FC236}">
                  <a16:creationId xmlns:a16="http://schemas.microsoft.com/office/drawing/2014/main" id="{46A103DD-BA56-40A9-956C-08BDADB13973}"/>
                </a:ext>
              </a:extLst>
            </p:cNvPr>
            <p:cNvSpPr txBox="1"/>
            <p:nvPr/>
          </p:nvSpPr>
          <p:spPr>
            <a:xfrm>
              <a:off x="1960592" y="5200169"/>
              <a:ext cx="1038741" cy="1200329"/>
            </a:xfrm>
            <a:prstGeom prst="rect">
              <a:avLst/>
            </a:prstGeom>
            <a:noFill/>
          </p:spPr>
          <p:txBody>
            <a:bodyPr wrap="square" rtlCol="0">
              <a:spAutoFit/>
            </a:bodyPr>
            <a:lstStyle/>
            <a:p>
              <a:r>
                <a:rPr lang="en-IN" dirty="0">
                  <a:solidFill>
                    <a:schemeClr val="bg1"/>
                  </a:solidFill>
                </a:rPr>
                <a:t>Data</a:t>
              </a:r>
            </a:p>
            <a:p>
              <a:r>
                <a:rPr lang="en-IN" dirty="0">
                  <a:solidFill>
                    <a:schemeClr val="bg1"/>
                  </a:solidFill>
                </a:rPr>
                <a:t>AAAA</a:t>
              </a:r>
            </a:p>
            <a:p>
              <a:r>
                <a:rPr lang="en-IN" dirty="0">
                  <a:solidFill>
                    <a:schemeClr val="bg1"/>
                  </a:solidFill>
                </a:rPr>
                <a:t>BBB</a:t>
              </a:r>
            </a:p>
            <a:p>
              <a:r>
                <a:rPr lang="en-IN" dirty="0">
                  <a:solidFill>
                    <a:schemeClr val="bg1"/>
                  </a:solidFill>
                </a:rPr>
                <a:t>CCCCC</a:t>
              </a:r>
            </a:p>
          </p:txBody>
        </p:sp>
      </p:grpSp>
      <p:grpSp>
        <p:nvGrpSpPr>
          <p:cNvPr id="11" name="Group 10">
            <a:extLst>
              <a:ext uri="{FF2B5EF4-FFF2-40B4-BE49-F238E27FC236}">
                <a16:creationId xmlns:a16="http://schemas.microsoft.com/office/drawing/2014/main" id="{BA22DF6F-B909-4B62-9EBA-AE2024AC3685}"/>
              </a:ext>
            </a:extLst>
          </p:cNvPr>
          <p:cNvGrpSpPr/>
          <p:nvPr/>
        </p:nvGrpSpPr>
        <p:grpSpPr>
          <a:xfrm>
            <a:off x="4755619" y="4553531"/>
            <a:ext cx="2013276" cy="2062431"/>
            <a:chOff x="904462" y="4481431"/>
            <a:chExt cx="2094871" cy="2079109"/>
          </a:xfrm>
        </p:grpSpPr>
        <p:sp>
          <p:nvSpPr>
            <p:cNvPr id="12" name="Flowchart: Magnetic Disk 11">
              <a:extLst>
                <a:ext uri="{FF2B5EF4-FFF2-40B4-BE49-F238E27FC236}">
                  <a16:creationId xmlns:a16="http://schemas.microsoft.com/office/drawing/2014/main" id="{EF7DA48E-D435-42D9-ABCD-4294CF0CCD76}"/>
                </a:ext>
              </a:extLst>
            </p:cNvPr>
            <p:cNvSpPr/>
            <p:nvPr/>
          </p:nvSpPr>
          <p:spPr>
            <a:xfrm>
              <a:off x="904462" y="4481431"/>
              <a:ext cx="2094871" cy="2079109"/>
            </a:xfrm>
            <a:prstGeom prst="flowChartMagneticDisk">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TextBox 12">
              <a:extLst>
                <a:ext uri="{FF2B5EF4-FFF2-40B4-BE49-F238E27FC236}">
                  <a16:creationId xmlns:a16="http://schemas.microsoft.com/office/drawing/2014/main" id="{268A7A61-0F90-4F4E-9A0A-A038D2B0C29A}"/>
                </a:ext>
              </a:extLst>
            </p:cNvPr>
            <p:cNvSpPr txBox="1"/>
            <p:nvPr/>
          </p:nvSpPr>
          <p:spPr>
            <a:xfrm>
              <a:off x="1116006" y="4657309"/>
              <a:ext cx="1671781" cy="400110"/>
            </a:xfrm>
            <a:prstGeom prst="rect">
              <a:avLst/>
            </a:prstGeom>
            <a:noFill/>
          </p:spPr>
          <p:txBody>
            <a:bodyPr wrap="square" rtlCol="0">
              <a:spAutoFit/>
            </a:bodyPr>
            <a:lstStyle/>
            <a:p>
              <a:pPr algn="ctr"/>
              <a:r>
                <a:rPr lang="en-IN" sz="2000" b="1" dirty="0">
                  <a:solidFill>
                    <a:schemeClr val="bg1"/>
                  </a:solidFill>
                </a:rPr>
                <a:t>Warehouse</a:t>
              </a:r>
            </a:p>
          </p:txBody>
        </p:sp>
        <p:sp>
          <p:nvSpPr>
            <p:cNvPr id="14" name="TextBox 13">
              <a:extLst>
                <a:ext uri="{FF2B5EF4-FFF2-40B4-BE49-F238E27FC236}">
                  <a16:creationId xmlns:a16="http://schemas.microsoft.com/office/drawing/2014/main" id="{E4EF97F2-66DB-4238-966A-642D45F0D899}"/>
                </a:ext>
              </a:extLst>
            </p:cNvPr>
            <p:cNvSpPr txBox="1"/>
            <p:nvPr/>
          </p:nvSpPr>
          <p:spPr>
            <a:xfrm>
              <a:off x="1214231" y="5192595"/>
              <a:ext cx="776553" cy="930797"/>
            </a:xfrm>
            <a:prstGeom prst="rect">
              <a:avLst/>
            </a:prstGeom>
            <a:noFill/>
          </p:spPr>
          <p:txBody>
            <a:bodyPr wrap="square" rtlCol="0">
              <a:spAutoFit/>
            </a:bodyPr>
            <a:lstStyle/>
            <a:p>
              <a:r>
                <a:rPr lang="en-IN" dirty="0">
                  <a:solidFill>
                    <a:schemeClr val="bg1"/>
                  </a:solidFill>
                </a:rPr>
                <a:t>Key</a:t>
              </a:r>
            </a:p>
            <a:p>
              <a:r>
                <a:rPr lang="en-IN" dirty="0">
                  <a:solidFill>
                    <a:schemeClr val="bg1"/>
                  </a:solidFill>
                </a:rPr>
                <a:t>123</a:t>
              </a:r>
            </a:p>
            <a:p>
              <a:r>
                <a:rPr lang="en-IN" dirty="0">
                  <a:solidFill>
                    <a:schemeClr val="bg1"/>
                  </a:solidFill>
                </a:rPr>
                <a:t>	</a:t>
              </a:r>
            </a:p>
          </p:txBody>
        </p:sp>
        <p:sp>
          <p:nvSpPr>
            <p:cNvPr id="15" name="TextBox 14">
              <a:extLst>
                <a:ext uri="{FF2B5EF4-FFF2-40B4-BE49-F238E27FC236}">
                  <a16:creationId xmlns:a16="http://schemas.microsoft.com/office/drawing/2014/main" id="{D937E928-2446-48E6-887C-A869E77D02E4}"/>
                </a:ext>
              </a:extLst>
            </p:cNvPr>
            <p:cNvSpPr txBox="1"/>
            <p:nvPr/>
          </p:nvSpPr>
          <p:spPr>
            <a:xfrm>
              <a:off x="1960592" y="5200169"/>
              <a:ext cx="1038741" cy="651558"/>
            </a:xfrm>
            <a:prstGeom prst="rect">
              <a:avLst/>
            </a:prstGeom>
            <a:noFill/>
          </p:spPr>
          <p:txBody>
            <a:bodyPr wrap="square" rtlCol="0">
              <a:spAutoFit/>
            </a:bodyPr>
            <a:lstStyle/>
            <a:p>
              <a:r>
                <a:rPr lang="en-IN" dirty="0">
                  <a:solidFill>
                    <a:schemeClr val="bg1"/>
                  </a:solidFill>
                </a:rPr>
                <a:t>Data</a:t>
              </a:r>
            </a:p>
            <a:p>
              <a:r>
                <a:rPr lang="en-IN" dirty="0">
                  <a:solidFill>
                    <a:schemeClr val="bg1"/>
                  </a:solidFill>
                </a:rPr>
                <a:t>RRRRR</a:t>
              </a:r>
            </a:p>
          </p:txBody>
        </p:sp>
      </p:grpSp>
      <p:grpSp>
        <p:nvGrpSpPr>
          <p:cNvPr id="16" name="Group 15">
            <a:extLst>
              <a:ext uri="{FF2B5EF4-FFF2-40B4-BE49-F238E27FC236}">
                <a16:creationId xmlns:a16="http://schemas.microsoft.com/office/drawing/2014/main" id="{D0AC2FCF-B7AF-4DDD-B5C0-53054A985DD5}"/>
              </a:ext>
            </a:extLst>
          </p:cNvPr>
          <p:cNvGrpSpPr/>
          <p:nvPr/>
        </p:nvGrpSpPr>
        <p:grpSpPr>
          <a:xfrm>
            <a:off x="8085470" y="4587806"/>
            <a:ext cx="2013276" cy="2062431"/>
            <a:chOff x="904462" y="4481431"/>
            <a:chExt cx="2094871" cy="2079109"/>
          </a:xfrm>
        </p:grpSpPr>
        <p:sp>
          <p:nvSpPr>
            <p:cNvPr id="17" name="Flowchart: Magnetic Disk 16">
              <a:extLst>
                <a:ext uri="{FF2B5EF4-FFF2-40B4-BE49-F238E27FC236}">
                  <a16:creationId xmlns:a16="http://schemas.microsoft.com/office/drawing/2014/main" id="{3175ED02-690A-47E1-BCB4-DF8347962B72}"/>
                </a:ext>
              </a:extLst>
            </p:cNvPr>
            <p:cNvSpPr/>
            <p:nvPr/>
          </p:nvSpPr>
          <p:spPr>
            <a:xfrm>
              <a:off x="904462" y="4481431"/>
              <a:ext cx="2094871" cy="2079109"/>
            </a:xfrm>
            <a:prstGeom prst="flowChartMagneticDisk">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TextBox 17">
              <a:extLst>
                <a:ext uri="{FF2B5EF4-FFF2-40B4-BE49-F238E27FC236}">
                  <a16:creationId xmlns:a16="http://schemas.microsoft.com/office/drawing/2014/main" id="{A8794D34-05A5-46F9-AC8E-05A78BDFB05E}"/>
                </a:ext>
              </a:extLst>
            </p:cNvPr>
            <p:cNvSpPr txBox="1"/>
            <p:nvPr/>
          </p:nvSpPr>
          <p:spPr>
            <a:xfrm>
              <a:off x="1116006" y="4657309"/>
              <a:ext cx="1671781" cy="400110"/>
            </a:xfrm>
            <a:prstGeom prst="rect">
              <a:avLst/>
            </a:prstGeom>
            <a:noFill/>
          </p:spPr>
          <p:txBody>
            <a:bodyPr wrap="square" rtlCol="0">
              <a:spAutoFit/>
            </a:bodyPr>
            <a:lstStyle/>
            <a:p>
              <a:pPr algn="ctr"/>
              <a:r>
                <a:rPr lang="en-IN" sz="2000" b="1" dirty="0">
                  <a:solidFill>
                    <a:schemeClr val="bg1"/>
                  </a:solidFill>
                </a:rPr>
                <a:t>Warehouse</a:t>
              </a:r>
            </a:p>
          </p:txBody>
        </p:sp>
        <p:sp>
          <p:nvSpPr>
            <p:cNvPr id="19" name="TextBox 18">
              <a:extLst>
                <a:ext uri="{FF2B5EF4-FFF2-40B4-BE49-F238E27FC236}">
                  <a16:creationId xmlns:a16="http://schemas.microsoft.com/office/drawing/2014/main" id="{F7B40582-93E3-4843-B9FE-A651D286F42A}"/>
                </a:ext>
              </a:extLst>
            </p:cNvPr>
            <p:cNvSpPr txBox="1"/>
            <p:nvPr/>
          </p:nvSpPr>
          <p:spPr>
            <a:xfrm>
              <a:off x="1214231" y="5192595"/>
              <a:ext cx="776553" cy="1200329"/>
            </a:xfrm>
            <a:prstGeom prst="rect">
              <a:avLst/>
            </a:prstGeom>
            <a:noFill/>
          </p:spPr>
          <p:txBody>
            <a:bodyPr wrap="square" rtlCol="0">
              <a:spAutoFit/>
            </a:bodyPr>
            <a:lstStyle/>
            <a:p>
              <a:r>
                <a:rPr lang="en-IN" dirty="0">
                  <a:solidFill>
                    <a:schemeClr val="bg1"/>
                  </a:solidFill>
                </a:rPr>
                <a:t>Key</a:t>
              </a:r>
            </a:p>
            <a:p>
              <a:r>
                <a:rPr lang="en-IN" dirty="0">
                  <a:solidFill>
                    <a:schemeClr val="bg1"/>
                  </a:solidFill>
                </a:rPr>
                <a:t>123</a:t>
              </a:r>
            </a:p>
            <a:p>
              <a:r>
                <a:rPr lang="en-IN" dirty="0">
                  <a:solidFill>
                    <a:schemeClr val="bg1"/>
                  </a:solidFill>
                </a:rPr>
                <a:t>234</a:t>
              </a:r>
            </a:p>
            <a:p>
              <a:r>
                <a:rPr lang="en-IN" dirty="0">
                  <a:solidFill>
                    <a:schemeClr val="bg1"/>
                  </a:solidFill>
                </a:rPr>
                <a:t>345</a:t>
              </a:r>
            </a:p>
          </p:txBody>
        </p:sp>
        <p:sp>
          <p:nvSpPr>
            <p:cNvPr id="20" name="TextBox 19">
              <a:extLst>
                <a:ext uri="{FF2B5EF4-FFF2-40B4-BE49-F238E27FC236}">
                  <a16:creationId xmlns:a16="http://schemas.microsoft.com/office/drawing/2014/main" id="{FB2602DA-9ECD-466B-B613-16E620112A93}"/>
                </a:ext>
              </a:extLst>
            </p:cNvPr>
            <p:cNvSpPr txBox="1"/>
            <p:nvPr/>
          </p:nvSpPr>
          <p:spPr>
            <a:xfrm>
              <a:off x="1960592" y="5200169"/>
              <a:ext cx="1038741" cy="1200329"/>
            </a:xfrm>
            <a:prstGeom prst="rect">
              <a:avLst/>
            </a:prstGeom>
            <a:noFill/>
          </p:spPr>
          <p:txBody>
            <a:bodyPr wrap="square" rtlCol="0">
              <a:spAutoFit/>
            </a:bodyPr>
            <a:lstStyle/>
            <a:p>
              <a:r>
                <a:rPr lang="en-IN" dirty="0">
                  <a:solidFill>
                    <a:schemeClr val="bg1"/>
                  </a:solidFill>
                </a:rPr>
                <a:t>Data</a:t>
              </a:r>
            </a:p>
            <a:p>
              <a:r>
                <a:rPr lang="en-IN" dirty="0">
                  <a:solidFill>
                    <a:schemeClr val="bg1"/>
                  </a:solidFill>
                </a:rPr>
                <a:t>AAAA</a:t>
              </a:r>
            </a:p>
            <a:p>
              <a:r>
                <a:rPr lang="en-IN" dirty="0">
                  <a:solidFill>
                    <a:schemeClr val="bg1"/>
                  </a:solidFill>
                </a:rPr>
                <a:t>BBB</a:t>
              </a:r>
            </a:p>
            <a:p>
              <a:r>
                <a:rPr lang="en-IN" dirty="0">
                  <a:solidFill>
                    <a:schemeClr val="bg1"/>
                  </a:solidFill>
                </a:rPr>
                <a:t>CCCCC</a:t>
              </a:r>
            </a:p>
          </p:txBody>
        </p:sp>
      </p:grpSp>
      <p:cxnSp>
        <p:nvCxnSpPr>
          <p:cNvPr id="21" name="Straight Arrow Connector 20">
            <a:extLst>
              <a:ext uri="{FF2B5EF4-FFF2-40B4-BE49-F238E27FC236}">
                <a16:creationId xmlns:a16="http://schemas.microsoft.com/office/drawing/2014/main" id="{0DB5F5D5-8935-42F6-A167-5A10B8957A08}"/>
              </a:ext>
            </a:extLst>
          </p:cNvPr>
          <p:cNvCxnSpPr>
            <a:endCxn id="12" idx="2"/>
          </p:cNvCxnSpPr>
          <p:nvPr/>
        </p:nvCxnSpPr>
        <p:spPr>
          <a:xfrm>
            <a:off x="3118148" y="5584746"/>
            <a:ext cx="1637471" cy="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7061E82D-0D71-4A56-841E-09B0BF171ECE}"/>
              </a:ext>
            </a:extLst>
          </p:cNvPr>
          <p:cNvSpPr txBox="1"/>
          <p:nvPr/>
        </p:nvSpPr>
        <p:spPr>
          <a:xfrm>
            <a:off x="3192180" y="4926448"/>
            <a:ext cx="1498055" cy="646331"/>
          </a:xfrm>
          <a:prstGeom prst="rect">
            <a:avLst/>
          </a:prstGeom>
          <a:noFill/>
        </p:spPr>
        <p:txBody>
          <a:bodyPr wrap="square" rtlCol="0">
            <a:spAutoFit/>
          </a:bodyPr>
          <a:lstStyle/>
          <a:p>
            <a:pPr algn="ctr"/>
            <a:r>
              <a:rPr lang="en-IN" b="1" dirty="0"/>
              <a:t>Destructive Merge</a:t>
            </a:r>
          </a:p>
        </p:txBody>
      </p:sp>
      <p:sp>
        <p:nvSpPr>
          <p:cNvPr id="23" name="TextBox 22">
            <a:extLst>
              <a:ext uri="{FF2B5EF4-FFF2-40B4-BE49-F238E27FC236}">
                <a16:creationId xmlns:a16="http://schemas.microsoft.com/office/drawing/2014/main" id="{BF8DEADA-A67C-4531-84F9-B4873EFDA4BD}"/>
              </a:ext>
            </a:extLst>
          </p:cNvPr>
          <p:cNvSpPr txBox="1"/>
          <p:nvPr/>
        </p:nvSpPr>
        <p:spPr>
          <a:xfrm>
            <a:off x="6467314" y="4368865"/>
            <a:ext cx="998282" cy="369332"/>
          </a:xfrm>
          <a:prstGeom prst="rect">
            <a:avLst/>
          </a:prstGeom>
          <a:noFill/>
        </p:spPr>
        <p:txBody>
          <a:bodyPr wrap="square" rtlCol="0">
            <a:spAutoFit/>
          </a:bodyPr>
          <a:lstStyle/>
          <a:p>
            <a:pPr algn="ctr"/>
            <a:r>
              <a:rPr lang="en-IN" b="1" dirty="0"/>
              <a:t>Before</a:t>
            </a:r>
          </a:p>
        </p:txBody>
      </p:sp>
      <p:sp>
        <p:nvSpPr>
          <p:cNvPr id="24" name="TextBox 23">
            <a:extLst>
              <a:ext uri="{FF2B5EF4-FFF2-40B4-BE49-F238E27FC236}">
                <a16:creationId xmlns:a16="http://schemas.microsoft.com/office/drawing/2014/main" id="{D98BF01B-E9E9-41E7-95B5-CF90AF719420}"/>
              </a:ext>
            </a:extLst>
          </p:cNvPr>
          <p:cNvSpPr txBox="1"/>
          <p:nvPr/>
        </p:nvSpPr>
        <p:spPr>
          <a:xfrm>
            <a:off x="9599605" y="4368865"/>
            <a:ext cx="998282" cy="369332"/>
          </a:xfrm>
          <a:prstGeom prst="rect">
            <a:avLst/>
          </a:prstGeom>
          <a:noFill/>
        </p:spPr>
        <p:txBody>
          <a:bodyPr wrap="square" rtlCol="0">
            <a:spAutoFit/>
          </a:bodyPr>
          <a:lstStyle/>
          <a:p>
            <a:pPr algn="ctr"/>
            <a:r>
              <a:rPr lang="en-IN" b="1" dirty="0"/>
              <a:t>After</a:t>
            </a:r>
          </a:p>
        </p:txBody>
      </p:sp>
    </p:spTree>
    <p:extLst>
      <p:ext uri="{BB962C8B-B14F-4D97-AF65-F5344CB8AC3E}">
        <p14:creationId xmlns:p14="http://schemas.microsoft.com/office/powerpoint/2010/main" val="3441652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Loading</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44813"/>
          </a:xfrm>
        </p:spPr>
        <p:txBody>
          <a:bodyPr anchor="t">
            <a:normAutofit/>
          </a:bodyPr>
          <a:lstStyle/>
          <a:p>
            <a:r>
              <a:rPr lang="en-IN" sz="2000" b="1" i="1" dirty="0"/>
              <a:t>Modes for Applying Data </a:t>
            </a:r>
          </a:p>
          <a:p>
            <a:pPr marL="817200" lvl="1" indent="-457200">
              <a:buFont typeface="+mj-lt"/>
              <a:buAutoNum type="arabicPeriod" startAt="4"/>
            </a:pPr>
            <a:r>
              <a:rPr lang="en-US" sz="2000" dirty="0"/>
              <a:t>Constructive Merge</a:t>
            </a:r>
          </a:p>
          <a:p>
            <a:pPr lvl="2"/>
            <a:r>
              <a:rPr lang="en-US" sz="1800" dirty="0"/>
              <a:t>If the primary key of an incoming record matches with the key of an existing record, leave the existing record, add the incoming record, and mark the added record as superseding the old record.</a:t>
            </a:r>
          </a:p>
          <a:p>
            <a:pPr marL="702900" lvl="1" indent="-342900">
              <a:buFont typeface="+mj-lt"/>
              <a:buAutoNum type="arabicPeriod" startAt="4"/>
            </a:pPr>
            <a:endParaRPr lang="en-IN" sz="20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55</a:t>
            </a:fld>
            <a:endParaRPr lang="en-US" dirty="0"/>
          </a:p>
        </p:txBody>
      </p:sp>
      <p:grpSp>
        <p:nvGrpSpPr>
          <p:cNvPr id="6" name="Group 5">
            <a:extLst>
              <a:ext uri="{FF2B5EF4-FFF2-40B4-BE49-F238E27FC236}">
                <a16:creationId xmlns:a16="http://schemas.microsoft.com/office/drawing/2014/main" id="{6816557B-8516-4DA8-A7A1-FFF7654791F4}"/>
              </a:ext>
            </a:extLst>
          </p:cNvPr>
          <p:cNvGrpSpPr/>
          <p:nvPr/>
        </p:nvGrpSpPr>
        <p:grpSpPr>
          <a:xfrm>
            <a:off x="1256146" y="4258831"/>
            <a:ext cx="2013276" cy="2415155"/>
            <a:chOff x="904462" y="4481431"/>
            <a:chExt cx="2094871" cy="2079109"/>
          </a:xfrm>
          <a:solidFill>
            <a:schemeClr val="accent3">
              <a:lumMod val="75000"/>
            </a:schemeClr>
          </a:solidFill>
        </p:grpSpPr>
        <p:sp>
          <p:nvSpPr>
            <p:cNvPr id="7" name="Flowchart: Magnetic Disk 6">
              <a:extLst>
                <a:ext uri="{FF2B5EF4-FFF2-40B4-BE49-F238E27FC236}">
                  <a16:creationId xmlns:a16="http://schemas.microsoft.com/office/drawing/2014/main" id="{5058F05B-6FD1-4A0A-A691-F309860B48AB}"/>
                </a:ext>
              </a:extLst>
            </p:cNvPr>
            <p:cNvSpPr/>
            <p:nvPr/>
          </p:nvSpPr>
          <p:spPr>
            <a:xfrm>
              <a:off x="904462" y="4481431"/>
              <a:ext cx="2094871" cy="2079109"/>
            </a:xfrm>
            <a:prstGeom prst="flowChartMagneticDisk">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85A872D0-2991-497E-86AD-6BEA9289BF84}"/>
                </a:ext>
              </a:extLst>
            </p:cNvPr>
            <p:cNvSpPr txBox="1"/>
            <p:nvPr/>
          </p:nvSpPr>
          <p:spPr>
            <a:xfrm>
              <a:off x="1017397" y="4657309"/>
              <a:ext cx="1883325" cy="400110"/>
            </a:xfrm>
            <a:prstGeom prst="rect">
              <a:avLst/>
            </a:prstGeom>
            <a:noFill/>
          </p:spPr>
          <p:txBody>
            <a:bodyPr wrap="square" rtlCol="0">
              <a:spAutoFit/>
            </a:bodyPr>
            <a:lstStyle/>
            <a:p>
              <a:pPr algn="ctr"/>
              <a:r>
                <a:rPr lang="en-IN" sz="2000" b="1" dirty="0">
                  <a:solidFill>
                    <a:schemeClr val="bg1"/>
                  </a:solidFill>
                </a:rPr>
                <a:t>Data Staging</a:t>
              </a:r>
            </a:p>
          </p:txBody>
        </p:sp>
        <p:sp>
          <p:nvSpPr>
            <p:cNvPr id="9" name="TextBox 8">
              <a:extLst>
                <a:ext uri="{FF2B5EF4-FFF2-40B4-BE49-F238E27FC236}">
                  <a16:creationId xmlns:a16="http://schemas.microsoft.com/office/drawing/2014/main" id="{CCF3DF5E-8AD9-4942-AE3E-9395708C13BC}"/>
                </a:ext>
              </a:extLst>
            </p:cNvPr>
            <p:cNvSpPr txBox="1"/>
            <p:nvPr/>
          </p:nvSpPr>
          <p:spPr>
            <a:xfrm>
              <a:off x="1214231" y="5192595"/>
              <a:ext cx="776553" cy="1200329"/>
            </a:xfrm>
            <a:prstGeom prst="rect">
              <a:avLst/>
            </a:prstGeom>
            <a:noFill/>
          </p:spPr>
          <p:txBody>
            <a:bodyPr wrap="square" rtlCol="0">
              <a:spAutoFit/>
            </a:bodyPr>
            <a:lstStyle/>
            <a:p>
              <a:r>
                <a:rPr lang="en-IN" dirty="0">
                  <a:solidFill>
                    <a:schemeClr val="bg1"/>
                  </a:solidFill>
                </a:rPr>
                <a:t>Key</a:t>
              </a:r>
            </a:p>
            <a:p>
              <a:r>
                <a:rPr lang="en-IN" dirty="0">
                  <a:solidFill>
                    <a:schemeClr val="bg1"/>
                  </a:solidFill>
                </a:rPr>
                <a:t>123</a:t>
              </a:r>
            </a:p>
            <a:p>
              <a:r>
                <a:rPr lang="en-IN" dirty="0">
                  <a:solidFill>
                    <a:schemeClr val="bg1"/>
                  </a:solidFill>
                </a:rPr>
                <a:t>234</a:t>
              </a:r>
            </a:p>
            <a:p>
              <a:r>
                <a:rPr lang="en-IN" dirty="0">
                  <a:solidFill>
                    <a:schemeClr val="bg1"/>
                  </a:solidFill>
                </a:rPr>
                <a:t>345</a:t>
              </a:r>
            </a:p>
          </p:txBody>
        </p:sp>
        <p:sp>
          <p:nvSpPr>
            <p:cNvPr id="10" name="TextBox 9">
              <a:extLst>
                <a:ext uri="{FF2B5EF4-FFF2-40B4-BE49-F238E27FC236}">
                  <a16:creationId xmlns:a16="http://schemas.microsoft.com/office/drawing/2014/main" id="{0134EB72-73E2-4A31-8F58-6F5469C64093}"/>
                </a:ext>
              </a:extLst>
            </p:cNvPr>
            <p:cNvSpPr txBox="1"/>
            <p:nvPr/>
          </p:nvSpPr>
          <p:spPr>
            <a:xfrm>
              <a:off x="1960592" y="5200169"/>
              <a:ext cx="1038741" cy="1200329"/>
            </a:xfrm>
            <a:prstGeom prst="rect">
              <a:avLst/>
            </a:prstGeom>
            <a:noFill/>
          </p:spPr>
          <p:txBody>
            <a:bodyPr wrap="square" rtlCol="0">
              <a:spAutoFit/>
            </a:bodyPr>
            <a:lstStyle/>
            <a:p>
              <a:r>
                <a:rPr lang="en-IN" dirty="0">
                  <a:solidFill>
                    <a:schemeClr val="bg1"/>
                  </a:solidFill>
                </a:rPr>
                <a:t>Data</a:t>
              </a:r>
            </a:p>
            <a:p>
              <a:r>
                <a:rPr lang="en-IN" dirty="0">
                  <a:solidFill>
                    <a:schemeClr val="bg1"/>
                  </a:solidFill>
                </a:rPr>
                <a:t>AAAA</a:t>
              </a:r>
            </a:p>
            <a:p>
              <a:r>
                <a:rPr lang="en-IN" dirty="0">
                  <a:solidFill>
                    <a:schemeClr val="bg1"/>
                  </a:solidFill>
                </a:rPr>
                <a:t>BBB</a:t>
              </a:r>
            </a:p>
            <a:p>
              <a:r>
                <a:rPr lang="en-IN" dirty="0">
                  <a:solidFill>
                    <a:schemeClr val="bg1"/>
                  </a:solidFill>
                </a:rPr>
                <a:t>CCCCC</a:t>
              </a:r>
            </a:p>
          </p:txBody>
        </p:sp>
      </p:grpSp>
      <p:grpSp>
        <p:nvGrpSpPr>
          <p:cNvPr id="11" name="Group 10">
            <a:extLst>
              <a:ext uri="{FF2B5EF4-FFF2-40B4-BE49-F238E27FC236}">
                <a16:creationId xmlns:a16="http://schemas.microsoft.com/office/drawing/2014/main" id="{1BA5D4BD-7792-4B5C-8A66-7E8EF4AD3598}"/>
              </a:ext>
            </a:extLst>
          </p:cNvPr>
          <p:cNvGrpSpPr/>
          <p:nvPr/>
        </p:nvGrpSpPr>
        <p:grpSpPr>
          <a:xfrm>
            <a:off x="4927029" y="4258831"/>
            <a:ext cx="2013276" cy="2415155"/>
            <a:chOff x="904462" y="4481431"/>
            <a:chExt cx="2094871" cy="2079109"/>
          </a:xfrm>
        </p:grpSpPr>
        <p:sp>
          <p:nvSpPr>
            <p:cNvPr id="12" name="Flowchart: Magnetic Disk 11">
              <a:extLst>
                <a:ext uri="{FF2B5EF4-FFF2-40B4-BE49-F238E27FC236}">
                  <a16:creationId xmlns:a16="http://schemas.microsoft.com/office/drawing/2014/main" id="{D489C44C-49E9-4BD9-A176-A7B96FC92225}"/>
                </a:ext>
              </a:extLst>
            </p:cNvPr>
            <p:cNvSpPr/>
            <p:nvPr/>
          </p:nvSpPr>
          <p:spPr>
            <a:xfrm>
              <a:off x="904462" y="4481431"/>
              <a:ext cx="2094871" cy="2079109"/>
            </a:xfrm>
            <a:prstGeom prst="flowChartMagneticDisk">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TextBox 12">
              <a:extLst>
                <a:ext uri="{FF2B5EF4-FFF2-40B4-BE49-F238E27FC236}">
                  <a16:creationId xmlns:a16="http://schemas.microsoft.com/office/drawing/2014/main" id="{8E98C842-F904-4B4C-97AD-C646E9E06EA7}"/>
                </a:ext>
              </a:extLst>
            </p:cNvPr>
            <p:cNvSpPr txBox="1"/>
            <p:nvPr/>
          </p:nvSpPr>
          <p:spPr>
            <a:xfrm>
              <a:off x="1116006" y="4657309"/>
              <a:ext cx="1671781" cy="400110"/>
            </a:xfrm>
            <a:prstGeom prst="rect">
              <a:avLst/>
            </a:prstGeom>
            <a:noFill/>
          </p:spPr>
          <p:txBody>
            <a:bodyPr wrap="square" rtlCol="0">
              <a:spAutoFit/>
            </a:bodyPr>
            <a:lstStyle/>
            <a:p>
              <a:pPr algn="ctr"/>
              <a:r>
                <a:rPr lang="en-IN" sz="2000" b="1" dirty="0">
                  <a:solidFill>
                    <a:schemeClr val="bg1"/>
                  </a:solidFill>
                </a:rPr>
                <a:t>Warehouse</a:t>
              </a:r>
            </a:p>
          </p:txBody>
        </p:sp>
        <p:sp>
          <p:nvSpPr>
            <p:cNvPr id="14" name="TextBox 13">
              <a:extLst>
                <a:ext uri="{FF2B5EF4-FFF2-40B4-BE49-F238E27FC236}">
                  <a16:creationId xmlns:a16="http://schemas.microsoft.com/office/drawing/2014/main" id="{F3C173B9-D502-42F5-9E91-36BC33021DA0}"/>
                </a:ext>
              </a:extLst>
            </p:cNvPr>
            <p:cNvSpPr txBox="1"/>
            <p:nvPr/>
          </p:nvSpPr>
          <p:spPr>
            <a:xfrm>
              <a:off x="1214231" y="5192595"/>
              <a:ext cx="776553" cy="930797"/>
            </a:xfrm>
            <a:prstGeom prst="rect">
              <a:avLst/>
            </a:prstGeom>
            <a:noFill/>
          </p:spPr>
          <p:txBody>
            <a:bodyPr wrap="square" rtlCol="0">
              <a:spAutoFit/>
            </a:bodyPr>
            <a:lstStyle/>
            <a:p>
              <a:r>
                <a:rPr lang="en-IN" dirty="0">
                  <a:solidFill>
                    <a:schemeClr val="bg1"/>
                  </a:solidFill>
                </a:rPr>
                <a:t>Key</a:t>
              </a:r>
            </a:p>
            <a:p>
              <a:r>
                <a:rPr lang="en-IN" dirty="0">
                  <a:solidFill>
                    <a:schemeClr val="bg1"/>
                  </a:solidFill>
                </a:rPr>
                <a:t>123</a:t>
              </a:r>
            </a:p>
            <a:p>
              <a:r>
                <a:rPr lang="en-IN" dirty="0">
                  <a:solidFill>
                    <a:schemeClr val="bg1"/>
                  </a:solidFill>
                </a:rPr>
                <a:t>	</a:t>
              </a:r>
            </a:p>
          </p:txBody>
        </p:sp>
        <p:sp>
          <p:nvSpPr>
            <p:cNvPr id="15" name="TextBox 14">
              <a:extLst>
                <a:ext uri="{FF2B5EF4-FFF2-40B4-BE49-F238E27FC236}">
                  <a16:creationId xmlns:a16="http://schemas.microsoft.com/office/drawing/2014/main" id="{7C74CB37-FB0B-41ED-A153-488C05C78A60}"/>
                </a:ext>
              </a:extLst>
            </p:cNvPr>
            <p:cNvSpPr txBox="1"/>
            <p:nvPr/>
          </p:nvSpPr>
          <p:spPr>
            <a:xfrm>
              <a:off x="1960592" y="5200169"/>
              <a:ext cx="1038741" cy="651558"/>
            </a:xfrm>
            <a:prstGeom prst="rect">
              <a:avLst/>
            </a:prstGeom>
            <a:noFill/>
          </p:spPr>
          <p:txBody>
            <a:bodyPr wrap="square" rtlCol="0">
              <a:spAutoFit/>
            </a:bodyPr>
            <a:lstStyle/>
            <a:p>
              <a:r>
                <a:rPr lang="en-IN" dirty="0">
                  <a:solidFill>
                    <a:schemeClr val="bg1"/>
                  </a:solidFill>
                </a:rPr>
                <a:t>Data</a:t>
              </a:r>
            </a:p>
            <a:p>
              <a:r>
                <a:rPr lang="en-IN" dirty="0">
                  <a:solidFill>
                    <a:schemeClr val="bg1"/>
                  </a:solidFill>
                </a:rPr>
                <a:t>RRRRR</a:t>
              </a:r>
            </a:p>
          </p:txBody>
        </p:sp>
      </p:grpSp>
      <p:grpSp>
        <p:nvGrpSpPr>
          <p:cNvPr id="16" name="Group 15">
            <a:extLst>
              <a:ext uri="{FF2B5EF4-FFF2-40B4-BE49-F238E27FC236}">
                <a16:creationId xmlns:a16="http://schemas.microsoft.com/office/drawing/2014/main" id="{59C1AEA9-4578-4919-B5D4-FD8ED5479235}"/>
              </a:ext>
            </a:extLst>
          </p:cNvPr>
          <p:cNvGrpSpPr/>
          <p:nvPr/>
        </p:nvGrpSpPr>
        <p:grpSpPr>
          <a:xfrm>
            <a:off x="8242488" y="4293106"/>
            <a:ext cx="2013276" cy="2564894"/>
            <a:chOff x="904462" y="4481431"/>
            <a:chExt cx="2094871" cy="2208013"/>
          </a:xfrm>
        </p:grpSpPr>
        <p:sp>
          <p:nvSpPr>
            <p:cNvPr id="17" name="Flowchart: Magnetic Disk 16">
              <a:extLst>
                <a:ext uri="{FF2B5EF4-FFF2-40B4-BE49-F238E27FC236}">
                  <a16:creationId xmlns:a16="http://schemas.microsoft.com/office/drawing/2014/main" id="{9288039D-DDAF-47B0-9CD5-4F91044CB967}"/>
                </a:ext>
              </a:extLst>
            </p:cNvPr>
            <p:cNvSpPr/>
            <p:nvPr/>
          </p:nvSpPr>
          <p:spPr>
            <a:xfrm>
              <a:off x="904462" y="4481431"/>
              <a:ext cx="2094871" cy="2079109"/>
            </a:xfrm>
            <a:prstGeom prst="flowChartMagneticDisk">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TextBox 17">
              <a:extLst>
                <a:ext uri="{FF2B5EF4-FFF2-40B4-BE49-F238E27FC236}">
                  <a16:creationId xmlns:a16="http://schemas.microsoft.com/office/drawing/2014/main" id="{BAF019C9-39B7-4061-B983-DC4D3B1F22CA}"/>
                </a:ext>
              </a:extLst>
            </p:cNvPr>
            <p:cNvSpPr txBox="1"/>
            <p:nvPr/>
          </p:nvSpPr>
          <p:spPr>
            <a:xfrm>
              <a:off x="1116006" y="4657309"/>
              <a:ext cx="1671781" cy="400110"/>
            </a:xfrm>
            <a:prstGeom prst="rect">
              <a:avLst/>
            </a:prstGeom>
            <a:noFill/>
          </p:spPr>
          <p:txBody>
            <a:bodyPr wrap="square" rtlCol="0">
              <a:spAutoFit/>
            </a:bodyPr>
            <a:lstStyle/>
            <a:p>
              <a:pPr algn="ctr"/>
              <a:r>
                <a:rPr lang="en-IN" sz="2000" b="1" dirty="0">
                  <a:solidFill>
                    <a:schemeClr val="bg1"/>
                  </a:solidFill>
                </a:rPr>
                <a:t>Warehouse</a:t>
              </a:r>
            </a:p>
          </p:txBody>
        </p:sp>
        <p:sp>
          <p:nvSpPr>
            <p:cNvPr id="19" name="TextBox 18">
              <a:extLst>
                <a:ext uri="{FF2B5EF4-FFF2-40B4-BE49-F238E27FC236}">
                  <a16:creationId xmlns:a16="http://schemas.microsoft.com/office/drawing/2014/main" id="{38FBAD65-7744-48A5-B894-869948F83E0E}"/>
                </a:ext>
              </a:extLst>
            </p:cNvPr>
            <p:cNvSpPr txBox="1"/>
            <p:nvPr/>
          </p:nvSpPr>
          <p:spPr>
            <a:xfrm>
              <a:off x="1214231" y="5192595"/>
              <a:ext cx="776553" cy="1489275"/>
            </a:xfrm>
            <a:prstGeom prst="rect">
              <a:avLst/>
            </a:prstGeom>
            <a:noFill/>
          </p:spPr>
          <p:txBody>
            <a:bodyPr wrap="square" rtlCol="0">
              <a:spAutoFit/>
            </a:bodyPr>
            <a:lstStyle/>
            <a:p>
              <a:r>
                <a:rPr lang="en-IN" dirty="0">
                  <a:solidFill>
                    <a:schemeClr val="bg1"/>
                  </a:solidFill>
                </a:rPr>
                <a:t>Key</a:t>
              </a:r>
            </a:p>
            <a:p>
              <a:r>
                <a:rPr lang="en-IN" dirty="0">
                  <a:solidFill>
                    <a:schemeClr val="bg1"/>
                  </a:solidFill>
                </a:rPr>
                <a:t>123</a:t>
              </a:r>
            </a:p>
            <a:p>
              <a:r>
                <a:rPr lang="en-IN" dirty="0">
                  <a:solidFill>
                    <a:schemeClr val="bg1"/>
                  </a:solidFill>
                </a:rPr>
                <a:t>123</a:t>
              </a:r>
            </a:p>
            <a:p>
              <a:r>
                <a:rPr lang="en-IN" dirty="0">
                  <a:solidFill>
                    <a:schemeClr val="bg1"/>
                  </a:solidFill>
                </a:rPr>
                <a:t>234</a:t>
              </a:r>
            </a:p>
            <a:p>
              <a:r>
                <a:rPr lang="en-IN" dirty="0">
                  <a:solidFill>
                    <a:schemeClr val="bg1"/>
                  </a:solidFill>
                </a:rPr>
                <a:t>345</a:t>
              </a:r>
            </a:p>
          </p:txBody>
        </p:sp>
        <p:sp>
          <p:nvSpPr>
            <p:cNvPr id="20" name="TextBox 19">
              <a:extLst>
                <a:ext uri="{FF2B5EF4-FFF2-40B4-BE49-F238E27FC236}">
                  <a16:creationId xmlns:a16="http://schemas.microsoft.com/office/drawing/2014/main" id="{264AE167-D6A6-4D7A-8990-135229341E94}"/>
                </a:ext>
              </a:extLst>
            </p:cNvPr>
            <p:cNvSpPr txBox="1"/>
            <p:nvPr/>
          </p:nvSpPr>
          <p:spPr>
            <a:xfrm>
              <a:off x="1960592" y="5200169"/>
              <a:ext cx="1038741" cy="1489275"/>
            </a:xfrm>
            <a:prstGeom prst="rect">
              <a:avLst/>
            </a:prstGeom>
            <a:noFill/>
          </p:spPr>
          <p:txBody>
            <a:bodyPr wrap="square" rtlCol="0">
              <a:spAutoFit/>
            </a:bodyPr>
            <a:lstStyle/>
            <a:p>
              <a:r>
                <a:rPr lang="en-IN" dirty="0">
                  <a:solidFill>
                    <a:schemeClr val="bg1"/>
                  </a:solidFill>
                </a:rPr>
                <a:t>Data</a:t>
              </a:r>
            </a:p>
            <a:p>
              <a:r>
                <a:rPr lang="en-IN" dirty="0">
                  <a:solidFill>
                    <a:schemeClr val="bg1"/>
                  </a:solidFill>
                </a:rPr>
                <a:t>AAAA*</a:t>
              </a:r>
            </a:p>
            <a:p>
              <a:r>
                <a:rPr lang="en-IN" dirty="0">
                  <a:solidFill>
                    <a:schemeClr val="bg1"/>
                  </a:solidFill>
                </a:rPr>
                <a:t>RRRRR</a:t>
              </a:r>
            </a:p>
            <a:p>
              <a:r>
                <a:rPr lang="en-IN" dirty="0">
                  <a:solidFill>
                    <a:schemeClr val="bg1"/>
                  </a:solidFill>
                </a:rPr>
                <a:t>BBB</a:t>
              </a:r>
            </a:p>
            <a:p>
              <a:r>
                <a:rPr lang="en-IN" dirty="0">
                  <a:solidFill>
                    <a:schemeClr val="bg1"/>
                  </a:solidFill>
                </a:rPr>
                <a:t>CCCCC</a:t>
              </a:r>
            </a:p>
          </p:txBody>
        </p:sp>
      </p:grpSp>
      <p:cxnSp>
        <p:nvCxnSpPr>
          <p:cNvPr id="21" name="Straight Arrow Connector 20">
            <a:extLst>
              <a:ext uri="{FF2B5EF4-FFF2-40B4-BE49-F238E27FC236}">
                <a16:creationId xmlns:a16="http://schemas.microsoft.com/office/drawing/2014/main" id="{DDF52A64-9587-46C1-8326-6EB91125FA57}"/>
              </a:ext>
            </a:extLst>
          </p:cNvPr>
          <p:cNvCxnSpPr>
            <a:cxnSpLocks/>
            <a:endCxn id="12" idx="2"/>
          </p:cNvCxnSpPr>
          <p:nvPr/>
        </p:nvCxnSpPr>
        <p:spPr>
          <a:xfrm>
            <a:off x="3269422" y="5466408"/>
            <a:ext cx="1657607" cy="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9D188171-C633-4697-A9D7-DF70ADE331D5}"/>
              </a:ext>
            </a:extLst>
          </p:cNvPr>
          <p:cNvSpPr txBox="1"/>
          <p:nvPr/>
        </p:nvSpPr>
        <p:spPr>
          <a:xfrm>
            <a:off x="3293089" y="4715659"/>
            <a:ext cx="1572999" cy="646331"/>
          </a:xfrm>
          <a:prstGeom prst="rect">
            <a:avLst/>
          </a:prstGeom>
          <a:noFill/>
        </p:spPr>
        <p:txBody>
          <a:bodyPr wrap="square" rtlCol="0">
            <a:spAutoFit/>
          </a:bodyPr>
          <a:lstStyle/>
          <a:p>
            <a:pPr algn="ctr"/>
            <a:r>
              <a:rPr lang="en-IN" b="1" dirty="0"/>
              <a:t>Constructive Merge</a:t>
            </a:r>
          </a:p>
        </p:txBody>
      </p:sp>
      <p:sp>
        <p:nvSpPr>
          <p:cNvPr id="25" name="TextBox 24">
            <a:extLst>
              <a:ext uri="{FF2B5EF4-FFF2-40B4-BE49-F238E27FC236}">
                <a16:creationId xmlns:a16="http://schemas.microsoft.com/office/drawing/2014/main" id="{7917A373-6862-418E-99FC-F86F50E93E31}"/>
              </a:ext>
            </a:extLst>
          </p:cNvPr>
          <p:cNvSpPr txBox="1"/>
          <p:nvPr/>
        </p:nvSpPr>
        <p:spPr>
          <a:xfrm>
            <a:off x="6502105" y="4032126"/>
            <a:ext cx="998282" cy="369332"/>
          </a:xfrm>
          <a:prstGeom prst="rect">
            <a:avLst/>
          </a:prstGeom>
          <a:noFill/>
        </p:spPr>
        <p:txBody>
          <a:bodyPr wrap="square" rtlCol="0">
            <a:spAutoFit/>
          </a:bodyPr>
          <a:lstStyle/>
          <a:p>
            <a:pPr algn="ctr"/>
            <a:r>
              <a:rPr lang="en-IN" b="1" dirty="0"/>
              <a:t>Before</a:t>
            </a:r>
          </a:p>
        </p:txBody>
      </p:sp>
      <p:sp>
        <p:nvSpPr>
          <p:cNvPr id="26" name="TextBox 25">
            <a:extLst>
              <a:ext uri="{FF2B5EF4-FFF2-40B4-BE49-F238E27FC236}">
                <a16:creationId xmlns:a16="http://schemas.microsoft.com/office/drawing/2014/main" id="{977CDDDE-6DBD-42CE-AA35-5EE13A3D71C6}"/>
              </a:ext>
            </a:extLst>
          </p:cNvPr>
          <p:cNvSpPr txBox="1"/>
          <p:nvPr/>
        </p:nvSpPr>
        <p:spPr>
          <a:xfrm>
            <a:off x="9634396" y="4032126"/>
            <a:ext cx="998282" cy="369332"/>
          </a:xfrm>
          <a:prstGeom prst="rect">
            <a:avLst/>
          </a:prstGeom>
          <a:noFill/>
        </p:spPr>
        <p:txBody>
          <a:bodyPr wrap="square" rtlCol="0">
            <a:spAutoFit/>
          </a:bodyPr>
          <a:lstStyle/>
          <a:p>
            <a:pPr algn="ctr"/>
            <a:r>
              <a:rPr lang="en-IN" b="1" dirty="0"/>
              <a:t>After</a:t>
            </a:r>
          </a:p>
        </p:txBody>
      </p:sp>
    </p:spTree>
    <p:extLst>
      <p:ext uri="{BB962C8B-B14F-4D97-AF65-F5344CB8AC3E}">
        <p14:creationId xmlns:p14="http://schemas.microsoft.com/office/powerpoint/2010/main" val="4022906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5" grpId="0"/>
      <p:bldP spid="2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Loading</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44813"/>
          </a:xfrm>
        </p:spPr>
        <p:txBody>
          <a:bodyPr anchor="t">
            <a:normAutofit/>
          </a:bodyPr>
          <a:lstStyle/>
          <a:p>
            <a:pPr marL="378900" indent="-342900"/>
            <a:r>
              <a:rPr lang="en-US" sz="2000" dirty="0"/>
              <a:t>How the modes of applying data to the data warehouse fit into the three types of loads?</a:t>
            </a:r>
          </a:p>
          <a:p>
            <a:pPr marL="378900" indent="-342900"/>
            <a:r>
              <a:rPr lang="en-US" sz="2000" b="1" i="1" dirty="0"/>
              <a:t>Initial Load</a:t>
            </a:r>
          </a:p>
          <a:p>
            <a:pPr marL="702900" lvl="1" indent="-342900"/>
            <a:r>
              <a:rPr lang="en-US" sz="1800" dirty="0"/>
              <a:t>Instead of loading whole data warehouse in single run, split the load into separate sub loads and run each of these sub loads as single loads. (every load run creates the database tables from scratch)</a:t>
            </a:r>
          </a:p>
          <a:p>
            <a:pPr marL="702900" lvl="1" indent="-342900"/>
            <a:r>
              <a:rPr lang="en-US" sz="1800" dirty="0"/>
              <a:t>In this way, we will be using </a:t>
            </a:r>
            <a:r>
              <a:rPr lang="en-US" sz="1800" b="1" dirty="0"/>
              <a:t>load </a:t>
            </a:r>
            <a:r>
              <a:rPr lang="en-US" sz="1800" dirty="0"/>
              <a:t>mode.</a:t>
            </a:r>
          </a:p>
          <a:p>
            <a:pPr marL="702900" lvl="1" indent="-342900"/>
            <a:r>
              <a:rPr lang="en-US" sz="1800" dirty="0"/>
              <a:t>For the first run of the initial load of a particular table, use the </a:t>
            </a:r>
            <a:r>
              <a:rPr lang="en-US" sz="1800" b="1" dirty="0"/>
              <a:t>load</a:t>
            </a:r>
            <a:r>
              <a:rPr lang="en-US" sz="1800" dirty="0"/>
              <a:t> mode. </a:t>
            </a:r>
          </a:p>
          <a:p>
            <a:pPr marL="702900" lvl="1" indent="-342900"/>
            <a:r>
              <a:rPr lang="en-US" sz="1800" dirty="0"/>
              <a:t>All further runs will apply the incoming data using the </a:t>
            </a:r>
            <a:r>
              <a:rPr lang="en-US" sz="1800" b="1" dirty="0"/>
              <a:t>append</a:t>
            </a:r>
            <a:r>
              <a:rPr lang="en-US" sz="1800" dirty="0"/>
              <a:t> mode.</a:t>
            </a:r>
          </a:p>
          <a:p>
            <a:pPr marL="702900" lvl="1" indent="-342900"/>
            <a:r>
              <a:rPr lang="en-US" sz="1800" dirty="0"/>
              <a:t>Drop the indexes prior to the loads to make the loads go quicker.</a:t>
            </a:r>
          </a:p>
          <a:p>
            <a:pPr marL="702900" lvl="1" indent="-342900"/>
            <a:r>
              <a:rPr lang="en-US" sz="1800" dirty="0"/>
              <a:t>Rebuild or regenerate the indexes when the loads are complete.</a:t>
            </a:r>
            <a:endParaRPr lang="en-IN" sz="18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56</a:t>
            </a:fld>
            <a:endParaRPr lang="en-US" dirty="0"/>
          </a:p>
        </p:txBody>
      </p:sp>
    </p:spTree>
    <p:extLst>
      <p:ext uri="{BB962C8B-B14F-4D97-AF65-F5344CB8AC3E}">
        <p14:creationId xmlns:p14="http://schemas.microsoft.com/office/powerpoint/2010/main" val="37767507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Loading</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44813"/>
          </a:xfrm>
        </p:spPr>
        <p:txBody>
          <a:bodyPr anchor="t">
            <a:normAutofit lnSpcReduction="10000"/>
          </a:bodyPr>
          <a:lstStyle/>
          <a:p>
            <a:pPr marL="378900" indent="-342900"/>
            <a:r>
              <a:rPr lang="en-US" sz="2000" dirty="0"/>
              <a:t>How the modes of applying data to the data warehouse fit into the three types of loads?</a:t>
            </a:r>
          </a:p>
          <a:p>
            <a:pPr marL="378900" indent="-342900"/>
            <a:r>
              <a:rPr lang="en-US" sz="2000" b="1" i="1" dirty="0"/>
              <a:t>Incremental Load</a:t>
            </a:r>
          </a:p>
          <a:p>
            <a:pPr marL="702900" lvl="1" indent="-342900"/>
            <a:r>
              <a:rPr lang="en-US" sz="1800" dirty="0"/>
              <a:t>These are the applications of ongoing changes from the source systems tied to specific time stamps.</a:t>
            </a:r>
          </a:p>
          <a:p>
            <a:pPr marL="702900" lvl="1" indent="-342900"/>
            <a:r>
              <a:rPr lang="en-US" sz="1800" dirty="0"/>
              <a:t>In </a:t>
            </a:r>
            <a:r>
              <a:rPr lang="en-US" sz="1800" b="1" dirty="0"/>
              <a:t>constructive merge </a:t>
            </a:r>
            <a:r>
              <a:rPr lang="en-US" sz="1800" dirty="0"/>
              <a:t>mode, if the primary key of an incoming record matches with the key of an existing record, the existing record is left in the target table as is and the incoming record is added and marked as superseding the old record.</a:t>
            </a:r>
          </a:p>
          <a:p>
            <a:pPr marL="702900" lvl="1" indent="-342900"/>
            <a:r>
              <a:rPr lang="en-US" sz="1800" dirty="0"/>
              <a:t>If the time stamp is also part of the primary key or if the time stamp is included in the comparison between the incoming and the existing records, then </a:t>
            </a:r>
            <a:r>
              <a:rPr lang="en-US" sz="1800" b="1" dirty="0"/>
              <a:t>constructive merge</a:t>
            </a:r>
            <a:r>
              <a:rPr lang="en-US" sz="1800" dirty="0"/>
              <a:t> may be used to preserve the periodic nature of the changes.</a:t>
            </a:r>
          </a:p>
          <a:p>
            <a:pPr marL="702900" lvl="1" indent="-342900"/>
            <a:r>
              <a:rPr lang="en-US" sz="1800" dirty="0"/>
              <a:t>The change to a dimension table record is </a:t>
            </a:r>
            <a:r>
              <a:rPr lang="en-US" sz="1800" b="1" dirty="0"/>
              <a:t>Type 1 change </a:t>
            </a:r>
            <a:r>
              <a:rPr lang="en-US" sz="1800" dirty="0"/>
              <a:t>i.e. </a:t>
            </a:r>
            <a:r>
              <a:rPr lang="en-US" sz="1800" b="1" dirty="0"/>
              <a:t>to correct an error </a:t>
            </a:r>
            <a:r>
              <a:rPr lang="en-US" sz="1800" dirty="0"/>
              <a:t>in the existing record. The existing record must be replaced by the corrected incoming record, so you may use the </a:t>
            </a:r>
            <a:r>
              <a:rPr lang="en-US" sz="1800" b="1" dirty="0"/>
              <a:t>destructive merge</a:t>
            </a:r>
            <a:r>
              <a:rPr lang="en-US" sz="1800" dirty="0"/>
              <a:t> mode.</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57</a:t>
            </a:fld>
            <a:endParaRPr lang="en-US" dirty="0"/>
          </a:p>
        </p:txBody>
      </p:sp>
    </p:spTree>
    <p:extLst>
      <p:ext uri="{BB962C8B-B14F-4D97-AF65-F5344CB8AC3E}">
        <p14:creationId xmlns:p14="http://schemas.microsoft.com/office/powerpoint/2010/main" val="10763783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Loading</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44813"/>
          </a:xfrm>
        </p:spPr>
        <p:txBody>
          <a:bodyPr anchor="t">
            <a:normAutofit/>
          </a:bodyPr>
          <a:lstStyle/>
          <a:p>
            <a:pPr marL="378900" indent="-342900"/>
            <a:r>
              <a:rPr lang="en-US" sz="2000" dirty="0"/>
              <a:t>How the modes of applying data to the data warehouse fit into the three types of loads?</a:t>
            </a:r>
          </a:p>
          <a:p>
            <a:pPr marL="378900" indent="-342900"/>
            <a:r>
              <a:rPr lang="en-US" sz="2000" b="1" i="1" dirty="0"/>
              <a:t>Full Refresh</a:t>
            </a:r>
          </a:p>
          <a:p>
            <a:pPr marL="702900" lvl="1" indent="-342900"/>
            <a:r>
              <a:rPr lang="en-US" sz="1800" dirty="0"/>
              <a:t>Involves periodically rewriting the entire data warehouse.</a:t>
            </a:r>
          </a:p>
          <a:p>
            <a:pPr marL="702900" lvl="1" indent="-342900"/>
            <a:r>
              <a:rPr lang="en-US" sz="1800" dirty="0"/>
              <a:t>You may also do partial refreshes to rewrite only specific tables.</a:t>
            </a:r>
          </a:p>
          <a:p>
            <a:pPr marL="702900" lvl="1" indent="-342900"/>
            <a:r>
              <a:rPr lang="en-US" sz="1800" dirty="0"/>
              <a:t>Full refresh is similar to the initial load.</a:t>
            </a:r>
          </a:p>
          <a:p>
            <a:pPr marL="702900" lvl="1" indent="-342900"/>
            <a:r>
              <a:rPr lang="en-US" sz="1800" dirty="0"/>
              <a:t>Data exists in the target tables before incoming data is applied. The existing data must be erased before applying the incoming data.</a:t>
            </a:r>
          </a:p>
          <a:p>
            <a:pPr marL="702900" lvl="1" indent="-342900"/>
            <a:r>
              <a:rPr lang="en-US" sz="1800" dirty="0"/>
              <a:t>The  </a:t>
            </a:r>
            <a:r>
              <a:rPr lang="en-US" sz="1800" b="1" dirty="0"/>
              <a:t>load</a:t>
            </a:r>
            <a:r>
              <a:rPr lang="en-US" sz="1800" dirty="0"/>
              <a:t> and </a:t>
            </a:r>
            <a:r>
              <a:rPr lang="en-US" sz="1800" b="1" dirty="0"/>
              <a:t>append</a:t>
            </a:r>
            <a:r>
              <a:rPr lang="en-US" sz="1800" dirty="0"/>
              <a:t> modes are applicable to full refresh.</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58</a:t>
            </a:fld>
            <a:endParaRPr lang="en-US" dirty="0"/>
          </a:p>
        </p:txBody>
      </p:sp>
    </p:spTree>
    <p:extLst>
      <p:ext uri="{BB962C8B-B14F-4D97-AF65-F5344CB8AC3E}">
        <p14:creationId xmlns:p14="http://schemas.microsoft.com/office/powerpoint/2010/main" val="21401808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Loading</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44813"/>
          </a:xfrm>
        </p:spPr>
        <p:txBody>
          <a:bodyPr anchor="t">
            <a:normAutofit/>
          </a:bodyPr>
          <a:lstStyle/>
          <a:p>
            <a:pPr marL="378900" indent="-342900"/>
            <a:r>
              <a:rPr lang="en-US" sz="2000" dirty="0"/>
              <a:t>After the initial load, you may maintain the data warehouse and keep it up to date by using two methods:</a:t>
            </a:r>
          </a:p>
          <a:p>
            <a:pPr marL="702900" lvl="1" indent="-342900"/>
            <a:r>
              <a:rPr lang="en-US" sz="1800" b="1" i="1" dirty="0"/>
              <a:t>Refresh</a:t>
            </a:r>
            <a:r>
              <a:rPr lang="en-US" sz="1800" dirty="0"/>
              <a:t>—complete reload at specified intervals.</a:t>
            </a:r>
          </a:p>
          <a:p>
            <a:pPr marL="702900" lvl="1" indent="-342900"/>
            <a:r>
              <a:rPr lang="en-US" sz="1800" b="1" i="1" dirty="0"/>
              <a:t>Update</a:t>
            </a:r>
            <a:r>
              <a:rPr lang="en-US" sz="1800" dirty="0"/>
              <a:t>—application of incremental changes in the data sources. </a:t>
            </a:r>
          </a:p>
          <a:p>
            <a:pPr marL="702900" lvl="1" indent="-342900"/>
            <a:r>
              <a:rPr lang="en-US" sz="1800" dirty="0"/>
              <a:t>Refresh is a much simpler option than update</a:t>
            </a:r>
          </a:p>
          <a:p>
            <a:pPr marL="702900" lvl="1" indent="-342900"/>
            <a:r>
              <a:rPr lang="en-US" sz="1800" dirty="0"/>
              <a:t>Refresh involves the periodic replacement of complete data warehouse tables.</a:t>
            </a:r>
          </a:p>
          <a:p>
            <a:pPr marL="702900" lvl="1" indent="-342900"/>
            <a:r>
              <a:rPr lang="en-US" sz="1800" dirty="0"/>
              <a:t>Refresh jobs can take a long time to run.</a:t>
            </a:r>
          </a:p>
          <a:p>
            <a:pPr marL="702900" lvl="1" indent="-342900"/>
            <a:r>
              <a:rPr lang="en-US" sz="1800" dirty="0"/>
              <a:t>To use the update option, </a:t>
            </a:r>
          </a:p>
          <a:p>
            <a:pPr marL="972900" lvl="2" indent="-342900"/>
            <a:r>
              <a:rPr lang="en-US" sz="1800" dirty="0"/>
              <a:t>You have to devise the proper strategy to extract the changes from each data source</a:t>
            </a:r>
          </a:p>
          <a:p>
            <a:pPr marL="972900" lvl="2" indent="-342900"/>
            <a:r>
              <a:rPr lang="en-US" sz="1800" dirty="0"/>
              <a:t>Then you have to determine the best strategy to apply the changes to the data warehouse.</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59</a:t>
            </a:fld>
            <a:endParaRPr lang="en-US" dirty="0"/>
          </a:p>
        </p:txBody>
      </p:sp>
    </p:spTree>
    <p:extLst>
      <p:ext uri="{BB962C8B-B14F-4D97-AF65-F5344CB8AC3E}">
        <p14:creationId xmlns:p14="http://schemas.microsoft.com/office/powerpoint/2010/main" val="19070759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Loading</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44813"/>
          </a:xfrm>
        </p:spPr>
        <p:txBody>
          <a:bodyPr anchor="t">
            <a:normAutofit/>
          </a:bodyPr>
          <a:lstStyle/>
          <a:p>
            <a:pPr marL="702900" lvl="1" indent="-342900"/>
            <a:r>
              <a:rPr lang="en-US" sz="1800" dirty="0"/>
              <a:t>The </a:t>
            </a:r>
            <a:r>
              <a:rPr lang="en-US" sz="1800" b="1" dirty="0"/>
              <a:t>cost of refresh remains constant </a:t>
            </a:r>
            <a:r>
              <a:rPr lang="en-US" sz="1800" dirty="0"/>
              <a:t>irrespective of the number of changes in the source systems.</a:t>
            </a:r>
          </a:p>
          <a:p>
            <a:pPr marL="972900" lvl="2" indent="-342900"/>
            <a:r>
              <a:rPr lang="en-US" sz="1800" dirty="0"/>
              <a:t>If the number of changes increases, the time and effort for doing a full refresh remain the same.</a:t>
            </a:r>
          </a:p>
          <a:p>
            <a:pPr marL="702900" lvl="1" indent="-342900"/>
            <a:r>
              <a:rPr lang="en-US" sz="1800" dirty="0"/>
              <a:t>The </a:t>
            </a:r>
            <a:r>
              <a:rPr lang="en-US" sz="1800" b="1" dirty="0"/>
              <a:t>cost of update varies</a:t>
            </a:r>
            <a:r>
              <a:rPr lang="en-US" sz="1800" dirty="0"/>
              <a:t> with the number of records to be updated.</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60</a:t>
            </a:fld>
            <a:endParaRPr lang="en-US" dirty="0"/>
          </a:p>
        </p:txBody>
      </p:sp>
      <p:pic>
        <p:nvPicPr>
          <p:cNvPr id="6" name="Picture 5">
            <a:extLst>
              <a:ext uri="{FF2B5EF4-FFF2-40B4-BE49-F238E27FC236}">
                <a16:creationId xmlns:a16="http://schemas.microsoft.com/office/drawing/2014/main" id="{755BB3FD-835C-41F0-8418-FDC42423A00E}"/>
              </a:ext>
            </a:extLst>
          </p:cNvPr>
          <p:cNvPicPr>
            <a:picLocks noChangeAspect="1"/>
          </p:cNvPicPr>
          <p:nvPr/>
        </p:nvPicPr>
        <p:blipFill rotWithShape="1">
          <a:blip r:embed="rId2"/>
          <a:srcRect t="33120"/>
          <a:stretch/>
        </p:blipFill>
        <p:spPr>
          <a:xfrm>
            <a:off x="581191" y="3618910"/>
            <a:ext cx="5876925" cy="3083214"/>
          </a:xfrm>
          <a:prstGeom prst="rect">
            <a:avLst/>
          </a:prstGeom>
        </p:spPr>
      </p:pic>
      <p:pic>
        <p:nvPicPr>
          <p:cNvPr id="7" name="Picture 6">
            <a:extLst>
              <a:ext uri="{FF2B5EF4-FFF2-40B4-BE49-F238E27FC236}">
                <a16:creationId xmlns:a16="http://schemas.microsoft.com/office/drawing/2014/main" id="{2B7799EB-F7C4-4749-9C5E-F1AF8ADEA780}"/>
              </a:ext>
            </a:extLst>
          </p:cNvPr>
          <p:cNvPicPr>
            <a:picLocks noChangeAspect="1"/>
          </p:cNvPicPr>
          <p:nvPr/>
        </p:nvPicPr>
        <p:blipFill rotWithShape="1">
          <a:blip r:embed="rId2"/>
          <a:srcRect l="12045" r="12652" b="67180"/>
          <a:stretch/>
        </p:blipFill>
        <p:spPr>
          <a:xfrm>
            <a:off x="6659038" y="4099691"/>
            <a:ext cx="4425516" cy="1513032"/>
          </a:xfrm>
          <a:prstGeom prst="rect">
            <a:avLst/>
          </a:prstGeom>
        </p:spPr>
      </p:pic>
    </p:spTree>
    <p:extLst>
      <p:ext uri="{BB962C8B-B14F-4D97-AF65-F5344CB8AC3E}">
        <p14:creationId xmlns:p14="http://schemas.microsoft.com/office/powerpoint/2010/main" val="3500081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Loading</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044813"/>
          </a:xfrm>
        </p:spPr>
        <p:txBody>
          <a:bodyPr anchor="t">
            <a:normAutofit/>
          </a:bodyPr>
          <a:lstStyle/>
          <a:p>
            <a:pPr marL="378900" indent="-342900"/>
            <a:r>
              <a:rPr lang="en-US" sz="2000" b="1" i="1" dirty="0"/>
              <a:t>Procedure for Loading Dimension Tables</a:t>
            </a:r>
          </a:p>
          <a:p>
            <a:pPr marL="702900" lvl="1" indent="-342900"/>
            <a:r>
              <a:rPr lang="en-US" sz="1800" dirty="0"/>
              <a:t>The procedure for maintaining the dimension tables includes two functions: </a:t>
            </a:r>
          </a:p>
          <a:p>
            <a:pPr marL="972900" lvl="2" indent="-342900">
              <a:buFont typeface="+mj-lt"/>
              <a:buAutoNum type="arabicPeriod"/>
            </a:pPr>
            <a:r>
              <a:rPr lang="en-US" sz="1600" dirty="0"/>
              <a:t>The initial loading of the tables; </a:t>
            </a:r>
          </a:p>
          <a:p>
            <a:pPr marL="972900" lvl="2" indent="-342900">
              <a:buFont typeface="+mj-lt"/>
              <a:buAutoNum type="arabicPeriod"/>
            </a:pPr>
            <a:r>
              <a:rPr lang="en-US" sz="1600" dirty="0"/>
              <a:t>Applying the changes on an ongoing basis.</a:t>
            </a:r>
          </a:p>
          <a:p>
            <a:pPr marL="702900" lvl="1" indent="-342900"/>
            <a:r>
              <a:rPr lang="en-US" sz="1800" dirty="0"/>
              <a:t>There are two issues:</a:t>
            </a:r>
          </a:p>
          <a:p>
            <a:pPr marL="972900" lvl="2" indent="-342900">
              <a:buFont typeface="+mj-lt"/>
              <a:buAutoNum type="arabicPeriod"/>
            </a:pPr>
            <a:r>
              <a:rPr lang="en-US" sz="1600" dirty="0"/>
              <a:t>About the keys of the records in the source systems</a:t>
            </a:r>
          </a:p>
          <a:p>
            <a:pPr marL="972900" lvl="2" indent="-342900">
              <a:buFont typeface="+mj-lt"/>
              <a:buAutoNum type="arabicPeriod"/>
            </a:pPr>
            <a:r>
              <a:rPr lang="en-US" sz="1600" dirty="0"/>
              <a:t>The keys of the records in the data warehouse.</a:t>
            </a:r>
          </a:p>
          <a:p>
            <a:pPr marL="702900" lvl="1" indent="-342900"/>
            <a:r>
              <a:rPr lang="en-US" sz="1800" dirty="0"/>
              <a:t>In the data warehouse, you use system generated keys.</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61</a:t>
            </a:fld>
            <a:endParaRPr lang="en-US" dirty="0"/>
          </a:p>
        </p:txBody>
      </p:sp>
    </p:spTree>
    <p:extLst>
      <p:ext uri="{BB962C8B-B14F-4D97-AF65-F5344CB8AC3E}">
        <p14:creationId xmlns:p14="http://schemas.microsoft.com/office/powerpoint/2010/main" val="2041171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Loading</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62</a:t>
            </a:fld>
            <a:endParaRPr lang="en-US" dirty="0"/>
          </a:p>
        </p:txBody>
      </p:sp>
      <p:pic>
        <p:nvPicPr>
          <p:cNvPr id="6" name="Picture 5">
            <a:extLst>
              <a:ext uri="{FF2B5EF4-FFF2-40B4-BE49-F238E27FC236}">
                <a16:creationId xmlns:a16="http://schemas.microsoft.com/office/drawing/2014/main" id="{F6800AB2-32C6-4509-933E-8D1BE38FBAF9}"/>
              </a:ext>
            </a:extLst>
          </p:cNvPr>
          <p:cNvPicPr>
            <a:picLocks noChangeAspect="1"/>
          </p:cNvPicPr>
          <p:nvPr/>
        </p:nvPicPr>
        <p:blipFill rotWithShape="1">
          <a:blip r:embed="rId2"/>
          <a:srcRect t="1615"/>
          <a:stretch/>
        </p:blipFill>
        <p:spPr>
          <a:xfrm>
            <a:off x="2025650" y="1884219"/>
            <a:ext cx="8343900" cy="4816764"/>
          </a:xfrm>
          <a:prstGeom prst="rect">
            <a:avLst/>
          </a:prstGeom>
        </p:spPr>
      </p:pic>
    </p:spTree>
    <p:extLst>
      <p:ext uri="{BB962C8B-B14F-4D97-AF65-F5344CB8AC3E}">
        <p14:creationId xmlns:p14="http://schemas.microsoft.com/office/powerpoint/2010/main" val="2987238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Loading</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4469686"/>
          </a:xfrm>
        </p:spPr>
        <p:txBody>
          <a:bodyPr anchor="t">
            <a:normAutofit fontScale="92500" lnSpcReduction="10000"/>
          </a:bodyPr>
          <a:lstStyle/>
          <a:p>
            <a:pPr marL="378900" indent="-342900"/>
            <a:r>
              <a:rPr lang="en-US" sz="2200" b="1" i="1" dirty="0"/>
              <a:t>Procedure for Loading Fact Tables</a:t>
            </a:r>
          </a:p>
          <a:p>
            <a:pPr marL="702900" lvl="1" indent="-342900"/>
            <a:r>
              <a:rPr lang="en-US" sz="1900" dirty="0"/>
              <a:t>The key of the fact table is the concatenation of the keys of the dimension tables. </a:t>
            </a:r>
          </a:p>
          <a:p>
            <a:pPr marL="702900" lvl="1" indent="-342900"/>
            <a:r>
              <a:rPr lang="en-US" sz="1900" dirty="0"/>
              <a:t>Therefore, dimension records are loaded first.  Then, before loading each fact table record, you have to create the concatenated key for the fact table record from the keys of the corresponding dimension records.</a:t>
            </a:r>
          </a:p>
          <a:p>
            <a:pPr marL="702900" lvl="1" indent="-342900"/>
            <a:r>
              <a:rPr lang="en-US" sz="1900" b="1" dirty="0"/>
              <a:t>History Load of Fact Tables:</a:t>
            </a:r>
          </a:p>
          <a:p>
            <a:pPr marL="972900" lvl="2" indent="-342900"/>
            <a:r>
              <a:rPr lang="en-US" sz="1700" dirty="0"/>
              <a:t>Identify historical data useful and interesting for the data warehouse.</a:t>
            </a:r>
          </a:p>
          <a:p>
            <a:pPr marL="972900" lvl="2" indent="-342900"/>
            <a:r>
              <a:rPr lang="en-US" sz="1700" dirty="0"/>
              <a:t>Define and refine extract business rules.</a:t>
            </a:r>
          </a:p>
          <a:p>
            <a:pPr marL="972900" lvl="2" indent="-342900"/>
            <a:r>
              <a:rPr lang="en-US" sz="1700" dirty="0"/>
              <a:t>Capture audit statistics to tie back to the operational systems.</a:t>
            </a:r>
          </a:p>
          <a:p>
            <a:pPr marL="972900" lvl="2" indent="-342900"/>
            <a:r>
              <a:rPr lang="en-US" sz="1700" dirty="0"/>
              <a:t>Perform fact table surrogate key look-up.</a:t>
            </a:r>
          </a:p>
          <a:p>
            <a:pPr marL="972900" lvl="2" indent="-342900"/>
            <a:r>
              <a:rPr lang="en-US" sz="1700" dirty="0"/>
              <a:t>Improve fact table content.</a:t>
            </a:r>
          </a:p>
          <a:p>
            <a:pPr marL="972900" lvl="2" indent="-342900"/>
            <a:r>
              <a:rPr lang="en-US" sz="1700" dirty="0"/>
              <a:t>Restructure the data.</a:t>
            </a:r>
          </a:p>
          <a:p>
            <a:pPr marL="972900" lvl="2" indent="-342900"/>
            <a:r>
              <a:rPr lang="en-US" sz="1700" dirty="0"/>
              <a:t>Prepare the load files.</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63</a:t>
            </a:fld>
            <a:endParaRPr lang="en-US" dirty="0"/>
          </a:p>
        </p:txBody>
      </p:sp>
    </p:spTree>
    <p:extLst>
      <p:ext uri="{BB962C8B-B14F-4D97-AF65-F5344CB8AC3E}">
        <p14:creationId xmlns:p14="http://schemas.microsoft.com/office/powerpoint/2010/main" val="28814480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Loading</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1899920"/>
            <a:ext cx="11029615" cy="4731790"/>
          </a:xfrm>
        </p:spPr>
        <p:txBody>
          <a:bodyPr anchor="t">
            <a:normAutofit/>
          </a:bodyPr>
          <a:lstStyle/>
          <a:p>
            <a:pPr marL="378900" indent="-342900"/>
            <a:r>
              <a:rPr lang="en-US" sz="2000" b="1" i="1" dirty="0"/>
              <a:t>Procedure for Loading Fact Tables</a:t>
            </a:r>
          </a:p>
          <a:p>
            <a:pPr marL="702900" lvl="1" indent="-342900"/>
            <a:r>
              <a:rPr lang="en-US" sz="2000" b="1" dirty="0"/>
              <a:t>Incremental Load for Fact Tables:</a:t>
            </a:r>
          </a:p>
          <a:p>
            <a:pPr marL="972900" lvl="2" indent="-342900"/>
            <a:r>
              <a:rPr lang="en-US" sz="2000" dirty="0"/>
              <a:t>Incremental extracts for fact tables</a:t>
            </a:r>
          </a:p>
          <a:p>
            <a:pPr marL="1314900" lvl="3" indent="-342900"/>
            <a:r>
              <a:rPr lang="en-US" sz="2000" dirty="0"/>
              <a:t>Consist of new transactions</a:t>
            </a:r>
          </a:p>
          <a:p>
            <a:pPr marL="1314900" lvl="3" indent="-342900"/>
            <a:r>
              <a:rPr lang="en-US" sz="2000" dirty="0"/>
              <a:t>Consist of update transactions</a:t>
            </a:r>
          </a:p>
          <a:p>
            <a:pPr marL="1314900" lvl="3" indent="-342900"/>
            <a:r>
              <a:rPr lang="en-US" sz="2000" dirty="0"/>
              <a:t>Use database transaction logs for data capture</a:t>
            </a:r>
          </a:p>
          <a:p>
            <a:pPr marL="972900" lvl="2" indent="-342900"/>
            <a:r>
              <a:rPr lang="en-US" sz="2000" dirty="0"/>
              <a:t>Incremental loads for fact tables</a:t>
            </a:r>
          </a:p>
          <a:p>
            <a:pPr marL="1314900" lvl="3" indent="-342900"/>
            <a:r>
              <a:rPr lang="en-US" sz="2000" dirty="0"/>
              <a:t>Load as frequently as feasible</a:t>
            </a:r>
          </a:p>
          <a:p>
            <a:pPr marL="1314900" lvl="3" indent="-342900"/>
            <a:r>
              <a:rPr lang="en-US" sz="2000" dirty="0"/>
              <a:t>Use partitioned files and indexes</a:t>
            </a:r>
          </a:p>
          <a:p>
            <a:pPr marL="1314900" lvl="3" indent="-342900"/>
            <a:r>
              <a:rPr lang="en-US" sz="2000" dirty="0"/>
              <a:t>Apply parallel processing techniques</a:t>
            </a:r>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64</a:t>
            </a:fld>
            <a:endParaRPr lang="en-US" dirty="0"/>
          </a:p>
        </p:txBody>
      </p:sp>
    </p:spTree>
    <p:extLst>
      <p:ext uri="{BB962C8B-B14F-4D97-AF65-F5344CB8AC3E}">
        <p14:creationId xmlns:p14="http://schemas.microsoft.com/office/powerpoint/2010/main" val="21124568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Replication</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2180496"/>
            <a:ext cx="11029615" cy="3832377"/>
          </a:xfrm>
        </p:spPr>
        <p:txBody>
          <a:bodyPr anchor="t">
            <a:noAutofit/>
          </a:bodyPr>
          <a:lstStyle/>
          <a:p>
            <a:r>
              <a:rPr lang="en-US" sz="2400" dirty="0"/>
              <a:t>Data replication is simply a method for creating copies of data in a distributed environment.</a:t>
            </a:r>
          </a:p>
          <a:p>
            <a:r>
              <a:rPr lang="en-US" sz="2400" dirty="0"/>
              <a:t>The broad steps for using replication to capture changes to source data:</a:t>
            </a:r>
          </a:p>
          <a:p>
            <a:pPr lvl="1"/>
            <a:r>
              <a:rPr lang="en-US" sz="2400" dirty="0"/>
              <a:t>Identify the source system database table</a:t>
            </a:r>
          </a:p>
          <a:p>
            <a:pPr lvl="1"/>
            <a:r>
              <a:rPr lang="en-US" sz="2400" dirty="0"/>
              <a:t>Identify and define target files in the staging area</a:t>
            </a:r>
          </a:p>
          <a:p>
            <a:pPr lvl="1"/>
            <a:r>
              <a:rPr lang="en-US" sz="2400" dirty="0"/>
              <a:t>Create mapping between the source table and target files</a:t>
            </a:r>
          </a:p>
          <a:p>
            <a:pPr lvl="1"/>
            <a:r>
              <a:rPr lang="en-US" sz="2400" dirty="0"/>
              <a:t>Define the replication mode</a:t>
            </a:r>
          </a:p>
          <a:p>
            <a:pPr lvl="1"/>
            <a:r>
              <a:rPr lang="en-US" sz="2400" dirty="0"/>
              <a:t>Schedule the replication process</a:t>
            </a:r>
            <a:endParaRPr lang="en-IN" sz="24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65</a:t>
            </a:fld>
            <a:endParaRPr lang="en-US" dirty="0"/>
          </a:p>
        </p:txBody>
      </p:sp>
    </p:spTree>
    <p:extLst>
      <p:ext uri="{BB962C8B-B14F-4D97-AF65-F5344CB8AC3E}">
        <p14:creationId xmlns:p14="http://schemas.microsoft.com/office/powerpoint/2010/main" val="42541929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Data Replication</a:t>
            </a:r>
          </a:p>
        </p:txBody>
      </p:sp>
      <p:pic>
        <p:nvPicPr>
          <p:cNvPr id="6" name="Content Placeholder 5">
            <a:extLst>
              <a:ext uri="{FF2B5EF4-FFF2-40B4-BE49-F238E27FC236}">
                <a16:creationId xmlns:a16="http://schemas.microsoft.com/office/drawing/2014/main" id="{6E4D4525-E756-461E-847D-0F1DB89D2195}"/>
              </a:ext>
            </a:extLst>
          </p:cNvPr>
          <p:cNvPicPr>
            <a:picLocks noGrp="1" noChangeAspect="1"/>
          </p:cNvPicPr>
          <p:nvPr>
            <p:ph idx="1"/>
          </p:nvPr>
        </p:nvPicPr>
        <p:blipFill>
          <a:blip r:embed="rId2"/>
          <a:stretch>
            <a:fillRect/>
          </a:stretch>
        </p:blipFill>
        <p:spPr>
          <a:xfrm>
            <a:off x="2745240" y="1816100"/>
            <a:ext cx="6685088" cy="4448155"/>
          </a:xfrm>
        </p:spPr>
      </p:pic>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66</a:t>
            </a:fld>
            <a:endParaRPr lang="en-US" dirty="0"/>
          </a:p>
        </p:txBody>
      </p:sp>
    </p:spTree>
    <p:extLst>
      <p:ext uri="{BB962C8B-B14F-4D97-AF65-F5344CB8AC3E}">
        <p14:creationId xmlns:p14="http://schemas.microsoft.com/office/powerpoint/2010/main" val="29734079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14450-7FDF-4876-B388-A35CB2E26388}"/>
              </a:ext>
            </a:extLst>
          </p:cNvPr>
          <p:cNvSpPr>
            <a:spLocks noGrp="1"/>
          </p:cNvSpPr>
          <p:nvPr>
            <p:ph type="title"/>
          </p:nvPr>
        </p:nvSpPr>
        <p:spPr/>
        <p:txBody>
          <a:bodyPr anchor="ctr">
            <a:normAutofit/>
          </a:bodyPr>
          <a:lstStyle/>
          <a:p>
            <a:r>
              <a:rPr lang="en-IN" sz="3600" cap="none" dirty="0"/>
              <a:t>ETL Tools</a:t>
            </a:r>
          </a:p>
        </p:txBody>
      </p:sp>
      <p:sp>
        <p:nvSpPr>
          <p:cNvPr id="3" name="Content Placeholder 2">
            <a:extLst>
              <a:ext uri="{FF2B5EF4-FFF2-40B4-BE49-F238E27FC236}">
                <a16:creationId xmlns:a16="http://schemas.microsoft.com/office/drawing/2014/main" id="{F346DBEB-7651-4C78-A63D-E35516758219}"/>
              </a:ext>
            </a:extLst>
          </p:cNvPr>
          <p:cNvSpPr>
            <a:spLocks noGrp="1"/>
          </p:cNvSpPr>
          <p:nvPr>
            <p:ph idx="1"/>
          </p:nvPr>
        </p:nvSpPr>
        <p:spPr>
          <a:xfrm>
            <a:off x="581192" y="1869440"/>
            <a:ext cx="11029615" cy="4886960"/>
          </a:xfrm>
        </p:spPr>
        <p:txBody>
          <a:bodyPr anchor="t">
            <a:noAutofit/>
          </a:bodyPr>
          <a:lstStyle/>
          <a:p>
            <a:r>
              <a:rPr lang="en-US" sz="2000" dirty="0"/>
              <a:t>ETL tools fall into the following three broad functional categories:</a:t>
            </a:r>
          </a:p>
          <a:p>
            <a:pPr marL="666900" lvl="1" indent="-342900">
              <a:buFont typeface="+mj-lt"/>
              <a:buAutoNum type="arabicPeriod"/>
            </a:pPr>
            <a:r>
              <a:rPr lang="en-IN" sz="2000" dirty="0"/>
              <a:t>Data transformation engines</a:t>
            </a:r>
          </a:p>
          <a:p>
            <a:pPr marL="936900" lvl="2" indent="-342900"/>
            <a:r>
              <a:rPr lang="en-US" sz="2000" dirty="0"/>
              <a:t>Captures data from a designated set of source systems at user-defined intervals, performs elaborate data transformations, sends the results to a target environment, and applies the data to target files.</a:t>
            </a:r>
          </a:p>
          <a:p>
            <a:pPr marL="666900" lvl="1" indent="-342900">
              <a:buFont typeface="+mj-lt"/>
              <a:buAutoNum type="arabicPeriod"/>
            </a:pPr>
            <a:r>
              <a:rPr lang="en-IN" sz="2000" dirty="0"/>
              <a:t>Data capture through replication</a:t>
            </a:r>
          </a:p>
          <a:p>
            <a:pPr marL="936900" lvl="2" indent="-342900"/>
            <a:r>
              <a:rPr lang="en-US" sz="2000" dirty="0"/>
              <a:t>The changes to the source systems captured in the transaction logs are replicated in near real time to the data staging area for further processing.</a:t>
            </a:r>
          </a:p>
          <a:p>
            <a:pPr marL="936900" lvl="2" indent="-342900"/>
            <a:r>
              <a:rPr lang="en-US" sz="2000" dirty="0"/>
              <a:t>Some tools provide the ability to replicate data through the use of database triggers.</a:t>
            </a:r>
          </a:p>
          <a:p>
            <a:pPr marL="666900" lvl="1" indent="-342900">
              <a:buFont typeface="+mj-lt"/>
              <a:buAutoNum type="arabicPeriod"/>
            </a:pPr>
            <a:r>
              <a:rPr lang="en-IN" sz="2000" dirty="0"/>
              <a:t>Code generators</a:t>
            </a:r>
          </a:p>
          <a:p>
            <a:pPr marL="936900" lvl="2" indent="-342900"/>
            <a:r>
              <a:rPr lang="en-US" sz="2000" dirty="0"/>
              <a:t>These tools directly deal with the extraction, transformation, and loading of data.</a:t>
            </a:r>
          </a:p>
          <a:p>
            <a:pPr marL="936900" lvl="2" indent="-342900"/>
            <a:r>
              <a:rPr lang="en-US" sz="2000" dirty="0"/>
              <a:t>Enable the process by generating program code to perform these functions.</a:t>
            </a:r>
            <a:endParaRPr lang="en-IN" sz="2000" dirty="0"/>
          </a:p>
          <a:p>
            <a:pPr lvl="1"/>
            <a:endParaRPr lang="en-IN" sz="2000" dirty="0"/>
          </a:p>
        </p:txBody>
      </p:sp>
      <p:sp>
        <p:nvSpPr>
          <p:cNvPr id="5" name="Slide Number Placeholder 4">
            <a:extLst>
              <a:ext uri="{FF2B5EF4-FFF2-40B4-BE49-F238E27FC236}">
                <a16:creationId xmlns:a16="http://schemas.microsoft.com/office/drawing/2014/main" id="{AC198D6B-AF8F-41F8-B80F-EB0505D6DB90}"/>
              </a:ext>
            </a:extLst>
          </p:cNvPr>
          <p:cNvSpPr>
            <a:spLocks noGrp="1"/>
          </p:cNvSpPr>
          <p:nvPr>
            <p:ph type="sldNum" sz="quarter" idx="12"/>
          </p:nvPr>
        </p:nvSpPr>
        <p:spPr/>
        <p:txBody>
          <a:bodyPr/>
          <a:lstStyle/>
          <a:p>
            <a:fld id="{D57F1E4F-1CFF-5643-939E-217C01CDF565}" type="slidenum">
              <a:rPr lang="en-US" smtClean="0"/>
              <a:pPr/>
              <a:t>67</a:t>
            </a:fld>
            <a:endParaRPr lang="en-US" dirty="0"/>
          </a:p>
        </p:txBody>
      </p:sp>
    </p:spTree>
    <p:extLst>
      <p:ext uri="{BB962C8B-B14F-4D97-AF65-F5344CB8AC3E}">
        <p14:creationId xmlns:p14="http://schemas.microsoft.com/office/powerpoint/2010/main" val="999572128"/>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1086</TotalTime>
  <Words>4950</Words>
  <Application>Microsoft Office PowerPoint</Application>
  <PresentationFormat>Widescreen</PresentationFormat>
  <Paragraphs>636</Paragraphs>
  <Slides>67</Slides>
  <Notes>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67</vt:i4>
      </vt:variant>
    </vt:vector>
  </HeadingPairs>
  <TitlesOfParts>
    <vt:vector size="72" baseType="lpstr">
      <vt:lpstr>Calibri</vt:lpstr>
      <vt:lpstr>Cambria</vt:lpstr>
      <vt:lpstr>Encode Sans Semi Expanded</vt:lpstr>
      <vt:lpstr>Wingdings 2</vt:lpstr>
      <vt:lpstr>Dividend</vt:lpstr>
      <vt:lpstr>Data Warehousing </vt:lpstr>
      <vt:lpstr>Need for Data Warehousing </vt:lpstr>
      <vt:lpstr>Components </vt:lpstr>
      <vt:lpstr>Components</vt:lpstr>
      <vt:lpstr>Real world Example of Data warehousing </vt:lpstr>
      <vt:lpstr>Banking </vt:lpstr>
      <vt:lpstr>Data Warehouse Architecture</vt:lpstr>
      <vt:lpstr>ETL Process</vt:lpstr>
      <vt:lpstr>What is ETL?</vt:lpstr>
      <vt:lpstr>What is ETL?</vt:lpstr>
      <vt:lpstr>Steps in ETL</vt:lpstr>
      <vt:lpstr>ETL Key Factors</vt:lpstr>
      <vt:lpstr>Data Extraction</vt:lpstr>
      <vt:lpstr>Data Extraction</vt:lpstr>
      <vt:lpstr>Data Extraction</vt:lpstr>
      <vt:lpstr>PowerPoint Presentation</vt:lpstr>
      <vt:lpstr>Data Extraction Techniques</vt:lpstr>
      <vt:lpstr>Data Extraction Techniques</vt:lpstr>
      <vt:lpstr>Data Extraction Techniques</vt:lpstr>
      <vt:lpstr>Data Extraction Techniques</vt:lpstr>
      <vt:lpstr>Data Extraction Techniques</vt:lpstr>
      <vt:lpstr>Data Extraction Techniques</vt:lpstr>
      <vt:lpstr>Data Extraction Techniques</vt:lpstr>
      <vt:lpstr>Data Extraction Techniques</vt:lpstr>
      <vt:lpstr>Data Extraction Techniques</vt:lpstr>
      <vt:lpstr>Data Extraction Techniques</vt:lpstr>
      <vt:lpstr>Data Extraction Techniques</vt:lpstr>
      <vt:lpstr>Data Extraction Techniques</vt:lpstr>
      <vt:lpstr>Data Extraction Techniques</vt:lpstr>
      <vt:lpstr>Data Transformation</vt:lpstr>
      <vt:lpstr>Data Transformation</vt:lpstr>
      <vt:lpstr>Data Transformation</vt:lpstr>
      <vt:lpstr>Data Transformation</vt:lpstr>
      <vt:lpstr>Data Transformation</vt:lpstr>
      <vt:lpstr>Data Transformation</vt:lpstr>
      <vt:lpstr>Data Transformation</vt:lpstr>
      <vt:lpstr>Data Transformation</vt:lpstr>
      <vt:lpstr>Data Transformation</vt:lpstr>
      <vt:lpstr>Data Transformation</vt:lpstr>
      <vt:lpstr>Data Transformation</vt:lpstr>
      <vt:lpstr>Data Transformation</vt:lpstr>
      <vt:lpstr>Data Transformation</vt:lpstr>
      <vt:lpstr>Data Transformation</vt:lpstr>
      <vt:lpstr>Data Transformation</vt:lpstr>
      <vt:lpstr>Data Loading</vt:lpstr>
      <vt:lpstr>Data Loading</vt:lpstr>
      <vt:lpstr>Data Loading</vt:lpstr>
      <vt:lpstr>Data Loading</vt:lpstr>
      <vt:lpstr>Data Loading</vt:lpstr>
      <vt:lpstr>Data Loading</vt:lpstr>
      <vt:lpstr>Data Loading</vt:lpstr>
      <vt:lpstr>Data Loading</vt:lpstr>
      <vt:lpstr>Data Loading</vt:lpstr>
      <vt:lpstr>Data Loading</vt:lpstr>
      <vt:lpstr>Data Loading</vt:lpstr>
      <vt:lpstr>Data Loading</vt:lpstr>
      <vt:lpstr>Data Loading</vt:lpstr>
      <vt:lpstr>Data Loading</vt:lpstr>
      <vt:lpstr>Data Loading</vt:lpstr>
      <vt:lpstr>Data Loading</vt:lpstr>
      <vt:lpstr>Data Loading</vt:lpstr>
      <vt:lpstr>Data Loading</vt:lpstr>
      <vt:lpstr>Data Loading</vt:lpstr>
      <vt:lpstr>Data Loading</vt:lpstr>
      <vt:lpstr>Data Replication</vt:lpstr>
      <vt:lpstr>Data Replication</vt:lpstr>
      <vt:lpstr>ETL Tools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ETL Process and OLAP</dc:title>
  <dc:creator>Rashmi Bhat</dc:creator>
  <cp:lastModifiedBy>Aamir Mir</cp:lastModifiedBy>
  <cp:revision>68</cp:revision>
  <dcterms:created xsi:type="dcterms:W3CDTF">2021-04-25T17:00:47Z</dcterms:created>
  <dcterms:modified xsi:type="dcterms:W3CDTF">2026-07-28T04:41:51Z</dcterms:modified>
</cp:coreProperties>
</file>