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76" r:id="rId2"/>
    <p:sldId id="277" r:id="rId3"/>
    <p:sldId id="278" r:id="rId4"/>
    <p:sldId id="257" r:id="rId5"/>
    <p:sldId id="258" r:id="rId6"/>
    <p:sldId id="259" r:id="rId7"/>
    <p:sldId id="260" r:id="rId8"/>
    <p:sldId id="279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5A8080D-9025-42E5-9971-556A0045D23D}" type="datetimeFigureOut">
              <a:rPr lang="en-US" smtClean="0"/>
              <a:pPr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7F44E58-8C39-4F23-BC1C-DD3329D5A1A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OLTP VS OLAP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OLTP (On-line Transaction Processing)</a:t>
            </a: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is characterized by a large number of short on-line transactions (INSERT, UPDATE, DELETE). </a:t>
            </a:r>
          </a:p>
          <a:p>
            <a:endParaRPr lang="en-US" dirty="0"/>
          </a:p>
          <a:p>
            <a:r>
              <a:rPr lang="en-US" dirty="0"/>
              <a:t>The main emphasis for OLTP systems is put on very fast query processing, maintaining data integrity in multi-access environments and an effectiveness measured by number of transactions per second.</a:t>
            </a:r>
          </a:p>
          <a:p>
            <a:endParaRPr lang="en-US" dirty="0"/>
          </a:p>
          <a:p>
            <a:r>
              <a:rPr lang="en-US" dirty="0"/>
              <a:t> In OLTP database there is detailed and current data, and schema used to store transactional databases is the entity model (usually 3NF). </a:t>
            </a:r>
            <a:br>
              <a:rPr lang="en-US" dirty="0"/>
            </a:br>
            <a:r>
              <a:rPr lang="en-US" dirty="0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OLAP (On-line Analytical Processing)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is characterized by relatively low volume of transactions. </a:t>
            </a:r>
          </a:p>
          <a:p>
            <a:endParaRPr lang="en-US" dirty="0"/>
          </a:p>
          <a:p>
            <a:r>
              <a:rPr lang="en-US" dirty="0"/>
              <a:t>Queries are often very complex and involve aggregations. </a:t>
            </a:r>
          </a:p>
          <a:p>
            <a:endParaRPr lang="en-US" dirty="0"/>
          </a:p>
          <a:p>
            <a:r>
              <a:rPr lang="en-US" dirty="0"/>
              <a:t>For OLAP systems a response time is an effectiveness measure. </a:t>
            </a:r>
          </a:p>
          <a:p>
            <a:endParaRPr lang="en-US" dirty="0"/>
          </a:p>
          <a:p>
            <a:r>
              <a:rPr lang="en-US" dirty="0"/>
              <a:t>OLAP applications are widely used by Data Mining techniques. </a:t>
            </a:r>
          </a:p>
          <a:p>
            <a:endParaRPr lang="en-US" dirty="0"/>
          </a:p>
          <a:p>
            <a:r>
              <a:rPr lang="en-US" dirty="0"/>
              <a:t>In OLAP database there is aggregated, historical data, stored in multi-dimensional schemas (usually star schema).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457200"/>
            <a:ext cx="7924800" cy="56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8077199" cy="5668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09600"/>
            <a:ext cx="7515225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01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8458200" cy="6094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WAREHOUSING AND OPERATIONAL DBMS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tx2">
                    <a:lumMod val="75000"/>
                  </a:schemeClr>
                </a:solidFill>
              </a:rPr>
              <a:t>What is Data Warehousing?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Definition: 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 algn="just">
              <a:defRPr/>
            </a:pPr>
            <a:r>
              <a:rPr lang="en-US" dirty="0"/>
              <a:t>A data warehouse is a copy of transaction data specifically structured for querying and reporting.</a:t>
            </a:r>
          </a:p>
          <a:p>
            <a:pPr marL="457200" indent="-457200" algn="just">
              <a:defRPr/>
            </a:pPr>
            <a:r>
              <a:rPr lang="en-US" dirty="0"/>
              <a:t>An expanded definition for data warehousing includes business intelligence tools, tools to extract, transform and load data into the repository, and tools to manage and retrieve metadata.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The form of the stored data has nothing to do with whether something is a data warehouse.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This definition of the data warehouse focuses on data storage.</a:t>
            </a:r>
          </a:p>
          <a:p>
            <a:pPr algn="just"/>
            <a:r>
              <a:rPr lang="en-US" dirty="0"/>
              <a:t>A data warehouse can be normalized or </a:t>
            </a:r>
            <a:r>
              <a:rPr lang="en-US" dirty="0" err="1"/>
              <a:t>denormalized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It can be a relational database, multidimensional database, flat file, hierarchical database, object database, etc.</a:t>
            </a:r>
          </a:p>
          <a:p>
            <a:pPr algn="just"/>
            <a:r>
              <a:rPr lang="en-US" dirty="0"/>
              <a:t>Data warehouse data often gets changed.</a:t>
            </a:r>
          </a:p>
          <a:p>
            <a:pPr algn="just"/>
            <a:r>
              <a:rPr lang="en-US" dirty="0"/>
              <a:t>And data warehouses often focus on a specific activity or entity.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Why Do We Need Data Warehouses?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dirty="0">
                <a:cs typeface="Times New Roman" pitchFamily="18" charset="0"/>
              </a:rPr>
              <a:t>Consolidation of information resources</a:t>
            </a:r>
          </a:p>
          <a:p>
            <a:pPr algn="just">
              <a:defRPr/>
            </a:pPr>
            <a:r>
              <a:rPr lang="en-US" dirty="0">
                <a:cs typeface="Times New Roman" pitchFamily="18" charset="0"/>
              </a:rPr>
              <a:t>Improved query performance</a:t>
            </a:r>
          </a:p>
          <a:p>
            <a:pPr algn="just">
              <a:defRPr/>
            </a:pPr>
            <a:r>
              <a:rPr lang="en-US" dirty="0">
                <a:cs typeface="Times New Roman" pitchFamily="18" charset="0"/>
              </a:rPr>
              <a:t>Separate research and decision support functions from the operational systems</a:t>
            </a:r>
          </a:p>
          <a:p>
            <a:pPr algn="just">
              <a:defRPr/>
            </a:pPr>
            <a:r>
              <a:rPr lang="en-US" dirty="0">
                <a:cs typeface="Times New Roman" pitchFamily="18" charset="0"/>
              </a:rPr>
              <a:t>Foundation for data mining, data visualization, advanced reporting and OLAP tools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data stored in the warehouse is uploaded from the operational systems.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data may pass through an operational data store for additional operations before it is used in the DW for reporting.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Operational DBMS is used to deal with the everyday running of one aspect of an enterprise. 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OLTP (on-line transaction processor) or Operational DBMS are usually designed independently of each other and it is difficult for them to share information.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How Do Data Warehouses Differ From Operational DBMS?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dirty="0">
                <a:cs typeface="Times New Roman" pitchFamily="18" charset="0"/>
              </a:rPr>
              <a:t>Goals</a:t>
            </a:r>
          </a:p>
          <a:p>
            <a:pPr algn="just">
              <a:defRPr/>
            </a:pPr>
            <a:r>
              <a:rPr lang="en-US" dirty="0">
                <a:cs typeface="Times New Roman" pitchFamily="18" charset="0"/>
              </a:rPr>
              <a:t>Structure</a:t>
            </a:r>
          </a:p>
          <a:p>
            <a:pPr algn="just">
              <a:defRPr/>
            </a:pPr>
            <a:r>
              <a:rPr lang="en-US" dirty="0">
                <a:cs typeface="Times New Roman" pitchFamily="18" charset="0"/>
              </a:rPr>
              <a:t>Size</a:t>
            </a:r>
          </a:p>
          <a:p>
            <a:pPr algn="just">
              <a:defRPr/>
            </a:pPr>
            <a:r>
              <a:rPr lang="en-US" dirty="0">
                <a:cs typeface="Times New Roman" pitchFamily="18" charset="0"/>
              </a:rPr>
              <a:t>Performance optimization</a:t>
            </a:r>
          </a:p>
          <a:p>
            <a:pPr algn="just">
              <a:defRPr/>
            </a:pPr>
            <a:r>
              <a:rPr lang="en-US" dirty="0">
                <a:cs typeface="Times New Roman" pitchFamily="18" charset="0"/>
              </a:rPr>
              <a:t>Technologies used</a:t>
            </a:r>
            <a:endParaRPr lang="en-US" dirty="0"/>
          </a:p>
          <a:p>
            <a:pPr marL="0" indent="0" algn="just">
              <a:buNone/>
              <a:defRPr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cs typeface="Arial" charset="0"/>
              </a:rPr>
              <a:t>How Do Data Warehouses Differ From Operational Systems?</a:t>
            </a:r>
            <a:endParaRPr lang="en-US" dirty="0"/>
          </a:p>
        </p:txBody>
      </p:sp>
      <p:graphicFrame>
        <p:nvGraphicFramePr>
          <p:cNvPr id="4" name="Group 2"/>
          <p:cNvGraphicFramePr>
            <a:graphicFrameLocks noGrp="1"/>
          </p:cNvGraphicFramePr>
          <p:nvPr>
            <p:ph sz="quarter" idx="1"/>
          </p:nvPr>
        </p:nvGraphicFramePr>
        <p:xfrm>
          <a:off x="457200" y="1600200"/>
          <a:ext cx="7467600" cy="4405181"/>
        </p:xfrm>
        <a:graphic>
          <a:graphicData uri="http://schemas.openxmlformats.org/drawingml/2006/table">
            <a:tbl>
              <a:tblPr/>
              <a:tblGrid>
                <a:gridCol w="3370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7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013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Data warehouse</a:t>
                      </a:r>
                    </a:p>
                  </a:txBody>
                  <a:tcPr marL="82973" marR="8297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Operational DBMS</a:t>
                      </a:r>
                    </a:p>
                  </a:txBody>
                  <a:tcPr marL="82973" marR="82973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013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Subject oriented</a:t>
                      </a:r>
                    </a:p>
                  </a:txBody>
                  <a:tcPr marL="82973" marR="8297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Transaction oriented</a:t>
                      </a:r>
                    </a:p>
                  </a:txBody>
                  <a:tcPr marL="82973" marR="82973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81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Large (hundreds of GB up to several TB)</a:t>
                      </a:r>
                    </a:p>
                  </a:txBody>
                  <a:tcPr marL="82973" marR="8297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Small (MB up to several GB)</a:t>
                      </a:r>
                    </a:p>
                  </a:txBody>
                  <a:tcPr marL="82973" marR="82973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13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Historic data</a:t>
                      </a:r>
                    </a:p>
                  </a:txBody>
                  <a:tcPr marL="82973" marR="8297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Current data</a:t>
                      </a:r>
                    </a:p>
                  </a:txBody>
                  <a:tcPr marL="82973" marR="82973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50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De-normalized table structure (few tables, many columns per table)</a:t>
                      </a:r>
                    </a:p>
                  </a:txBody>
                  <a:tcPr marL="82973" marR="8297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Normalized table structure (many tables, few columns per table)</a:t>
                      </a:r>
                    </a:p>
                  </a:txBody>
                  <a:tcPr marL="82973" marR="82973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13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Batch updates</a:t>
                      </a:r>
                    </a:p>
                  </a:txBody>
                  <a:tcPr marL="82973" marR="8297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Continuous updates</a:t>
                      </a:r>
                    </a:p>
                  </a:txBody>
                  <a:tcPr marL="82973" marR="82973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0137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Usually very complex queries</a:t>
                      </a:r>
                    </a:p>
                  </a:txBody>
                  <a:tcPr marL="82973" marR="8297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15000"/>
                        </a:spcBef>
                        <a:spcAft>
                          <a:spcPct val="0"/>
                        </a:spcAft>
                        <a:buClr>
                          <a:srgbClr val="074789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cs typeface="Times New Roman" pitchFamily="18" charset="0"/>
                        </a:rPr>
                        <a:t>Simple to complex queries</a:t>
                      </a:r>
                    </a:p>
                  </a:txBody>
                  <a:tcPr marL="82973" marR="82973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Differences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 bwMode="auto">
          <a:xfrm>
            <a:off x="6249988" y="5578475"/>
            <a:ext cx="1960562" cy="42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Monotype Sorts" pitchFamily="2" charset="2"/>
              <a:buNone/>
            </a:pPr>
            <a:r>
              <a:rPr lang="en-US" sz="2400"/>
              <a:t>Star Schema</a:t>
            </a:r>
          </a:p>
        </p:txBody>
      </p:sp>
      <p:graphicFrame>
        <p:nvGraphicFramePr>
          <p:cNvPr id="5" name="Object 1036"/>
          <p:cNvGraphicFramePr>
            <a:graphicFrameLocks noChangeAspect="1"/>
          </p:cNvGraphicFramePr>
          <p:nvPr/>
        </p:nvGraphicFramePr>
        <p:xfrm>
          <a:off x="5564188" y="2438400"/>
          <a:ext cx="2916237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984748" imgH="4613148" progId="">
                  <p:embed/>
                </p:oleObj>
              </mc:Choice>
              <mc:Fallback>
                <p:oleObj name="VISIO" r:id="rId2" imgW="5984748" imgH="4613148" progId="">
                  <p:embed/>
                  <p:pic>
                    <p:nvPicPr>
                      <p:cNvPr id="0" name="Object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4188" y="2438400"/>
                        <a:ext cx="2916237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037"/>
          <p:cNvGraphicFramePr>
            <a:graphicFrameLocks noChangeAspect="1"/>
          </p:cNvGraphicFramePr>
          <p:nvPr/>
        </p:nvGraphicFramePr>
        <p:xfrm>
          <a:off x="306388" y="1905000"/>
          <a:ext cx="3363912" cy="348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6435852" imgH="6670548" progId="">
                  <p:embed/>
                </p:oleObj>
              </mc:Choice>
              <mc:Fallback>
                <p:oleObj name="VISIO" r:id="rId4" imgW="6435852" imgH="6670548" progId="">
                  <p:embed/>
                  <p:pic>
                    <p:nvPicPr>
                      <p:cNvPr id="0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1905000"/>
                        <a:ext cx="3363912" cy="3487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39"/>
          <p:cNvSpPr txBox="1">
            <a:spLocks noChangeArrowheads="1"/>
          </p:cNvSpPr>
          <p:nvPr/>
        </p:nvSpPr>
        <p:spPr bwMode="auto">
          <a:xfrm>
            <a:off x="5868988" y="1447800"/>
            <a:ext cx="2205037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latin typeface="Times New Roman" pitchFamily="18" charset="0"/>
              </a:rPr>
              <a:t>Data Warehouse</a:t>
            </a:r>
          </a:p>
        </p:txBody>
      </p:sp>
      <p:sp>
        <p:nvSpPr>
          <p:cNvPr id="8" name="Text Box 1040"/>
          <p:cNvSpPr txBox="1">
            <a:spLocks noChangeArrowheads="1"/>
          </p:cNvSpPr>
          <p:nvPr/>
        </p:nvSpPr>
        <p:spPr bwMode="auto">
          <a:xfrm>
            <a:off x="611188" y="1371600"/>
            <a:ext cx="258596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itchFamily="18" charset="0"/>
              </a:rPr>
              <a:t>Operational DBMS</a:t>
            </a:r>
          </a:p>
        </p:txBody>
      </p:sp>
      <p:sp>
        <p:nvSpPr>
          <p:cNvPr id="9" name="Line 1043"/>
          <p:cNvSpPr>
            <a:spLocks noChangeShapeType="1"/>
          </p:cNvSpPr>
          <p:nvPr/>
        </p:nvSpPr>
        <p:spPr bwMode="auto">
          <a:xfrm>
            <a:off x="4573588" y="1600200"/>
            <a:ext cx="0" cy="419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Rectangle 1044"/>
          <p:cNvSpPr>
            <a:spLocks noChangeArrowheads="1"/>
          </p:cNvSpPr>
          <p:nvPr/>
        </p:nvSpPr>
        <p:spPr bwMode="auto">
          <a:xfrm>
            <a:off x="1165225" y="5595938"/>
            <a:ext cx="1960563" cy="4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287338" indent="-287338">
              <a:lnSpc>
                <a:spcPct val="90000"/>
              </a:lnSpc>
              <a:spcBef>
                <a:spcPct val="15000"/>
              </a:spcBef>
              <a:buClr>
                <a:srgbClr val="074789"/>
              </a:buClr>
              <a:buSzPct val="70000"/>
              <a:buFont typeface="Monotype Sorts" pitchFamily="2" charset="2"/>
              <a:buNone/>
            </a:pPr>
            <a:r>
              <a:rPr lang="en-US" sz="2400"/>
              <a:t>ER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chemeClr val="tx2">
                    <a:lumMod val="75000"/>
                  </a:schemeClr>
                </a:solidFill>
              </a:rPr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A data warehouse maintains its functions in three layers: staging, integration, and access.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Staging is used to store raw data for use by developers (analysis and support).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integration layer is used to integrate data and to have a level of abstraction from users.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access layer is for getting data out for users.</a:t>
            </a:r>
          </a:p>
          <a:p>
            <a:pPr algn="just"/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>
                <a:solidFill>
                  <a:schemeClr val="tx2">
                    <a:lumMod val="75000"/>
                  </a:schemeClr>
                </a:solidFill>
                <a:cs typeface="Arial" charset="0"/>
              </a:rPr>
              <a:t>What Is a Data Warehouse Used for?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en-US" dirty="0">
                <a:cs typeface="Times New Roman" pitchFamily="18" charset="0"/>
              </a:rPr>
              <a:t>Knowledge discovery</a:t>
            </a:r>
          </a:p>
          <a:p>
            <a:pPr lvl="1" algn="just"/>
            <a:r>
              <a:rPr lang="en-US" dirty="0">
                <a:cs typeface="Times New Roman" pitchFamily="18" charset="0"/>
              </a:rPr>
              <a:t>Making consolidated reports</a:t>
            </a:r>
          </a:p>
          <a:p>
            <a:pPr lvl="1" algn="just"/>
            <a:r>
              <a:rPr lang="en-US" dirty="0">
                <a:cs typeface="Times New Roman" pitchFamily="18" charset="0"/>
              </a:rPr>
              <a:t>Finding relationships and correlations</a:t>
            </a:r>
          </a:p>
          <a:p>
            <a:pPr lvl="1" algn="just"/>
            <a:r>
              <a:rPr lang="en-US" dirty="0">
                <a:cs typeface="Times New Roman" pitchFamily="18" charset="0"/>
              </a:rPr>
              <a:t>Data mining</a:t>
            </a:r>
          </a:p>
          <a:p>
            <a:pPr lvl="1" algn="just"/>
            <a:r>
              <a:rPr lang="en-US" dirty="0">
                <a:cs typeface="Times New Roman" pitchFamily="18" charset="0"/>
              </a:rPr>
              <a:t>Examples</a:t>
            </a:r>
          </a:p>
          <a:p>
            <a:pPr lvl="2" algn="just"/>
            <a:r>
              <a:rPr lang="en-US" dirty="0"/>
              <a:t>Banks identifying credit risks</a:t>
            </a:r>
          </a:p>
          <a:p>
            <a:pPr lvl="2" algn="just"/>
            <a:r>
              <a:rPr lang="en-US" dirty="0"/>
              <a:t>Insurance companies searching for fraud</a:t>
            </a:r>
          </a:p>
          <a:p>
            <a:pPr lvl="2" algn="just"/>
            <a:r>
              <a:rPr lang="en-US" dirty="0"/>
              <a:t>Medical research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2648</TotalTime>
  <Words>598</Words>
  <Application>Microsoft Office PowerPoint</Application>
  <PresentationFormat>On-screen Show (4:3)</PresentationFormat>
  <Paragraphs>83</Paragraphs>
  <Slides>18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Narrow</vt:lpstr>
      <vt:lpstr>Century Schoolbook</vt:lpstr>
      <vt:lpstr>Monotype Sorts</vt:lpstr>
      <vt:lpstr>Times New Roman</vt:lpstr>
      <vt:lpstr>Wingdings</vt:lpstr>
      <vt:lpstr>Wingdings 2</vt:lpstr>
      <vt:lpstr>Oriel</vt:lpstr>
      <vt:lpstr>VISIO</vt:lpstr>
      <vt:lpstr>OLTP VS OLAP</vt:lpstr>
      <vt:lpstr>OLTP (On-line Transaction Processing) </vt:lpstr>
      <vt:lpstr>OLAP (On-line Analytical Processing)</vt:lpstr>
      <vt:lpstr>PowerPoint Presentation</vt:lpstr>
      <vt:lpstr>PowerPoint Presentation</vt:lpstr>
      <vt:lpstr>PowerPoint Presentation</vt:lpstr>
      <vt:lpstr>PowerPoint Presentation</vt:lpstr>
      <vt:lpstr>DATA WAREHOUSING AND OPERATIONAL DBMS</vt:lpstr>
      <vt:lpstr>What is Data Warehousing?</vt:lpstr>
      <vt:lpstr>Definition:  </vt:lpstr>
      <vt:lpstr>The form of the stored data has nothing to do with whether something is a data warehouse. </vt:lpstr>
      <vt:lpstr>Why Do We Need Data Warehouses?</vt:lpstr>
      <vt:lpstr>PowerPoint Presentation</vt:lpstr>
      <vt:lpstr>How Do Data Warehouses Differ From Operational DBMS?</vt:lpstr>
      <vt:lpstr>How Do Data Warehouses Differ From Operational Systems?</vt:lpstr>
      <vt:lpstr>Design Differences</vt:lpstr>
      <vt:lpstr>Functions</vt:lpstr>
      <vt:lpstr>What Is a Data Warehouse Used for?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OLTP VS OLAP</dc:title>
  <dc:creator>Fazlu Muhyudin</dc:creator>
  <cp:lastModifiedBy>socs.lab2</cp:lastModifiedBy>
  <cp:revision>6</cp:revision>
  <dcterms:created xsi:type="dcterms:W3CDTF">2013-05-20T13:25:05Z</dcterms:created>
  <dcterms:modified xsi:type="dcterms:W3CDTF">2026-08-06T05:47:03Z</dcterms:modified>
</cp:coreProperties>
</file>