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60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2874724" y="1788815"/>
            <a:ext cx="3394454" cy="548580"/>
          </a:xfrm>
          <a:prstGeom prst="rect">
            <a:avLst/>
          </a:prstGeom>
          <a:noFill/>
          <a:ln/>
        </p:spPr>
        <p:txBody>
          <a:bodyPr wrap="square" lIns="0" tIns="0" rIns="0" bIns="0" rtlCol="0" anchor="t"/>
          <a:lstStyle/>
          <a:p>
            <a:pPr marL="0" indent="0" algn="ctr">
              <a:lnSpc>
                <a:spcPts val="4320"/>
              </a:lnSpc>
              <a:buNone/>
            </a:pPr>
            <a:r>
              <a:rPr lang="en-US" sz="3600" b="1" dirty="0">
                <a:solidFill>
                  <a:srgbClr val="38BDF8"/>
                </a:solidFill>
                <a:latin typeface="Arial" pitchFamily="34" charset="0"/>
                <a:ea typeface="Arial" pitchFamily="34" charset="-122"/>
                <a:cs typeface="Arial" pitchFamily="34" charset="-120"/>
              </a:rPr>
              <a:t>Data Collection</a:t>
            </a:r>
            <a:endParaRPr lang="en-US" sz="3600" dirty="0"/>
          </a:p>
        </p:txBody>
      </p:sp>
      <p:sp>
        <p:nvSpPr>
          <p:cNvPr id="3" name="Text 1"/>
          <p:cNvSpPr/>
          <p:nvPr/>
        </p:nvSpPr>
        <p:spPr>
          <a:xfrm>
            <a:off x="858758" y="2489795"/>
            <a:ext cx="7426387" cy="319980"/>
          </a:xfrm>
          <a:prstGeom prst="rect">
            <a:avLst/>
          </a:prstGeom>
          <a:noFill/>
          <a:ln/>
        </p:spPr>
        <p:txBody>
          <a:bodyPr wrap="square" lIns="0" tIns="0" rIns="0" bIns="0" rtlCol="0" anchor="t"/>
          <a:lstStyle/>
          <a:p>
            <a:pPr marL="0" indent="0" algn="ctr">
              <a:lnSpc>
                <a:spcPts val="2520"/>
              </a:lnSpc>
              <a:buNone/>
            </a:pPr>
            <a:r>
              <a:rPr lang="en-US" sz="1800" dirty="0">
                <a:solidFill>
                  <a:srgbClr val="CBD5E1"/>
                </a:solidFill>
                <a:latin typeface="Arial" pitchFamily="34" charset="0"/>
                <a:ea typeface="Arial" pitchFamily="34" charset="-122"/>
                <a:cs typeface="Arial" pitchFamily="34" charset="-120"/>
              </a:rPr>
              <a:t>Systematic Process of Gathering, Measuring, and Analyzing Information</a:t>
            </a:r>
            <a:endParaRPr lang="en-US" sz="1800" dirty="0"/>
          </a:p>
        </p:txBody>
      </p:sp>
      <p:sp>
        <p:nvSpPr>
          <p:cNvPr id="4" name="Text 2"/>
          <p:cNvSpPr/>
          <p:nvPr/>
        </p:nvSpPr>
        <p:spPr>
          <a:xfrm>
            <a:off x="1961871" y="3114576"/>
            <a:ext cx="5220159" cy="240010"/>
          </a:xfrm>
          <a:prstGeom prst="rect">
            <a:avLst/>
          </a:prstGeom>
          <a:noFill/>
          <a:ln/>
        </p:spPr>
        <p:txBody>
          <a:bodyPr wrap="square" lIns="0" tIns="0" rIns="0" bIns="0" rtlCol="0" anchor="t"/>
          <a:lstStyle/>
          <a:p>
            <a:pPr marL="0" indent="0" algn="ctr">
              <a:lnSpc>
                <a:spcPts val="1890"/>
              </a:lnSpc>
              <a:buNone/>
            </a:pPr>
            <a:r>
              <a:rPr lang="en-US" sz="1350" dirty="0">
                <a:solidFill>
                  <a:srgbClr val="94A3B8"/>
                </a:solidFill>
                <a:latin typeface="Arial" pitchFamily="34" charset="0"/>
                <a:ea typeface="Arial" pitchFamily="34" charset="-122"/>
                <a:cs typeface="Arial" pitchFamily="34" charset="-120"/>
              </a:rPr>
              <a:t>A Comprehensive Guide to Data Collection Methods and Strategies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What is Data Collection?</a:t>
            </a:r>
            <a:endParaRPr lang="en-US" sz="2700" dirty="0"/>
          </a:p>
        </p:txBody>
      </p:sp>
      <p:sp>
        <p:nvSpPr>
          <p:cNvPr id="3" name="Text 1"/>
          <p:cNvSpPr/>
          <p:nvPr/>
        </p:nvSpPr>
        <p:spPr>
          <a:xfrm>
            <a:off x="609600" y="1249660"/>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Data Collection is the process of collecting information from relevant sources to find a solution to the given statistical inquiry.</a:t>
            </a:r>
            <a:endParaRPr lang="en-US" sz="1350" dirty="0"/>
          </a:p>
        </p:txBody>
      </p:sp>
      <p:sp>
        <p:nvSpPr>
          <p:cNvPr id="4" name="Text 2"/>
          <p:cNvSpPr/>
          <p:nvPr/>
        </p:nvSpPr>
        <p:spPr>
          <a:xfrm>
            <a:off x="609600" y="1882080"/>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It is the </a:t>
            </a:r>
            <a:r>
              <a:rPr lang="en-US" sz="1350" b="1" dirty="0">
                <a:solidFill>
                  <a:srgbClr val="CBD5E1"/>
                </a:solidFill>
                <a:latin typeface="Arial" pitchFamily="34" charset="0"/>
                <a:ea typeface="Arial" pitchFamily="34" charset="-122"/>
                <a:cs typeface="Arial" pitchFamily="34" charset="-120"/>
              </a:rPr>
              <a:t>first and foremost step in a statistical investigation</a:t>
            </a:r>
            <a:r>
              <a:rPr lang="en-US" sz="1350" dirty="0">
                <a:solidFill>
                  <a:srgbClr val="CBD5E1"/>
                </a:solidFill>
                <a:latin typeface="Arial" pitchFamily="34" charset="0"/>
                <a:ea typeface="Arial" pitchFamily="34" charset="-122"/>
                <a:cs typeface="Arial" pitchFamily="34" charset="-120"/>
              </a:rPr>
              <a:t> and an essential step because it helps us:</a:t>
            </a:r>
            <a:endParaRPr lang="en-US" sz="1350" dirty="0"/>
          </a:p>
        </p:txBody>
      </p:sp>
      <p:sp>
        <p:nvSpPr>
          <p:cNvPr id="5" name="Text 3"/>
          <p:cNvSpPr/>
          <p:nvPr/>
        </p:nvSpPr>
        <p:spPr>
          <a:xfrm>
            <a:off x="914400" y="2590701"/>
            <a:ext cx="7620000" cy="1154311"/>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Make informed decisions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Spot trends and patterns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Measure progress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Different Methods of Collecting Data</a:t>
            </a:r>
            <a:endParaRPr lang="en-US" sz="2700" dirty="0"/>
          </a:p>
        </p:txBody>
      </p:sp>
      <p:sp>
        <p:nvSpPr>
          <p:cNvPr id="3" name="Text 1"/>
          <p:cNvSpPr/>
          <p:nvPr/>
        </p:nvSpPr>
        <p:spPr>
          <a:xfrm>
            <a:off x="914400" y="1249661"/>
            <a:ext cx="7620000" cy="2000052"/>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Interviews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Questionnaires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Observations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Experiments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Published Sources and Unpublished Sources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Terms Related to Data Collection (Part 1)</a:t>
            </a:r>
            <a:endParaRPr lang="en-US" sz="2700" dirty="0"/>
          </a:p>
        </p:txBody>
      </p:sp>
      <p:sp>
        <p:nvSpPr>
          <p:cNvPr id="3" name="Text 1"/>
          <p:cNvSpPr/>
          <p:nvPr/>
        </p:nvSpPr>
        <p:spPr>
          <a:xfrm>
            <a:off x="609600" y="1249661"/>
            <a:ext cx="7924800" cy="48002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Data:</a:t>
            </a:r>
            <a:r>
              <a:rPr lang="en-US" sz="1350" dirty="0">
                <a:solidFill>
                  <a:srgbClr val="CBD5E1"/>
                </a:solidFill>
                <a:latin typeface="Arial" pitchFamily="34" charset="0"/>
                <a:ea typeface="Arial" pitchFamily="34" charset="-122"/>
                <a:cs typeface="Arial" pitchFamily="34" charset="-120"/>
              </a:rPr>
              <a:t> A tool that helps an investigator understand the problem by providing required information. Can be classified as Primary Data or Secondary Data.</a:t>
            </a:r>
            <a:endParaRPr lang="en-US" sz="1350" dirty="0"/>
          </a:p>
        </p:txBody>
      </p:sp>
      <p:sp>
        <p:nvSpPr>
          <p:cNvPr id="4" name="Text 2"/>
          <p:cNvSpPr/>
          <p:nvPr/>
        </p:nvSpPr>
        <p:spPr>
          <a:xfrm>
            <a:off x="609600" y="1882080"/>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Investigator:</a:t>
            </a:r>
            <a:r>
              <a:rPr lang="en-US" sz="1350" dirty="0">
                <a:solidFill>
                  <a:srgbClr val="CBD5E1"/>
                </a:solidFill>
                <a:latin typeface="Arial" pitchFamily="34" charset="0"/>
                <a:ea typeface="Arial" pitchFamily="34" charset="-122"/>
                <a:cs typeface="Arial" pitchFamily="34" charset="-120"/>
              </a:rPr>
              <a:t> A person who conducts the statistical enquiry.</a:t>
            </a:r>
            <a:endParaRPr lang="en-US" sz="1350" dirty="0"/>
          </a:p>
        </p:txBody>
      </p:sp>
      <p:sp>
        <p:nvSpPr>
          <p:cNvPr id="5" name="Text 3"/>
          <p:cNvSpPr/>
          <p:nvPr/>
        </p:nvSpPr>
        <p:spPr>
          <a:xfrm>
            <a:off x="609600" y="2274491"/>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Enumerators:</a:t>
            </a:r>
            <a:r>
              <a:rPr lang="en-US" sz="1350" dirty="0">
                <a:solidFill>
                  <a:srgbClr val="CBD5E1"/>
                </a:solidFill>
                <a:latin typeface="Arial" pitchFamily="34" charset="0"/>
                <a:ea typeface="Arial" pitchFamily="34" charset="-122"/>
                <a:cs typeface="Arial" pitchFamily="34" charset="-120"/>
              </a:rPr>
              <a:t> People who help the investigator collect information for statistical enquiry.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Terms Related to Data Collection (Part 2)</a:t>
            </a:r>
            <a:endParaRPr lang="en-US" sz="2700" dirty="0"/>
          </a:p>
        </p:txBody>
      </p:sp>
      <p:sp>
        <p:nvSpPr>
          <p:cNvPr id="3" name="Text 1"/>
          <p:cNvSpPr/>
          <p:nvPr/>
        </p:nvSpPr>
        <p:spPr>
          <a:xfrm>
            <a:off x="609600" y="1249661"/>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Respondents:</a:t>
            </a:r>
            <a:r>
              <a:rPr lang="en-US" sz="1350" dirty="0">
                <a:solidFill>
                  <a:srgbClr val="CBD5E1"/>
                </a:solidFill>
                <a:latin typeface="Arial" pitchFamily="34" charset="0"/>
                <a:ea typeface="Arial" pitchFamily="34" charset="-122"/>
                <a:cs typeface="Arial" pitchFamily="34" charset="-120"/>
              </a:rPr>
              <a:t> A person from whom the statistical information required for the enquiry is collected.</a:t>
            </a:r>
            <a:endParaRPr lang="en-US" sz="1350" dirty="0"/>
          </a:p>
        </p:txBody>
      </p:sp>
      <p:sp>
        <p:nvSpPr>
          <p:cNvPr id="4" name="Text 2"/>
          <p:cNvSpPr/>
          <p:nvPr/>
        </p:nvSpPr>
        <p:spPr>
          <a:xfrm>
            <a:off x="609600" y="1642072"/>
            <a:ext cx="7924800" cy="72003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Survey:</a:t>
            </a:r>
            <a:r>
              <a:rPr lang="en-US" sz="1350" dirty="0">
                <a:solidFill>
                  <a:srgbClr val="CBD5E1"/>
                </a:solidFill>
                <a:latin typeface="Arial" pitchFamily="34" charset="0"/>
                <a:ea typeface="Arial" pitchFamily="34" charset="-122"/>
                <a:cs typeface="Arial" pitchFamily="34" charset="-120"/>
              </a:rPr>
              <a:t> A method of collecting information from individuals. The basic purpose is to collect data describing different characteristics such as usefulness, quality, price, kindness, etc. Involves asking questions about products or services from a large number of people.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a:t>
            </a:r>
            <a:endParaRPr lang="en-US" sz="2700" dirty="0"/>
          </a:p>
        </p:txBody>
      </p:sp>
      <p:sp>
        <p:nvSpPr>
          <p:cNvPr id="3" name="Text 1"/>
          <p:cNvSpPr/>
          <p:nvPr/>
        </p:nvSpPr>
        <p:spPr>
          <a:xfrm>
            <a:off x="609600" y="1249661"/>
            <a:ext cx="7924800" cy="48002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Definition:</a:t>
            </a:r>
            <a:r>
              <a:rPr lang="en-US" sz="1350" dirty="0">
                <a:solidFill>
                  <a:srgbClr val="CBD5E1"/>
                </a:solidFill>
                <a:latin typeface="Arial" pitchFamily="34" charset="0"/>
                <a:ea typeface="Arial" pitchFamily="34" charset="-122"/>
                <a:cs typeface="Arial" pitchFamily="34" charset="-120"/>
              </a:rPr>
              <a:t> Information collected directly from first-hand sources specifically for a particular research purpose.</a:t>
            </a:r>
            <a:endParaRPr lang="en-US" sz="1350" dirty="0"/>
          </a:p>
        </p:txBody>
      </p:sp>
      <p:sp>
        <p:nvSpPr>
          <p:cNvPr id="4" name="Text 2"/>
          <p:cNvSpPr/>
          <p:nvPr/>
        </p:nvSpPr>
        <p:spPr>
          <a:xfrm>
            <a:off x="609600" y="1882080"/>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Collection Methods:</a:t>
            </a:r>
            <a:r>
              <a:rPr lang="en-US" sz="1350" dirty="0">
                <a:solidFill>
                  <a:srgbClr val="CBD5E1"/>
                </a:solidFill>
                <a:latin typeface="Arial" pitchFamily="34" charset="0"/>
                <a:ea typeface="Arial" pitchFamily="34" charset="-122"/>
                <a:cs typeface="Arial" pitchFamily="34" charset="-120"/>
              </a:rPr>
              <a:t> Surveys, interviews, experiments, observations, and focus groups.</a:t>
            </a:r>
            <a:endParaRPr lang="en-US" sz="1350" dirty="0"/>
          </a:p>
        </p:txBody>
      </p:sp>
      <p:sp>
        <p:nvSpPr>
          <p:cNvPr id="5" name="Text 3"/>
          <p:cNvSpPr/>
          <p:nvPr/>
        </p:nvSpPr>
        <p:spPr>
          <a:xfrm>
            <a:off x="609600" y="2274491"/>
            <a:ext cx="7924800" cy="48002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Key Advantage:</a:t>
            </a:r>
            <a:r>
              <a:rPr lang="en-US" sz="1350" dirty="0">
                <a:solidFill>
                  <a:srgbClr val="CBD5E1"/>
                </a:solidFill>
                <a:latin typeface="Arial" pitchFamily="34" charset="0"/>
                <a:ea typeface="Arial" pitchFamily="34" charset="-122"/>
                <a:cs typeface="Arial" pitchFamily="34" charset="-120"/>
              </a:rPr>
              <a:t> Provides current, relevant, and specific information tailored to researcher's needs with high level of accuracy and control over data quality.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 Method 1: Interviews</a:t>
            </a:r>
            <a:endParaRPr lang="en-US" sz="2700" dirty="0"/>
          </a:p>
        </p:txBody>
      </p:sp>
      <p:sp>
        <p:nvSpPr>
          <p:cNvPr id="3" name="Text 1"/>
          <p:cNvSpPr/>
          <p:nvPr/>
        </p:nvSpPr>
        <p:spPr>
          <a:xfrm>
            <a:off x="609600" y="1249661"/>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Collect data through direct, one-on-one conversations with individuals. The investigator asks questions either directly from the source or from indirect links.</a:t>
            </a:r>
            <a:endParaRPr lang="en-US" sz="1350" dirty="0"/>
          </a:p>
        </p:txBody>
      </p:sp>
      <p:sp>
        <p:nvSpPr>
          <p:cNvPr id="4" name="Text 2"/>
          <p:cNvSpPr/>
          <p:nvPr/>
        </p:nvSpPr>
        <p:spPr>
          <a:xfrm>
            <a:off x="609600" y="1882080"/>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Direct Personal Investigation:</a:t>
            </a:r>
            <a:endParaRPr lang="en-US" sz="1350" dirty="0"/>
          </a:p>
        </p:txBody>
      </p:sp>
      <p:sp>
        <p:nvSpPr>
          <p:cNvPr id="5" name="Text 3"/>
          <p:cNvSpPr/>
          <p:nvPr/>
        </p:nvSpPr>
        <p:spPr>
          <a:xfrm>
            <a:off x="609600" y="2198291"/>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The investigator makes direct contact with the person to obtain information. Example: direct contact with household women to obtain information about their daily routine and schedule.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7924800" cy="82292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Interviews: Indirect Oral Investigation &amp; Advantages</a:t>
            </a:r>
            <a:endParaRPr lang="en-US" sz="2700" dirty="0"/>
          </a:p>
        </p:txBody>
      </p:sp>
      <p:sp>
        <p:nvSpPr>
          <p:cNvPr id="3" name="Text 1"/>
          <p:cNvSpPr/>
          <p:nvPr/>
        </p:nvSpPr>
        <p:spPr>
          <a:xfrm>
            <a:off x="609600" y="1661122"/>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Indirect Oral Investigation:</a:t>
            </a:r>
            <a:endParaRPr lang="en-US" sz="1350" dirty="0"/>
          </a:p>
        </p:txBody>
      </p:sp>
      <p:sp>
        <p:nvSpPr>
          <p:cNvPr id="4" name="Text 2"/>
          <p:cNvSpPr/>
          <p:nvPr/>
        </p:nvSpPr>
        <p:spPr>
          <a:xfrm>
            <a:off x="609600" y="1901130"/>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The investigator does not make direct contact but collects data orally from another person who has the information. Example: collecting employee data from their managers or superiors.</a:t>
            </a:r>
            <a:endParaRPr lang="en-US" sz="1350" dirty="0"/>
          </a:p>
        </p:txBody>
      </p:sp>
      <p:sp>
        <p:nvSpPr>
          <p:cNvPr id="5" name="Text 3"/>
          <p:cNvSpPr/>
          <p:nvPr/>
        </p:nvSpPr>
        <p:spPr>
          <a:xfrm>
            <a:off x="609600" y="2533552"/>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Advantage:</a:t>
            </a:r>
            <a:endParaRPr lang="en-US" sz="1350" dirty="0"/>
          </a:p>
        </p:txBody>
      </p:sp>
      <p:sp>
        <p:nvSpPr>
          <p:cNvPr id="6" name="Text 4"/>
          <p:cNvSpPr/>
          <p:nvPr/>
        </p:nvSpPr>
        <p:spPr>
          <a:xfrm>
            <a:off x="609600" y="2849761"/>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Provides real-time, natural data; no reliance on self-reported information.</a:t>
            </a:r>
            <a:endParaRPr lang="en-US" sz="1350" dirty="0"/>
          </a:p>
        </p:txBody>
      </p:sp>
      <p:sp>
        <p:nvSpPr>
          <p:cNvPr id="7" name="Text 5"/>
          <p:cNvSpPr/>
          <p:nvPr/>
        </p:nvSpPr>
        <p:spPr>
          <a:xfrm>
            <a:off x="609600" y="324217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Disadvantage:</a:t>
            </a:r>
            <a:endParaRPr lang="en-US" sz="1350" dirty="0"/>
          </a:p>
        </p:txBody>
      </p:sp>
      <p:sp>
        <p:nvSpPr>
          <p:cNvPr id="8" name="Text 6"/>
          <p:cNvSpPr/>
          <p:nvPr/>
        </p:nvSpPr>
        <p:spPr>
          <a:xfrm>
            <a:off x="609600" y="355838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Observer bias; limited to what can be seen; may influence subjects' behavior.</a:t>
            </a:r>
            <a:endParaRPr lang="en-US" sz="1350" dirty="0"/>
          </a:p>
        </p:txBody>
      </p:sp>
      <p:sp>
        <p:nvSpPr>
          <p:cNvPr id="9" name="Text 7"/>
          <p:cNvSpPr/>
          <p:nvPr/>
        </p:nvSpPr>
        <p:spPr>
          <a:xfrm>
            <a:off x="609600" y="3874591"/>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Suitable Use Case:</a:t>
            </a:r>
            <a:r>
              <a:rPr lang="en-US" sz="1350" dirty="0">
                <a:solidFill>
                  <a:srgbClr val="38BDF8"/>
                </a:solidFill>
                <a:latin typeface="Arial" pitchFamily="34" charset="0"/>
                <a:ea typeface="Arial" pitchFamily="34" charset="-122"/>
                <a:cs typeface="Arial" pitchFamily="34" charset="-120"/>
              </a:rPr>
              <a:t> </a:t>
            </a:r>
            <a:r>
              <a:rPr lang="en-US" sz="1350" dirty="0">
                <a:solidFill>
                  <a:srgbClr val="CBD5E1"/>
                </a:solidFill>
                <a:latin typeface="Arial" pitchFamily="34" charset="0"/>
                <a:ea typeface="Arial" pitchFamily="34" charset="-122"/>
                <a:cs typeface="Arial" pitchFamily="34" charset="-120"/>
              </a:rPr>
              <a:t>Behavioral studies, user experience research.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 Method 2: Questionnaires</a:t>
            </a:r>
            <a:endParaRPr lang="en-US" sz="2700" dirty="0"/>
          </a:p>
        </p:txBody>
      </p:sp>
      <p:sp>
        <p:nvSpPr>
          <p:cNvPr id="3" name="Text 1"/>
          <p:cNvSpPr/>
          <p:nvPr/>
        </p:nvSpPr>
        <p:spPr>
          <a:xfrm>
            <a:off x="609600" y="1249663"/>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Collect data by asking people a set of questions, either online, on paper, or face-to-face. The investigator prepares questionnaires keeping in mind the motive of the study.</a:t>
            </a:r>
            <a:endParaRPr lang="en-US" sz="1350" dirty="0"/>
          </a:p>
        </p:txBody>
      </p:sp>
      <p:sp>
        <p:nvSpPr>
          <p:cNvPr id="4" name="Text 2"/>
          <p:cNvSpPr/>
          <p:nvPr/>
        </p:nvSpPr>
        <p:spPr>
          <a:xfrm>
            <a:off x="609600" y="1882080"/>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Mailing Method:</a:t>
            </a:r>
            <a:endParaRPr lang="en-US" sz="1350" dirty="0"/>
          </a:p>
        </p:txBody>
      </p:sp>
      <p:sp>
        <p:nvSpPr>
          <p:cNvPr id="5" name="Text 3"/>
          <p:cNvSpPr/>
          <p:nvPr/>
        </p:nvSpPr>
        <p:spPr>
          <a:xfrm>
            <a:off x="609600" y="2198294"/>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Involves mailing questionnaires to informants. The investigator attaches a letter to define the purpose of the study or research.</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7924800" cy="82292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Questionnaires: Enumerator's Method &amp; Evaluation</a:t>
            </a:r>
            <a:endParaRPr lang="en-US" sz="2700" dirty="0"/>
          </a:p>
        </p:txBody>
      </p:sp>
      <p:sp>
        <p:nvSpPr>
          <p:cNvPr id="3" name="Text 1"/>
          <p:cNvSpPr/>
          <p:nvPr/>
        </p:nvSpPr>
        <p:spPr>
          <a:xfrm>
            <a:off x="609600" y="1661122"/>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Enumerator's Method:</a:t>
            </a:r>
            <a:endParaRPr lang="en-US" sz="1350" dirty="0"/>
          </a:p>
        </p:txBody>
      </p:sp>
      <p:sp>
        <p:nvSpPr>
          <p:cNvPr id="4" name="Text 2"/>
          <p:cNvSpPr/>
          <p:nvPr/>
        </p:nvSpPr>
        <p:spPr>
          <a:xfrm>
            <a:off x="609600" y="1901130"/>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Involves preparation of a questionnaire according to study purpose. The enumerator reaches out to informants directly with the questionnaire.</a:t>
            </a:r>
            <a:endParaRPr lang="en-US" sz="1350" dirty="0"/>
          </a:p>
        </p:txBody>
      </p:sp>
      <p:sp>
        <p:nvSpPr>
          <p:cNvPr id="5" name="Text 3"/>
          <p:cNvSpPr/>
          <p:nvPr/>
        </p:nvSpPr>
        <p:spPr>
          <a:xfrm>
            <a:off x="609600" y="2533552"/>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Advantage:</a:t>
            </a:r>
            <a:endParaRPr lang="en-US" sz="1350" dirty="0"/>
          </a:p>
        </p:txBody>
      </p:sp>
      <p:sp>
        <p:nvSpPr>
          <p:cNvPr id="6" name="Text 4"/>
          <p:cNvSpPr/>
          <p:nvPr/>
        </p:nvSpPr>
        <p:spPr>
          <a:xfrm>
            <a:off x="609600" y="2849761"/>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Can reach a large audience quickly and cost-effectively.</a:t>
            </a:r>
            <a:endParaRPr lang="en-US" sz="1350" dirty="0"/>
          </a:p>
        </p:txBody>
      </p:sp>
      <p:sp>
        <p:nvSpPr>
          <p:cNvPr id="7" name="Text 5"/>
          <p:cNvSpPr/>
          <p:nvPr/>
        </p:nvSpPr>
        <p:spPr>
          <a:xfrm>
            <a:off x="609600" y="324217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Disadvantage:</a:t>
            </a:r>
            <a:endParaRPr lang="en-US" sz="1350" dirty="0"/>
          </a:p>
        </p:txBody>
      </p:sp>
      <p:sp>
        <p:nvSpPr>
          <p:cNvPr id="8" name="Text 6"/>
          <p:cNvSpPr/>
          <p:nvPr/>
        </p:nvSpPr>
        <p:spPr>
          <a:xfrm>
            <a:off x="609600" y="355838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Responses may be biased or inaccurate; low response rates.</a:t>
            </a:r>
            <a:endParaRPr lang="en-US" sz="1350" dirty="0"/>
          </a:p>
        </p:txBody>
      </p:sp>
      <p:sp>
        <p:nvSpPr>
          <p:cNvPr id="9" name="Text 7"/>
          <p:cNvSpPr/>
          <p:nvPr/>
        </p:nvSpPr>
        <p:spPr>
          <a:xfrm>
            <a:off x="609600" y="3874591"/>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Suitable Use Case:</a:t>
            </a:r>
            <a:r>
              <a:rPr lang="en-US" sz="1350" dirty="0">
                <a:solidFill>
                  <a:srgbClr val="38BDF8"/>
                </a:solidFill>
                <a:latin typeface="Arial" pitchFamily="34" charset="0"/>
                <a:ea typeface="Arial" pitchFamily="34" charset="-122"/>
                <a:cs typeface="Arial" pitchFamily="34" charset="-120"/>
              </a:rPr>
              <a:t> </a:t>
            </a:r>
            <a:r>
              <a:rPr lang="en-US" sz="1350" dirty="0">
                <a:solidFill>
                  <a:srgbClr val="CBD5E1"/>
                </a:solidFill>
                <a:latin typeface="Arial" pitchFamily="34" charset="0"/>
                <a:ea typeface="Arial" pitchFamily="34" charset="-122"/>
                <a:cs typeface="Arial" pitchFamily="34" charset="-120"/>
              </a:rPr>
              <a:t>Customer satisfaction surveys, market research.</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 Method 3: Observations</a:t>
            </a:r>
            <a:endParaRPr lang="en-US" sz="2700" dirty="0"/>
          </a:p>
        </p:txBody>
      </p:sp>
      <p:sp>
        <p:nvSpPr>
          <p:cNvPr id="3" name="Text 1"/>
          <p:cNvSpPr/>
          <p:nvPr/>
        </p:nvSpPr>
        <p:spPr>
          <a:xfrm>
            <a:off x="609600" y="1249663"/>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The observation method involves collecting data by watching and recording behaviors, events, or conditions as they naturally occur. The observer systematically watches and notes specific aspects.</a:t>
            </a:r>
            <a:endParaRPr lang="en-US" sz="1350" dirty="0"/>
          </a:p>
        </p:txBody>
      </p:sp>
      <p:sp>
        <p:nvSpPr>
          <p:cNvPr id="4" name="Text 2"/>
          <p:cNvSpPr/>
          <p:nvPr/>
        </p:nvSpPr>
        <p:spPr>
          <a:xfrm>
            <a:off x="609600" y="1882080"/>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Advantage:</a:t>
            </a:r>
            <a:endParaRPr lang="en-US" sz="1350" dirty="0"/>
          </a:p>
        </p:txBody>
      </p:sp>
      <p:sp>
        <p:nvSpPr>
          <p:cNvPr id="5" name="Text 3"/>
          <p:cNvSpPr/>
          <p:nvPr/>
        </p:nvSpPr>
        <p:spPr>
          <a:xfrm>
            <a:off x="609600" y="21982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Provides real-time, authentic data without reliance on self-reported information.</a:t>
            </a:r>
            <a:endParaRPr lang="en-US" sz="1350" dirty="0"/>
          </a:p>
        </p:txBody>
      </p:sp>
      <p:sp>
        <p:nvSpPr>
          <p:cNvPr id="6" name="Text 4"/>
          <p:cNvSpPr/>
          <p:nvPr/>
        </p:nvSpPr>
        <p:spPr>
          <a:xfrm>
            <a:off x="609600" y="2590702"/>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Disadvantage:</a:t>
            </a:r>
            <a:endParaRPr lang="en-US" sz="1350" dirty="0"/>
          </a:p>
        </p:txBody>
      </p:sp>
      <p:sp>
        <p:nvSpPr>
          <p:cNvPr id="7" name="Text 5"/>
          <p:cNvSpPr/>
          <p:nvPr/>
        </p:nvSpPr>
        <p:spPr>
          <a:xfrm>
            <a:off x="609600" y="2906911"/>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Observer bias can influence results; observer presence might alter subjects' behavior.</a:t>
            </a:r>
            <a:endParaRPr lang="en-US" sz="1350" dirty="0"/>
          </a:p>
        </p:txBody>
      </p:sp>
      <p:sp>
        <p:nvSpPr>
          <p:cNvPr id="8" name="Text 6"/>
          <p:cNvSpPr/>
          <p:nvPr/>
        </p:nvSpPr>
        <p:spPr>
          <a:xfrm>
            <a:off x="609600" y="3299324"/>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Suitable Use Case:</a:t>
            </a:r>
            <a:r>
              <a:rPr lang="en-US" sz="1350" dirty="0">
                <a:solidFill>
                  <a:srgbClr val="38BDF8"/>
                </a:solidFill>
                <a:latin typeface="Arial" pitchFamily="34" charset="0"/>
                <a:ea typeface="Arial" pitchFamily="34" charset="-122"/>
                <a:cs typeface="Arial" pitchFamily="34" charset="-120"/>
              </a:rPr>
              <a:t> </a:t>
            </a:r>
            <a:r>
              <a:rPr lang="en-US" sz="1350" dirty="0">
                <a:solidFill>
                  <a:srgbClr val="CBD5E1"/>
                </a:solidFill>
                <a:latin typeface="Arial" pitchFamily="34" charset="0"/>
                <a:ea typeface="Arial" pitchFamily="34" charset="-122"/>
                <a:cs typeface="Arial" pitchFamily="34" charset="-120"/>
              </a:rPr>
              <a:t>User interactions with products, wildlife behavior, classroom dynamics.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 Method 4: Experiments</a:t>
            </a:r>
            <a:endParaRPr lang="en-US" sz="2700" dirty="0"/>
          </a:p>
        </p:txBody>
      </p:sp>
      <p:sp>
        <p:nvSpPr>
          <p:cNvPr id="3" name="Text 1"/>
          <p:cNvSpPr/>
          <p:nvPr/>
        </p:nvSpPr>
        <p:spPr>
          <a:xfrm>
            <a:off x="609600" y="1249663"/>
            <a:ext cx="7924800" cy="72003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The experiment method involves manipulating one or more variables to determine their effect on another variable within a controlled environment. Researchers create two groups (control and experimental), apply treatment, and compare outcomes.</a:t>
            </a:r>
            <a:endParaRPr lang="en-US" sz="1350" dirty="0"/>
          </a:p>
        </p:txBody>
      </p:sp>
      <p:sp>
        <p:nvSpPr>
          <p:cNvPr id="4" name="Text 2"/>
          <p:cNvSpPr/>
          <p:nvPr/>
        </p:nvSpPr>
        <p:spPr>
          <a:xfrm>
            <a:off x="609600" y="21220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Advantage:</a:t>
            </a:r>
            <a:endParaRPr lang="en-US" sz="1350" dirty="0"/>
          </a:p>
        </p:txBody>
      </p:sp>
      <p:sp>
        <p:nvSpPr>
          <p:cNvPr id="5" name="Text 3"/>
          <p:cNvSpPr/>
          <p:nvPr/>
        </p:nvSpPr>
        <p:spPr>
          <a:xfrm>
            <a:off x="609600" y="2438302"/>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Allows for establishment of cause-and-effect relationships with high precision.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Experiments: Disadvantage &amp; Use Cases</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Disadvantage:</a:t>
            </a:r>
            <a:endParaRPr lang="en-US" sz="1350" dirty="0"/>
          </a:p>
        </p:txBody>
      </p:sp>
      <p:sp>
        <p:nvSpPr>
          <p:cNvPr id="4" name="Text 2"/>
          <p:cNvSpPr/>
          <p:nvPr/>
        </p:nvSpPr>
        <p:spPr>
          <a:xfrm>
            <a:off x="609600" y="1565872"/>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Experiments can be artificial, limiting generalization to real-world settings, and can be resource-intensive.</a:t>
            </a:r>
            <a:endParaRPr lang="en-US" sz="1350" dirty="0"/>
          </a:p>
        </p:txBody>
      </p:sp>
      <p:sp>
        <p:nvSpPr>
          <p:cNvPr id="5" name="Text 3"/>
          <p:cNvSpPr/>
          <p:nvPr/>
        </p:nvSpPr>
        <p:spPr>
          <a:xfrm>
            <a:off x="609600" y="21982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Suitable Use Cases:</a:t>
            </a:r>
            <a:endParaRPr lang="en-US" sz="1350" dirty="0"/>
          </a:p>
        </p:txBody>
      </p:sp>
      <p:sp>
        <p:nvSpPr>
          <p:cNvPr id="6" name="Text 4"/>
          <p:cNvSpPr/>
          <p:nvPr/>
        </p:nvSpPr>
        <p:spPr>
          <a:xfrm>
            <a:off x="914400" y="2514502"/>
            <a:ext cx="7620000" cy="1154311"/>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Testing efficacy of a new drug</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Assessing impact of new teaching methods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Evaluating effect of marketing campaigns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 Method 5: Focus Groups</a:t>
            </a:r>
            <a:endParaRPr lang="en-US" sz="2700" dirty="0"/>
          </a:p>
        </p:txBody>
      </p:sp>
      <p:sp>
        <p:nvSpPr>
          <p:cNvPr id="3" name="Text 1"/>
          <p:cNvSpPr/>
          <p:nvPr/>
        </p:nvSpPr>
        <p:spPr>
          <a:xfrm>
            <a:off x="609600" y="1249663"/>
            <a:ext cx="7924800" cy="72003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The focus group method involves gathering a small group of people (6-12 participants) to discuss a specific topic or product, facilitated by a moderator who asks open-ended questions to elicit opinions, attitudes, and perceptions.</a:t>
            </a:r>
            <a:endParaRPr lang="en-US" sz="1350" dirty="0"/>
          </a:p>
        </p:txBody>
      </p:sp>
      <p:sp>
        <p:nvSpPr>
          <p:cNvPr id="4" name="Text 2"/>
          <p:cNvSpPr/>
          <p:nvPr/>
        </p:nvSpPr>
        <p:spPr>
          <a:xfrm>
            <a:off x="609600" y="21220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Advantage:</a:t>
            </a:r>
            <a:endParaRPr lang="en-US" sz="1350" dirty="0"/>
          </a:p>
        </p:txBody>
      </p:sp>
      <p:sp>
        <p:nvSpPr>
          <p:cNvPr id="5" name="Text 3"/>
          <p:cNvSpPr/>
          <p:nvPr/>
        </p:nvSpPr>
        <p:spPr>
          <a:xfrm>
            <a:off x="609600" y="2438302"/>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Provides in-depth insights and diverse perspectives through interactive discussions, revealing reasoning behind participants' thoughts and feelings.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Focus Groups: Disadvantage &amp; Use Cases</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Disadvantage:</a:t>
            </a:r>
            <a:endParaRPr lang="en-US" sz="1350" dirty="0"/>
          </a:p>
        </p:txBody>
      </p:sp>
      <p:sp>
        <p:nvSpPr>
          <p:cNvPr id="4" name="Text 2"/>
          <p:cNvSpPr/>
          <p:nvPr/>
        </p:nvSpPr>
        <p:spPr>
          <a:xfrm>
            <a:off x="609600" y="1565872"/>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Results can be influenced by dominant participants or groupthink; findings not easily generalizable due to small, non-representative sample size.</a:t>
            </a:r>
            <a:endParaRPr lang="en-US" sz="1350" dirty="0"/>
          </a:p>
        </p:txBody>
      </p:sp>
      <p:sp>
        <p:nvSpPr>
          <p:cNvPr id="5" name="Text 3"/>
          <p:cNvSpPr/>
          <p:nvPr/>
        </p:nvSpPr>
        <p:spPr>
          <a:xfrm>
            <a:off x="609600" y="21982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Suitable Use Cases:</a:t>
            </a:r>
            <a:endParaRPr lang="en-US" sz="1350" dirty="0"/>
          </a:p>
        </p:txBody>
      </p:sp>
      <p:sp>
        <p:nvSpPr>
          <p:cNvPr id="6" name="Text 4"/>
          <p:cNvSpPr/>
          <p:nvPr/>
        </p:nvSpPr>
        <p:spPr>
          <a:xfrm>
            <a:off x="914400" y="2514502"/>
            <a:ext cx="7620000" cy="1154311"/>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Exploring customer attitudes towards new products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Gathering feedback on marketing campaigns</a:t>
            </a:r>
            <a:endParaRPr lang="en-US" sz="1350" dirty="0"/>
          </a:p>
          <a:p>
            <a:pPr marL="342900" indent="-342900">
              <a:lnSpc>
                <a:spcPts val="2430"/>
              </a:lnSpc>
              <a:buSzPct val="100000"/>
              <a:buChar char="•"/>
            </a:pPr>
            <a:r>
              <a:rPr lang="en-US" sz="1350" dirty="0">
                <a:solidFill>
                  <a:srgbClr val="CBD5E1"/>
                </a:solidFill>
                <a:latin typeface="Arial" pitchFamily="34" charset="0"/>
                <a:ea typeface="Arial" pitchFamily="34" charset="-122"/>
                <a:cs typeface="Arial" pitchFamily="34" charset="-120"/>
              </a:rPr>
              <a:t>Understanding public opinion on social issues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Primary Data Method 6: Local Sources</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Information from Local Sources or Correspondents:</a:t>
            </a:r>
            <a:endParaRPr lang="en-US" sz="1350" dirty="0"/>
          </a:p>
        </p:txBody>
      </p:sp>
      <p:sp>
        <p:nvSpPr>
          <p:cNvPr id="4" name="Text 2"/>
          <p:cNvSpPr/>
          <p:nvPr/>
        </p:nvSpPr>
        <p:spPr>
          <a:xfrm>
            <a:off x="609600" y="1642077"/>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The investigator appoints correspondents or local persons at various places, who are then furnished with data. With the help of correspondents and local persons, investigators can cover a wide area.</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Secondary Data</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Definition:</a:t>
            </a:r>
            <a:r>
              <a:rPr lang="en-US" sz="1350" dirty="0">
                <a:solidFill>
                  <a:srgbClr val="CBD5E1"/>
                </a:solidFill>
                <a:latin typeface="Arial" pitchFamily="34" charset="0"/>
                <a:ea typeface="Arial" pitchFamily="34" charset="-122"/>
                <a:cs typeface="Arial" pitchFamily="34" charset="-120"/>
              </a:rPr>
              <a:t> Information that has already been collected, processed, and published by others.</a:t>
            </a:r>
            <a:endParaRPr lang="en-US" sz="1350" dirty="0"/>
          </a:p>
        </p:txBody>
      </p:sp>
      <p:sp>
        <p:nvSpPr>
          <p:cNvPr id="4" name="Text 2"/>
          <p:cNvSpPr/>
          <p:nvPr/>
        </p:nvSpPr>
        <p:spPr>
          <a:xfrm>
            <a:off x="609600" y="1642077"/>
            <a:ext cx="7924800" cy="48002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Sources:</a:t>
            </a:r>
            <a:r>
              <a:rPr lang="en-US" sz="1350" dirty="0">
                <a:solidFill>
                  <a:srgbClr val="CBD5E1"/>
                </a:solidFill>
                <a:latin typeface="Arial" pitchFamily="34" charset="0"/>
                <a:ea typeface="Arial" pitchFamily="34" charset="-122"/>
                <a:cs typeface="Arial" pitchFamily="34" charset="-120"/>
              </a:rPr>
              <a:t> Existing research papers, government reports, books, statistical databases, and company records.</a:t>
            </a:r>
            <a:endParaRPr lang="en-US" sz="1350" dirty="0"/>
          </a:p>
        </p:txBody>
      </p:sp>
      <p:sp>
        <p:nvSpPr>
          <p:cNvPr id="5" name="Text 3"/>
          <p:cNvSpPr/>
          <p:nvPr/>
        </p:nvSpPr>
        <p:spPr>
          <a:xfrm>
            <a:off x="609600" y="2274494"/>
            <a:ext cx="7924800" cy="480020"/>
          </a:xfrm>
          <a:prstGeom prst="rect">
            <a:avLst/>
          </a:prstGeom>
          <a:noFill/>
          <a:ln/>
        </p:spPr>
        <p:txBody>
          <a:bodyPr wrap="square" lIns="0" tIns="0" rIns="0" bIns="0" rtlCol="0" anchor="t"/>
          <a:lstStyle/>
          <a:p>
            <a:pPr marL="0" indent="0">
              <a:lnSpc>
                <a:spcPts val="1890"/>
              </a:lnSpc>
              <a:buNone/>
            </a:pPr>
            <a:r>
              <a:rPr lang="en-US" sz="1350" b="1" dirty="0">
                <a:solidFill>
                  <a:srgbClr val="38BDF8"/>
                </a:solidFill>
                <a:latin typeface="Arial" pitchFamily="34" charset="0"/>
                <a:ea typeface="Arial" pitchFamily="34" charset="-122"/>
                <a:cs typeface="Arial" pitchFamily="34" charset="-120"/>
              </a:rPr>
              <a:t>Key Advantage:</a:t>
            </a:r>
            <a:r>
              <a:rPr lang="en-US" sz="1350" dirty="0">
                <a:solidFill>
                  <a:srgbClr val="CBD5E1"/>
                </a:solidFill>
                <a:latin typeface="Arial" pitchFamily="34" charset="0"/>
                <a:ea typeface="Arial" pitchFamily="34" charset="-122"/>
                <a:cs typeface="Arial" pitchFamily="34" charset="-120"/>
              </a:rPr>
              <a:t> Readily available and often free or less expensive to obtain. Saves time and resources since collection phase already completed.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Methods of Collecting Secondary Data (Part 1)</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1. Government Publications:</a:t>
            </a:r>
            <a:endParaRPr lang="en-US" sz="1350" dirty="0"/>
          </a:p>
        </p:txBody>
      </p:sp>
      <p:sp>
        <p:nvSpPr>
          <p:cNvPr id="4" name="Text 2"/>
          <p:cNvSpPr/>
          <p:nvPr/>
        </p:nvSpPr>
        <p:spPr>
          <a:xfrm>
            <a:off x="609600" y="1565877"/>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Government publishes documents with data from Ministries, Central and State Governments. Fairly reliable since officially published. Examples: Annual Survey of Industries, Statistical Abstract of India.</a:t>
            </a:r>
            <a:endParaRPr lang="en-US" sz="1350" dirty="0"/>
          </a:p>
        </p:txBody>
      </p:sp>
      <p:sp>
        <p:nvSpPr>
          <p:cNvPr id="5" name="Text 3"/>
          <p:cNvSpPr/>
          <p:nvPr/>
        </p:nvSpPr>
        <p:spPr>
          <a:xfrm>
            <a:off x="609600" y="21982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2. Semi-Government Publications:</a:t>
            </a:r>
            <a:endParaRPr lang="en-US" sz="1350" dirty="0"/>
          </a:p>
        </p:txBody>
      </p:sp>
      <p:sp>
        <p:nvSpPr>
          <p:cNvPr id="6" name="Text 4"/>
          <p:cNvSpPr/>
          <p:nvPr/>
        </p:nvSpPr>
        <p:spPr>
          <a:xfrm>
            <a:off x="609600" y="2514507"/>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Semi-Government bodies publish data on health, education, deaths and births. Reliable sources. Examples: Metropolitan Councils, Municipalities.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Methods of Collecting Secondary Data (Part 2)</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3. Publications of Trade Associations:</a:t>
            </a:r>
            <a:endParaRPr lang="en-US" sz="1350" dirty="0"/>
          </a:p>
        </p:txBody>
      </p:sp>
      <p:sp>
        <p:nvSpPr>
          <p:cNvPr id="4" name="Text 2"/>
          <p:cNvSpPr/>
          <p:nvPr/>
        </p:nvSpPr>
        <p:spPr>
          <a:xfrm>
            <a:off x="609600" y="1565877"/>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Large trade associations collect and publish data on trading activities. Example: Sugar Mills Association data on sugar mills in India.</a:t>
            </a:r>
            <a:endParaRPr lang="en-US" sz="1350" dirty="0"/>
          </a:p>
        </p:txBody>
      </p:sp>
      <p:sp>
        <p:nvSpPr>
          <p:cNvPr id="5" name="Text 3"/>
          <p:cNvSpPr/>
          <p:nvPr/>
        </p:nvSpPr>
        <p:spPr>
          <a:xfrm>
            <a:off x="609600" y="21982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4. Journals and Papers:</a:t>
            </a:r>
            <a:endParaRPr lang="en-US" sz="1350" dirty="0"/>
          </a:p>
        </p:txBody>
      </p:sp>
      <p:sp>
        <p:nvSpPr>
          <p:cNvPr id="6" name="Text 4"/>
          <p:cNvSpPr/>
          <p:nvPr/>
        </p:nvSpPr>
        <p:spPr>
          <a:xfrm>
            <a:off x="609600" y="2514507"/>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Newspapers and magazines provide various statistical data used by investigators in their studies.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Methods of Collecting Secondary Data (Part 3)</a:t>
            </a:r>
            <a:endParaRPr lang="en-US" sz="2700" dirty="0"/>
          </a:p>
        </p:txBody>
      </p:sp>
      <p:sp>
        <p:nvSpPr>
          <p:cNvPr id="3" name="Text 1"/>
          <p:cNvSpPr/>
          <p:nvPr/>
        </p:nvSpPr>
        <p:spPr>
          <a:xfrm>
            <a:off x="609600" y="1249663"/>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5. International Publications:</a:t>
            </a:r>
            <a:endParaRPr lang="en-US" sz="1350" dirty="0"/>
          </a:p>
        </p:txBody>
      </p:sp>
      <p:sp>
        <p:nvSpPr>
          <p:cNvPr id="4" name="Text 2"/>
          <p:cNvSpPr/>
          <p:nvPr/>
        </p:nvSpPr>
        <p:spPr>
          <a:xfrm>
            <a:off x="609600" y="1565877"/>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International organizations like IMF, UNO, ILO, World Bank publish statistical information used as secondary data.</a:t>
            </a:r>
            <a:endParaRPr lang="en-US" sz="1350" dirty="0"/>
          </a:p>
        </p:txBody>
      </p:sp>
      <p:sp>
        <p:nvSpPr>
          <p:cNvPr id="5" name="Text 3"/>
          <p:cNvSpPr/>
          <p:nvPr/>
        </p:nvSpPr>
        <p:spPr>
          <a:xfrm>
            <a:off x="609600" y="2198294"/>
            <a:ext cx="8083296" cy="240010"/>
          </a:xfrm>
          <a:prstGeom prst="rect">
            <a:avLst/>
          </a:prstGeom>
          <a:noFill/>
          <a:ln/>
        </p:spPr>
        <p:txBody>
          <a:bodyPr wrap="square" lIns="0" tIns="0" rIns="0" bIns="0" rtlCol="0" anchor="t"/>
          <a:lstStyle/>
          <a:p>
            <a:pPr marL="0" indent="0">
              <a:lnSpc>
                <a:spcPts val="1890"/>
              </a:lnSpc>
              <a:buNone/>
            </a:pPr>
            <a:r>
              <a:rPr lang="en-US" sz="1350" dirty="0">
                <a:solidFill>
                  <a:srgbClr val="38BDF8"/>
                </a:solidFill>
                <a:latin typeface="Arial" pitchFamily="34" charset="0"/>
                <a:ea typeface="Arial" pitchFamily="34" charset="-122"/>
                <a:cs typeface="Arial" pitchFamily="34" charset="-120"/>
              </a:rPr>
              <a:t>6. Publications of Research Institutions:</a:t>
            </a:r>
            <a:endParaRPr lang="en-US" sz="1350" dirty="0"/>
          </a:p>
        </p:txBody>
      </p:sp>
      <p:sp>
        <p:nvSpPr>
          <p:cNvPr id="6" name="Text 4"/>
          <p:cNvSpPr/>
          <p:nvPr/>
        </p:nvSpPr>
        <p:spPr>
          <a:xfrm>
            <a:off x="609600" y="2514507"/>
            <a:ext cx="7924800" cy="480020"/>
          </a:xfrm>
          <a:prstGeom prst="rect">
            <a:avLst/>
          </a:prstGeom>
          <a:noFill/>
          <a:ln/>
        </p:spPr>
        <p:txBody>
          <a:bodyPr wrap="square" lIns="0" tIns="0" rIns="0" bIns="0" rtlCol="0" anchor="t"/>
          <a:lstStyle/>
          <a:p>
            <a:pPr marL="0" indent="0">
              <a:lnSpc>
                <a:spcPts val="1890"/>
              </a:lnSpc>
              <a:buNone/>
            </a:pPr>
            <a:r>
              <a:rPr lang="en-US" sz="1350" dirty="0">
                <a:solidFill>
                  <a:srgbClr val="CBD5E1"/>
                </a:solidFill>
                <a:latin typeface="Arial" pitchFamily="34" charset="0"/>
                <a:ea typeface="Arial" pitchFamily="34" charset="-122"/>
                <a:cs typeface="Arial" pitchFamily="34" charset="-120"/>
              </a:rPr>
              <a:t>Research institutions and universities publish their research activities and findings. Examples: National Council of Applied Economics, Indian Statistical Institute.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3635973" y="1845971"/>
            <a:ext cx="1871954" cy="411460"/>
          </a:xfrm>
          <a:prstGeom prst="rect">
            <a:avLst/>
          </a:prstGeom>
          <a:noFill/>
          <a:ln/>
        </p:spPr>
        <p:txBody>
          <a:bodyPr wrap="square" lIns="0" tIns="0" rIns="0" bIns="0" rtlCol="0" anchor="t"/>
          <a:lstStyle/>
          <a:p>
            <a:pPr marL="0" indent="0" algn="ctr">
              <a:lnSpc>
                <a:spcPts val="3240"/>
              </a:lnSpc>
              <a:buNone/>
            </a:pPr>
            <a:r>
              <a:rPr lang="en-US" sz="2700" b="1" dirty="0">
                <a:solidFill>
                  <a:srgbClr val="38BDF8"/>
                </a:solidFill>
                <a:latin typeface="Arial" pitchFamily="34" charset="0"/>
                <a:ea typeface="Arial" pitchFamily="34" charset="-122"/>
                <a:cs typeface="Arial" pitchFamily="34" charset="-120"/>
              </a:rPr>
              <a:t>Thank You!</a:t>
            </a:r>
            <a:endParaRPr lang="en-US" sz="2700" dirty="0"/>
          </a:p>
        </p:txBody>
      </p:sp>
      <p:sp>
        <p:nvSpPr>
          <p:cNvPr id="3" name="Text 1"/>
          <p:cNvSpPr/>
          <p:nvPr/>
        </p:nvSpPr>
        <p:spPr>
          <a:xfrm>
            <a:off x="1477513" y="2486025"/>
            <a:ext cx="6188875" cy="266700"/>
          </a:xfrm>
          <a:prstGeom prst="rect">
            <a:avLst/>
          </a:prstGeom>
          <a:noFill/>
          <a:ln/>
        </p:spPr>
        <p:txBody>
          <a:bodyPr wrap="square" lIns="0" tIns="0" rIns="0" bIns="0" rtlCol="0" anchor="t"/>
          <a:lstStyle/>
          <a:p>
            <a:pPr marL="0" indent="0" algn="ctr">
              <a:lnSpc>
                <a:spcPts val="2100"/>
              </a:lnSpc>
              <a:buNone/>
            </a:pPr>
            <a:r>
              <a:rPr lang="en-US" sz="1500" dirty="0">
                <a:solidFill>
                  <a:srgbClr val="CBD5E1"/>
                </a:solidFill>
                <a:latin typeface="Arial" pitchFamily="34" charset="0"/>
                <a:ea typeface="Arial" pitchFamily="34" charset="-122"/>
                <a:cs typeface="Arial" pitchFamily="34" charset="-120"/>
              </a:rPr>
              <a:t>Data Collection: Foundation of Research and Informed Decision-Making</a:t>
            </a:r>
            <a:endParaRPr lang="en-US" sz="1500" dirty="0"/>
          </a:p>
        </p:txBody>
      </p:sp>
      <p:sp>
        <p:nvSpPr>
          <p:cNvPr id="4" name="Text 2"/>
          <p:cNvSpPr/>
          <p:nvPr/>
        </p:nvSpPr>
        <p:spPr>
          <a:xfrm>
            <a:off x="1437032" y="3057525"/>
            <a:ext cx="6269837" cy="240010"/>
          </a:xfrm>
          <a:prstGeom prst="rect">
            <a:avLst/>
          </a:prstGeom>
          <a:noFill/>
          <a:ln/>
        </p:spPr>
        <p:txBody>
          <a:bodyPr wrap="square" lIns="0" tIns="0" rIns="0" bIns="0" rtlCol="0" anchor="t"/>
          <a:lstStyle/>
          <a:p>
            <a:pPr marL="0" indent="0" algn="ctr">
              <a:lnSpc>
                <a:spcPts val="1890"/>
              </a:lnSpc>
              <a:buNone/>
            </a:pPr>
            <a:r>
              <a:rPr lang="en-US" sz="1350" dirty="0">
                <a:solidFill>
                  <a:srgbClr val="94A3B8"/>
                </a:solidFill>
                <a:latin typeface="Arial" pitchFamily="34" charset="0"/>
                <a:ea typeface="Arial" pitchFamily="34" charset="-122"/>
                <a:cs typeface="Arial" pitchFamily="34" charset="-120"/>
              </a:rPr>
              <a:t>A comprehensive exploration of Primary and Secondary Data Collection Methods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1197</Words>
  <Application>Microsoft Office PowerPoint</Application>
  <PresentationFormat>On-screen Show (16:9)</PresentationFormat>
  <Paragraphs>125</Paragraphs>
  <Slides>21</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Aamir Mir</cp:lastModifiedBy>
  <cp:revision>1</cp:revision>
  <dcterms:created xsi:type="dcterms:W3CDTF">2026-01-27T03:44:56Z</dcterms:created>
  <dcterms:modified xsi:type="dcterms:W3CDTF">2026-07-27T05:17:02Z</dcterms:modified>
</cp:coreProperties>
</file>