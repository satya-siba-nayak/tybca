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280" y="-2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5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709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475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677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020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780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922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73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126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03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619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872831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0218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3819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6783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6181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615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686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5011" y="2550696"/>
            <a:ext cx="8633861" cy="1299410"/>
          </a:xfrm>
        </p:spPr>
        <p:txBody>
          <a:bodyPr>
            <a:normAutofit/>
          </a:bodyPr>
          <a:lstStyle/>
          <a:p>
            <a:r>
              <a:rPr sz="4800" i="1" dirty="0">
                <a:solidFill>
                  <a:srgbClr val="002060"/>
                </a:solidFill>
                <a:highlight>
                  <a:srgbClr val="C0C0C0"/>
                </a:highlight>
              </a:rPr>
              <a:t>Types of Data to Be Mined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1440540"/>
          </a:xfrm>
        </p:spPr>
        <p:txBody>
          <a:bodyPr>
            <a:noAutofit/>
          </a:bodyPr>
          <a:lstStyle/>
          <a:p>
            <a:r>
              <a:rPr sz="3200" b="1" dirty="0">
                <a:solidFill>
                  <a:srgbClr val="FF0000"/>
                </a:solidFill>
              </a:rPr>
              <a:t>Introduction to Data Mining</a:t>
            </a:r>
          </a:p>
          <a:p>
            <a:r>
              <a:rPr sz="3200" b="1" dirty="0">
                <a:solidFill>
                  <a:srgbClr val="FF0000"/>
                </a:solidFill>
              </a:rPr>
              <a:t>Presented by: </a:t>
            </a:r>
            <a:r>
              <a:rPr lang="en-US" sz="3200" b="1" dirty="0">
                <a:solidFill>
                  <a:srgbClr val="FF0000"/>
                </a:solidFill>
              </a:rPr>
              <a:t>Aamir MIR</a:t>
            </a:r>
            <a:endParaRPr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Data Mining?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71724"/>
          </a:xfrm>
        </p:spPr>
        <p:txBody>
          <a:bodyPr>
            <a:noAutofit/>
          </a:bodyPr>
          <a:lstStyle/>
          <a:p>
            <a:r>
              <a:rPr sz="2400" dirty="0"/>
              <a:t>- Extracts meaningful patterns and trends from raw data</a:t>
            </a:r>
          </a:p>
          <a:p>
            <a:r>
              <a:rPr sz="2400" dirty="0"/>
              <a:t>- Supports strategic business decisions and predictions</a:t>
            </a:r>
          </a:p>
          <a:p>
            <a:r>
              <a:rPr sz="2400" dirty="0"/>
              <a:t>- Involves statistics, machine learning, and database systems</a:t>
            </a:r>
          </a:p>
          <a:p>
            <a:r>
              <a:rPr sz="2400" dirty="0"/>
              <a:t>- Common tasks: classification, clustering, regression, and association rule mining</a:t>
            </a:r>
          </a:p>
          <a:p>
            <a:r>
              <a:rPr sz="2400" dirty="0"/>
              <a:t>- Real-life Examples: Google search predictions, Amazon product suggestions, bank fraud alerts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Types of Data Matter?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- Data can be structured, semi-structured, or unstructured</a:t>
            </a:r>
          </a:p>
          <a:p>
            <a:r>
              <a:rPr sz="2400" dirty="0"/>
              <a:t>- Each data type requires a unique preprocessing and mining approach</a:t>
            </a:r>
          </a:p>
          <a:p>
            <a:r>
              <a:rPr sz="2400" dirty="0"/>
              <a:t>- Impacts the choice of storage system, mining algorithm, and interpretation method</a:t>
            </a:r>
          </a:p>
          <a:p>
            <a:r>
              <a:rPr sz="2400" dirty="0"/>
              <a:t>- Example: Text data requires NLP, while tabular data uses SQL or statistical methods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29075"/>
            <a:ext cx="8229600" cy="4896853"/>
          </a:xfrm>
        </p:spPr>
        <p:txBody>
          <a:bodyPr>
            <a:noAutofit/>
          </a:bodyPr>
          <a:lstStyle/>
          <a:p>
            <a:r>
              <a:rPr sz="2400" dirty="0"/>
              <a:t>- Clearly defined format, typically in rows and columns (relational tables)</a:t>
            </a:r>
          </a:p>
          <a:p>
            <a:r>
              <a:rPr sz="2400" dirty="0"/>
              <a:t>- Easily stored and queried using SQL-based systems (e.g., MySQL, PostgreSQL)</a:t>
            </a:r>
          </a:p>
          <a:p>
            <a:r>
              <a:rPr sz="2400" dirty="0"/>
              <a:t>- Highly reliable and easy to analyze due to consistency</a:t>
            </a:r>
          </a:p>
          <a:p>
            <a:r>
              <a:rPr sz="2400" dirty="0"/>
              <a:t>- Mining methods include decision trees, regression models, and clustering algorithms</a:t>
            </a:r>
          </a:p>
          <a:p>
            <a:r>
              <a:rPr sz="2400" dirty="0"/>
              <a:t>- Example: Analyzing monthly sales data to identify best-selling products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Semi-Structured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62099"/>
          </a:xfrm>
        </p:spPr>
        <p:txBody>
          <a:bodyPr>
            <a:noAutofit/>
          </a:bodyPr>
          <a:lstStyle/>
          <a:p>
            <a:r>
              <a:rPr sz="2400" dirty="0"/>
              <a:t>- Contains tags or markers to separate semantic elements but lacks a rigid schema</a:t>
            </a:r>
          </a:p>
          <a:p>
            <a:r>
              <a:rPr sz="2400" dirty="0"/>
              <a:t>- Can be partially queried and processed with flexible tools (e.g., XQuery, </a:t>
            </a:r>
            <a:r>
              <a:rPr sz="2400" dirty="0" err="1"/>
              <a:t>JSONPath</a:t>
            </a:r>
            <a:r>
              <a:rPr sz="2400" dirty="0"/>
              <a:t>)</a:t>
            </a:r>
          </a:p>
          <a:p>
            <a:r>
              <a:rPr sz="2400" dirty="0"/>
              <a:t>- Common in data exchanged between systems (e.g., APIs, config files)</a:t>
            </a:r>
          </a:p>
          <a:p>
            <a:r>
              <a:rPr sz="2400" dirty="0"/>
              <a:t>- Requires parsing before applying traditional mining algorithms</a:t>
            </a:r>
          </a:p>
          <a:p>
            <a:r>
              <a:rPr sz="2400" dirty="0"/>
              <a:t>- Example: Parsing and analyzing review data from e-commerce websites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Unstructured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Autofit/>
          </a:bodyPr>
          <a:lstStyle/>
          <a:p>
            <a:r>
              <a:rPr sz="2400" dirty="0"/>
              <a:t>- No predefined format; cannot be stored in traditional databases easily</a:t>
            </a:r>
          </a:p>
          <a:p>
            <a:r>
              <a:rPr sz="2400" dirty="0"/>
              <a:t>- Requires transformation before analysis (e.g., converting text to tokens or images to arrays)</a:t>
            </a:r>
          </a:p>
          <a:p>
            <a:r>
              <a:rPr sz="2400" dirty="0"/>
              <a:t>- Examples: Email bodies, tweets, scanned documents, customer calls</a:t>
            </a:r>
          </a:p>
          <a:p>
            <a:r>
              <a:rPr sz="2400" dirty="0"/>
              <a:t>- Advanced techniques like NLP and computer vision (CNNs, Transformers) are used</a:t>
            </a:r>
          </a:p>
          <a:p>
            <a:r>
              <a:rPr sz="2400" dirty="0"/>
              <a:t>- Example: Classifying customer feedback as positive, negative, or neutral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Time-Series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sz="2800" dirty="0"/>
              <a:t>- Data points collected over consistent time intervals</a:t>
            </a:r>
          </a:p>
          <a:p>
            <a:r>
              <a:rPr sz="2800" dirty="0"/>
              <a:t>- Exhibits temporal patterns such as trends, cycles, or seasonality</a:t>
            </a:r>
          </a:p>
          <a:p>
            <a:r>
              <a:rPr sz="2800" dirty="0"/>
              <a:t>- Requires specialized analysis tools that account for time-dependence (e.g., time-lag)</a:t>
            </a:r>
          </a:p>
          <a:p>
            <a:r>
              <a:rPr sz="2800" dirty="0"/>
              <a:t>- Widely used in finance, meteorology, and healthcare</a:t>
            </a:r>
          </a:p>
          <a:p>
            <a:r>
              <a:rPr sz="2800" dirty="0"/>
              <a:t>- Example: Predicting stock price movement based on historical trends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Transactional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87227"/>
          </a:xfrm>
        </p:spPr>
        <p:txBody>
          <a:bodyPr>
            <a:noAutofit/>
          </a:bodyPr>
          <a:lstStyle/>
          <a:p>
            <a:r>
              <a:rPr sz="2400" dirty="0"/>
              <a:t>- Generated through business or system transactions (e.g., online purchases)</a:t>
            </a:r>
          </a:p>
          <a:p>
            <a:r>
              <a:rPr sz="2400" dirty="0"/>
              <a:t>- Typically involves user ID, product ID, quantity, timestamp</a:t>
            </a:r>
          </a:p>
          <a:p>
            <a:r>
              <a:rPr sz="2400" dirty="0"/>
              <a:t>- Useful for pattern discovery, such as frequent </a:t>
            </a:r>
            <a:r>
              <a:rPr sz="2400" dirty="0" err="1"/>
              <a:t>itemsets</a:t>
            </a:r>
            <a:r>
              <a:rPr sz="2400" dirty="0"/>
              <a:t> and customer behavior analysis</a:t>
            </a:r>
          </a:p>
          <a:p>
            <a:r>
              <a:rPr sz="2400" dirty="0"/>
              <a:t>- Algorithms: </a:t>
            </a:r>
            <a:r>
              <a:rPr sz="2400" dirty="0" err="1"/>
              <a:t>Apriori</a:t>
            </a:r>
            <a:r>
              <a:rPr sz="2400" dirty="0"/>
              <a:t>, ECLAT, FP-Growth for market basket analysis</a:t>
            </a:r>
          </a:p>
          <a:p>
            <a:r>
              <a:rPr sz="2400" dirty="0"/>
              <a:t>- Example: Finding product combinations frequently bought together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Spatial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06478"/>
          </a:xfrm>
        </p:spPr>
        <p:txBody>
          <a:bodyPr>
            <a:noAutofit/>
          </a:bodyPr>
          <a:lstStyle/>
          <a:p>
            <a:r>
              <a:rPr sz="2400" dirty="0"/>
              <a:t>- Associated with geographic locations or spatial objects</a:t>
            </a:r>
          </a:p>
          <a:p>
            <a:r>
              <a:rPr sz="2400" dirty="0"/>
              <a:t>- Includes coordinates, maps, satellite imagery, and spatial networks</a:t>
            </a:r>
          </a:p>
          <a:p>
            <a:r>
              <a:rPr sz="2400" dirty="0"/>
              <a:t>- Applications: route planning, agriculture monitoring, urban planning</a:t>
            </a:r>
          </a:p>
          <a:p>
            <a:r>
              <a:rPr sz="2400" dirty="0"/>
              <a:t>- Spatial data mining involves topological and distance-based analysis</a:t>
            </a:r>
          </a:p>
          <a:p>
            <a:r>
              <a:rPr sz="2400" dirty="0"/>
              <a:t>- Example: Identifying regions with high disease incidence using GPS-tagged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Multimedia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Autofit/>
          </a:bodyPr>
          <a:lstStyle/>
          <a:p>
            <a:r>
              <a:rPr sz="2400" dirty="0"/>
              <a:t>- Includes text, audio, images, and videos that require different formats and processing methods</a:t>
            </a:r>
          </a:p>
          <a:p>
            <a:r>
              <a:rPr sz="2400" dirty="0"/>
              <a:t>- Techniques involve signal processing, feature extraction, deep learning (CNNs, RNNs)</a:t>
            </a:r>
          </a:p>
          <a:p>
            <a:r>
              <a:rPr sz="2400" dirty="0"/>
              <a:t>- Applications: facial recognition, content recommendation, image classification</a:t>
            </a:r>
          </a:p>
          <a:p>
            <a:r>
              <a:rPr sz="2400" dirty="0"/>
              <a:t>- Requires huge computational power and storage systems</a:t>
            </a:r>
          </a:p>
          <a:p>
            <a:r>
              <a:rPr sz="2400" dirty="0"/>
              <a:t>- Example: Classifying images from a traffic camera to detect violations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75985"/>
          </a:xfrm>
        </p:spPr>
        <p:txBody>
          <a:bodyPr>
            <a:normAutofit/>
          </a:bodyPr>
          <a:lstStyle/>
          <a:p>
            <a:r>
              <a:rPr sz="2400" dirty="0"/>
              <a:t>- Data derived from the web, including HTML content, logs, social media, and search queries</a:t>
            </a:r>
          </a:p>
          <a:p>
            <a:r>
              <a:rPr sz="2400" dirty="0"/>
              <a:t>- Techniques: Web scraping, web usage mining, web structure mining</a:t>
            </a:r>
          </a:p>
          <a:p>
            <a:r>
              <a:rPr sz="2400" dirty="0"/>
              <a:t>- Helps analyze user preferences, behavior trends, and page rankings</a:t>
            </a:r>
          </a:p>
          <a:p>
            <a:r>
              <a:rPr sz="2400" dirty="0"/>
              <a:t>- Used heavily in digital marketing and recommendation engines</a:t>
            </a:r>
          </a:p>
          <a:p>
            <a:r>
              <a:rPr sz="2400" dirty="0"/>
              <a:t>- Example: Analyzing clickstream data to optimize website design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Sensor/IoT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sz="2800" dirty="0"/>
              <a:t>- Comes from sensors embedded in smart devices (e.g., fitness trackers, smart meters)</a:t>
            </a:r>
          </a:p>
          <a:p>
            <a:r>
              <a:rPr sz="2800" dirty="0"/>
              <a:t>- Typically streaming and time-dependent; may include structured and unstructured elements</a:t>
            </a:r>
          </a:p>
          <a:p>
            <a:r>
              <a:rPr sz="2800" dirty="0"/>
              <a:t>- Requires edge computing, stream processing, and anomaly detection techniques</a:t>
            </a:r>
          </a:p>
          <a:p>
            <a:r>
              <a:rPr sz="2800" dirty="0"/>
              <a:t>- Example: Predictive maintenance in manufacturing by analyzing vibration and temperature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of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8352"/>
          </a:xfrm>
        </p:spPr>
        <p:txBody>
          <a:bodyPr>
            <a:noAutofit/>
          </a:bodyPr>
          <a:lstStyle/>
          <a:p>
            <a:r>
              <a:rPr sz="2400" dirty="0"/>
              <a:t>- Structured: Tabular, easy to query (e.g., sales database)</a:t>
            </a:r>
          </a:p>
          <a:p>
            <a:r>
              <a:rPr sz="2400" dirty="0"/>
              <a:t>- Semi-Structured: Tagged data with irregular schema (e.g., JSON/XML)</a:t>
            </a:r>
          </a:p>
          <a:p>
            <a:r>
              <a:rPr sz="2400" dirty="0"/>
              <a:t>- Unstructured: No predefined format (e.g., video, audio)</a:t>
            </a:r>
          </a:p>
          <a:p>
            <a:r>
              <a:rPr sz="2400" dirty="0"/>
              <a:t>- Time-Series: Chronologically ordered data (e.g., stock prices)</a:t>
            </a:r>
          </a:p>
          <a:p>
            <a:r>
              <a:rPr sz="2400" dirty="0"/>
              <a:t>- Transactional: Sequence of purchases or events (e.g., shopping cart logs)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in Data Mining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sz="2800" dirty="0"/>
              <a:t>- Volume: Gigabytes to petabytes of data generated daily</a:t>
            </a:r>
          </a:p>
          <a:p>
            <a:r>
              <a:rPr sz="2800" dirty="0"/>
              <a:t>- Variety: Different data formats, sources, and quality</a:t>
            </a:r>
          </a:p>
          <a:p>
            <a:r>
              <a:rPr sz="2800" dirty="0"/>
              <a:t>- Velocity: High-speed data streams require real-time processing</a:t>
            </a:r>
          </a:p>
          <a:p>
            <a:r>
              <a:rPr sz="2800" dirty="0"/>
              <a:t>- Veracity: Data can be noisy, incomplete, or biased</a:t>
            </a:r>
          </a:p>
          <a:p>
            <a:r>
              <a:rPr sz="2800" dirty="0"/>
              <a:t>- Integration: Combining data from multiple heterogeneous sources is complex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sz="2800" dirty="0"/>
              <a:t>- Match each real-world example with its data type:</a:t>
            </a:r>
          </a:p>
          <a:p>
            <a:r>
              <a:rPr sz="2800" dirty="0"/>
              <a:t>  - ECG Report → Time-Series</a:t>
            </a:r>
          </a:p>
          <a:p>
            <a:r>
              <a:rPr sz="2800" dirty="0"/>
              <a:t>  - Customer Tweet → Unstructured</a:t>
            </a:r>
          </a:p>
          <a:p>
            <a:r>
              <a:rPr sz="2800" dirty="0"/>
              <a:t>  - SQL Table with Orders → Structured</a:t>
            </a:r>
          </a:p>
          <a:p>
            <a:r>
              <a:rPr sz="2800" dirty="0"/>
              <a:t>  - Traffic Video Clip → Multimedia</a:t>
            </a:r>
          </a:p>
          <a:p>
            <a:r>
              <a:rPr sz="2800" dirty="0"/>
              <a:t>  - Smartwatch Heart Rate Data → Sensor/Time-Series</a:t>
            </a:r>
          </a:p>
          <a:p>
            <a:r>
              <a:rPr sz="2800" dirty="0"/>
              <a:t>- Discussion: How would you preprocess and analyze each of these?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Data comes in multiple formats, each requiring unique mining strategies</a:t>
            </a:r>
          </a:p>
          <a:p>
            <a:r>
              <a:rPr dirty="0"/>
              <a:t>- Understanding data types is the first step to successful data mining</a:t>
            </a:r>
          </a:p>
          <a:p>
            <a:r>
              <a:rPr dirty="0"/>
              <a:t>- Enables better model selection, feature engineering, and interpretation</a:t>
            </a:r>
          </a:p>
          <a:p>
            <a:r>
              <a:rPr dirty="0"/>
              <a:t>- Real-world applications span finance, healthcare, marketing, logistics, and more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24</TotalTime>
  <Words>964</Words>
  <Application>Microsoft Office PowerPoint</Application>
  <PresentationFormat>On-screen Show (4:3)</PresentationFormat>
  <Paragraphs>92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Century Gothic</vt:lpstr>
      <vt:lpstr>Wingdings 3</vt:lpstr>
      <vt:lpstr>Ion</vt:lpstr>
      <vt:lpstr>Types of Data to Be Mined</vt:lpstr>
      <vt:lpstr>What is Data Mining?</vt:lpstr>
      <vt:lpstr>Why Types of Data Matter?</vt:lpstr>
      <vt:lpstr>Structured Data</vt:lpstr>
      <vt:lpstr>Semi-Structured Data</vt:lpstr>
      <vt:lpstr>Unstructured Data</vt:lpstr>
      <vt:lpstr>Time-Series Data</vt:lpstr>
      <vt:lpstr>Transactional Data</vt:lpstr>
      <vt:lpstr>Spatial Data</vt:lpstr>
      <vt:lpstr>Multimedia Data</vt:lpstr>
      <vt:lpstr>Web Data</vt:lpstr>
      <vt:lpstr>Sensor/IoT Data</vt:lpstr>
      <vt:lpstr>Comparison of Data Types</vt:lpstr>
      <vt:lpstr>Challenges in Data Mining</vt:lpstr>
      <vt:lpstr>Interactive Activity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Types of Data to Be Mined</dc:title>
  <dc:subject/>
  <dc:creator>Admin</dc:creator>
  <cp:keywords/>
  <dc:description>generated using python-pptx</dc:description>
  <cp:lastModifiedBy>Admin</cp:lastModifiedBy>
  <cp:revision>5</cp:revision>
  <dcterms:created xsi:type="dcterms:W3CDTF">2013-01-27T09:14:16Z</dcterms:created>
  <dcterms:modified xsi:type="dcterms:W3CDTF">2025-07-15T11:50:16Z</dcterms:modified>
  <cp:category/>
</cp:coreProperties>
</file>