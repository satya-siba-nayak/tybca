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3"/>
  </p:notesMasterIdLst>
  <p:sldIdLst>
    <p:sldId id="256" r:id="rId2"/>
    <p:sldId id="258" r:id="rId3"/>
    <p:sldId id="300" r:id="rId4"/>
    <p:sldId id="297" r:id="rId5"/>
    <p:sldId id="296" r:id="rId6"/>
    <p:sldId id="298" r:id="rId7"/>
    <p:sldId id="260" r:id="rId8"/>
    <p:sldId id="261" r:id="rId9"/>
    <p:sldId id="299" r:id="rId10"/>
    <p:sldId id="259" r:id="rId11"/>
    <p:sldId id="262" r:id="rId12"/>
    <p:sldId id="263" r:id="rId13"/>
    <p:sldId id="264" r:id="rId14"/>
    <p:sldId id="301" r:id="rId15"/>
    <p:sldId id="348" r:id="rId16"/>
    <p:sldId id="266" r:id="rId17"/>
    <p:sldId id="303" r:id="rId18"/>
    <p:sldId id="302" r:id="rId19"/>
    <p:sldId id="306" r:id="rId20"/>
    <p:sldId id="365" r:id="rId21"/>
    <p:sldId id="307" r:id="rId22"/>
    <p:sldId id="304" r:id="rId23"/>
    <p:sldId id="305" r:id="rId24"/>
    <p:sldId id="308" r:id="rId25"/>
    <p:sldId id="268" r:id="rId26"/>
    <p:sldId id="378" r:id="rId27"/>
    <p:sldId id="379" r:id="rId28"/>
    <p:sldId id="380" r:id="rId29"/>
    <p:sldId id="350" r:id="rId30"/>
    <p:sldId id="353" r:id="rId31"/>
    <p:sldId id="354" r:id="rId32"/>
    <p:sldId id="384" r:id="rId33"/>
    <p:sldId id="386" r:id="rId34"/>
    <p:sldId id="385" r:id="rId35"/>
    <p:sldId id="381" r:id="rId36"/>
    <p:sldId id="382" r:id="rId37"/>
    <p:sldId id="383" r:id="rId38"/>
    <p:sldId id="391" r:id="rId39"/>
    <p:sldId id="392" r:id="rId40"/>
    <p:sldId id="393" r:id="rId41"/>
    <p:sldId id="394" r:id="rId42"/>
  </p:sldIdLst>
  <p:sldSz cx="12192000" cy="6858000"/>
  <p:notesSz cx="7104063"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2" autoAdjust="0"/>
    <p:restoredTop sz="94660"/>
  </p:normalViewPr>
  <p:slideViewPr>
    <p:cSldViewPr snapToGrid="0">
      <p:cViewPr varScale="1">
        <p:scale>
          <a:sx n="63" d="100"/>
          <a:sy n="63" d="100"/>
        </p:scale>
        <p:origin x="764" y="56"/>
      </p:cViewPr>
      <p:guideLst/>
    </p:cSldViewPr>
  </p:slideViewPr>
  <p:notesTextViewPr>
    <p:cViewPr>
      <p:scale>
        <a:sx n="1" d="1"/>
        <a:sy n="1" d="1"/>
      </p:scale>
      <p:origin x="0" y="0"/>
    </p:cViewPr>
  </p:notesTextViewPr>
  <p:notesViewPr>
    <p:cSldViewPr snapToGrid="0">
      <p:cViewPr varScale="1">
        <p:scale>
          <a:sx n="41" d="100"/>
          <a:sy n="41" d="100"/>
        </p:scale>
        <p:origin x="1794" y="5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023812" y="0"/>
            <a:ext cx="3078290" cy="513492"/>
          </a:xfrm>
          <a:prstGeom prst="rect">
            <a:avLst/>
          </a:prstGeom>
        </p:spPr>
        <p:txBody>
          <a:bodyPr vert="horz" lIns="91440" tIns="45720" rIns="91440" bIns="45720" rtlCol="0"/>
          <a:lstStyle>
            <a:lvl1pPr algn="r">
              <a:defRPr sz="1200"/>
            </a:lvl1pPr>
          </a:lstStyle>
          <a:p>
            <a:fld id="{3EFD42F7-718C-4B98-AAEC-167E6DDD60A7}" type="datetimeFigureOut">
              <a:rPr lang="en-US" smtClean="0"/>
              <a:t>8/27/2026</a:t>
            </a:fld>
            <a:endParaRPr lang="en-US"/>
          </a:p>
        </p:txBody>
      </p:sp>
      <p:sp>
        <p:nvSpPr>
          <p:cNvPr id="4" name="Slide Image Placeholder 3"/>
          <p:cNvSpPr>
            <a:spLocks noGrp="1" noRot="1" noChangeAspect="1"/>
          </p:cNvSpPr>
          <p:nvPr>
            <p:ph type="sldImg" idx="2"/>
          </p:nvPr>
        </p:nvSpPr>
        <p:spPr>
          <a:xfrm>
            <a:off x="481584" y="1279287"/>
            <a:ext cx="6140577" cy="34540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10375" y="4925254"/>
            <a:ext cx="5682996" cy="402975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720804"/>
            <a:ext cx="3078290" cy="513491"/>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023812" y="9720804"/>
            <a:ext cx="3078290" cy="513491"/>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FDE934FF-F4E1-47C5-9CA5-30A81DDE2BE4}"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DE934FF-F4E1-47C5-9CA5-30A81DDE2BE4}"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DE934FF-F4E1-47C5-9CA5-30A81DDE2BE4}"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DE934FF-F4E1-47C5-9CA5-30A81DDE2BE4}" type="datetimeFigureOut">
              <a:rPr lang="en-US" smtClean="0"/>
              <a:t>8/27/2026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DE934FF-F4E1-47C5-9CA5-30A81DDE2BE4}" type="datetimeFigureOut">
              <a:rPr lang="en-US" smtClean="0"/>
              <a:t>8/27/2026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DE934FF-F4E1-47C5-9CA5-30A81DDE2BE4}" type="datetimeFigureOut">
              <a:rPr lang="en-US" smtClean="0"/>
              <a:t>8/27/2026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DE934FF-F4E1-47C5-9CA5-30A81DDE2BE4}" type="datetimeFigureOut">
              <a:rPr lang="en-US" smtClean="0"/>
              <a:t>8/27/2026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DE934FF-F4E1-47C5-9CA5-30A81DDE2BE4}" type="datetimeFigureOut">
              <a:rPr lang="en-US" smtClean="0"/>
              <a:t>8/27/2026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DE934FF-F4E1-47C5-9CA5-30A81DDE2BE4}"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p:txBody>
          <a:bodyPr/>
          <a:lstStyle/>
          <a:p>
            <a:fld id="{FDE934FF-F4E1-47C5-9CA5-30A81DDE2BE4}" type="datetimeFigureOut">
              <a:rPr lang="en-US" smtClean="0"/>
              <a:t>8/27/2026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DE934FF-F4E1-47C5-9CA5-30A81DDE2BE4}" type="datetimeFigureOut">
              <a:rPr lang="en-US" smtClean="0"/>
              <a:t>8/27/2026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3561BA9-CDCF-4958-B8AB-66F3BF063E13}"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3.bin"/><Relationship Id="rId1" Type="http://schemas.openxmlformats.org/officeDocument/2006/relationships/slideLayout" Target="../slideLayouts/slideLayout2.xml"/><Relationship Id="rId5" Type="http://schemas.openxmlformats.org/officeDocument/2006/relationships/image" Target="../media/image4.wmf"/><Relationship Id="rId4" Type="http://schemas.openxmlformats.org/officeDocument/2006/relationships/oleObject" Target="../embeddings/oleObject4.bin"/></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2.bin"/><Relationship Id="rId3" Type="http://schemas.openxmlformats.org/officeDocument/2006/relationships/image" Target="../media/image5.wmf"/><Relationship Id="rId7" Type="http://schemas.openxmlformats.org/officeDocument/2006/relationships/image" Target="../media/image7.wmf"/><Relationship Id="rId2" Type="http://schemas.openxmlformats.org/officeDocument/2006/relationships/oleObject" Target="../embeddings/oleObject5.bin"/><Relationship Id="rId1" Type="http://schemas.openxmlformats.org/officeDocument/2006/relationships/slideLayout" Target="../slideLayouts/slideLayout2.xml"/><Relationship Id="rId6" Type="http://schemas.openxmlformats.org/officeDocument/2006/relationships/oleObject" Target="../embeddings/oleObject7.bin"/><Relationship Id="rId5" Type="http://schemas.openxmlformats.org/officeDocument/2006/relationships/image" Target="../media/image6.wmf"/><Relationship Id="rId4" Type="http://schemas.openxmlformats.org/officeDocument/2006/relationships/oleObject" Target="../embeddings/oleObject6.bin"/><Relationship Id="rId9" Type="http://schemas.openxmlformats.org/officeDocument/2006/relationships/image" Target="../media/image2.e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oleObject" Target="../embeddings/oleObject8.bin"/><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9.bin"/><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oleObject" Target="../embeddings/oleObject10.bin"/><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oleObject" Target="../embeddings/oleObject11.bin"/><Relationship Id="rId1" Type="http://schemas.openxmlformats.org/officeDocument/2006/relationships/slideLayout" Target="../slideLayouts/slideLayout2.xml"/><Relationship Id="rId5" Type="http://schemas.openxmlformats.org/officeDocument/2006/relationships/image" Target="../media/image15.emf"/><Relationship Id="rId4" Type="http://schemas.openxmlformats.org/officeDocument/2006/relationships/oleObject" Target="../embeddings/oleObject12.bin"/></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oleObject" Target="../embeddings/oleObject13.bin"/><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oleObject" Target="../embeddings/oleObject14.bin"/><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notesSlide" Target="../notesSlides/notesSlide3.xml"/><Relationship Id="rId1" Type="http://schemas.openxmlformats.org/officeDocument/2006/relationships/slideLayout" Target="../slideLayouts/slideLayout10.xml"/><Relationship Id="rId4" Type="http://schemas.openxmlformats.org/officeDocument/2006/relationships/image" Target="../media/image17.wmf"/></Relationships>
</file>

<file path=ppt/slides/_rels/slide41.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oleObject" Target="../embeddings/oleObject16.bin"/><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414463"/>
            <a:ext cx="9144000" cy="2387600"/>
          </a:xfrm>
        </p:spPr>
        <p:txBody>
          <a:bodyPr/>
          <a:lstStyle/>
          <a:p>
            <a:r>
              <a:rPr lang="en-US" b="1"/>
              <a:t>Association Rule &amp; Apriori Algorithm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3074" name="Title 643073"/>
          <p:cNvSpPr>
            <a:spLocks noGrp="1"/>
          </p:cNvSpPr>
          <p:nvPr>
            <p:ph type="title"/>
          </p:nvPr>
        </p:nvSpPr>
        <p:spPr>
          <a:xfrm>
            <a:off x="297180" y="288925"/>
            <a:ext cx="10515600" cy="861060"/>
          </a:xfrm>
        </p:spPr>
        <p:txBody>
          <a:bodyPr>
            <a:normAutofit/>
          </a:bodyPr>
          <a:lstStyle/>
          <a:p>
            <a:r>
              <a:rPr lang="en-GB" altLang="x-none" b="1"/>
              <a:t>Association rule mining</a:t>
            </a:r>
          </a:p>
        </p:txBody>
      </p:sp>
      <p:sp>
        <p:nvSpPr>
          <p:cNvPr id="643075" name="Text Placeholder 643074"/>
          <p:cNvSpPr>
            <a:spLocks noGrp="1"/>
          </p:cNvSpPr>
          <p:nvPr>
            <p:ph type="body" idx="1"/>
          </p:nvPr>
        </p:nvSpPr>
        <p:spPr>
          <a:xfrm>
            <a:off x="448310" y="1374775"/>
            <a:ext cx="11094720" cy="5220335"/>
          </a:xfrm>
        </p:spPr>
        <p:txBody>
          <a:bodyPr/>
          <a:lstStyle/>
          <a:p>
            <a:pPr>
              <a:lnSpc>
                <a:spcPct val="110000"/>
              </a:lnSpc>
            </a:pPr>
            <a:r>
              <a:rPr lang="en-GB" altLang="x-none" sz="2800"/>
              <a:t>Proposed by </a:t>
            </a:r>
            <a:r>
              <a:rPr lang="en-GB" altLang="x-none" sz="2800" b="1" dirty="0" err="1">
                <a:solidFill>
                  <a:srgbClr val="FF0000"/>
                </a:solidFill>
              </a:rPr>
              <a:t>Agrawal</a:t>
            </a:r>
            <a:r>
              <a:rPr lang="en-GB" altLang="x-none" sz="2800" b="1">
                <a:solidFill>
                  <a:srgbClr val="FF0000"/>
                </a:solidFill>
              </a:rPr>
              <a:t> et al in 1993</a:t>
            </a:r>
            <a:r>
              <a:rPr lang="en-GB" altLang="x-none" sz="2800" b="1"/>
              <a:t>.</a:t>
            </a:r>
            <a:r>
              <a:rPr lang="en-GB" altLang="x-none" sz="2800"/>
              <a:t> </a:t>
            </a:r>
          </a:p>
          <a:p>
            <a:pPr>
              <a:lnSpc>
                <a:spcPct val="110000"/>
              </a:lnSpc>
            </a:pPr>
            <a:r>
              <a:rPr lang="en-GB" altLang="x-none" sz="2800"/>
              <a:t>It is an important data mining model studied extensively by the database and data mining community. </a:t>
            </a:r>
          </a:p>
          <a:p>
            <a:pPr>
              <a:lnSpc>
                <a:spcPct val="110000"/>
              </a:lnSpc>
              <a:spcBef>
                <a:spcPct val="15000"/>
              </a:spcBef>
            </a:pPr>
            <a:r>
              <a:rPr sz="2800"/>
              <a:t>Assume all data are categorical.</a:t>
            </a:r>
          </a:p>
          <a:p>
            <a:pPr>
              <a:lnSpc>
                <a:spcPct val="110000"/>
              </a:lnSpc>
              <a:spcBef>
                <a:spcPct val="15000"/>
              </a:spcBef>
            </a:pPr>
            <a:r>
              <a:rPr sz="2800"/>
              <a:t>No good algorithm for numeric data.</a:t>
            </a:r>
          </a:p>
          <a:p>
            <a:pPr>
              <a:lnSpc>
                <a:spcPct val="110000"/>
              </a:lnSpc>
              <a:spcBef>
                <a:spcPct val="15000"/>
              </a:spcBef>
            </a:pPr>
            <a:r>
              <a:rPr sz="2800"/>
              <a:t>Initially used for </a:t>
            </a:r>
            <a:r>
              <a:rPr sz="2800" b="1">
                <a:solidFill>
                  <a:srgbClr val="FF0000"/>
                </a:solidFill>
              </a:rPr>
              <a:t>Market Basket Analysis</a:t>
            </a:r>
            <a:r>
              <a:rPr sz="2800"/>
              <a:t> to find how items purchased by customers are related.</a:t>
            </a:r>
          </a:p>
          <a:p>
            <a:pPr>
              <a:lnSpc>
                <a:spcPct val="110000"/>
              </a:lnSpc>
              <a:spcBef>
                <a:spcPct val="15000"/>
              </a:spcBef>
              <a:buNone/>
            </a:pPr>
            <a:r>
              <a:rPr lang="en-GB" altLang="x-none" sz="2800"/>
              <a:t>		</a:t>
            </a:r>
          </a:p>
          <a:p>
            <a:pPr>
              <a:lnSpc>
                <a:spcPct val="110000"/>
              </a:lnSpc>
              <a:spcBef>
                <a:spcPct val="15000"/>
              </a:spcBef>
              <a:buNone/>
            </a:pPr>
            <a:r>
              <a:rPr lang="en-GB" altLang="x-none" sz="2800"/>
              <a:t>	                          </a:t>
            </a:r>
            <a:r>
              <a:rPr lang="en-GB" altLang="x-none" sz="2800" b="1"/>
              <a:t> </a:t>
            </a:r>
            <a:r>
              <a:rPr lang="en-GB" altLang="x-none" sz="2800" b="1">
                <a:solidFill>
                  <a:srgbClr val="3333CC"/>
                </a:solidFill>
              </a:rPr>
              <a:t>Bread </a:t>
            </a:r>
            <a:r>
              <a:rPr lang="en-GB" altLang="x-none" sz="2800" b="1">
                <a:solidFill>
                  <a:srgbClr val="3333CC"/>
                </a:solidFill>
                <a:sym typeface="Symbol" panose="05050102010706020507" pitchFamily="18" charset="2"/>
              </a:rPr>
              <a:t></a:t>
            </a:r>
            <a:r>
              <a:rPr lang="en-GB" altLang="x-none" sz="2800" b="1">
                <a:solidFill>
                  <a:srgbClr val="3333CC"/>
                </a:solidFill>
              </a:rPr>
              <a:t> Milk	   [sup = 5%, conf = 100%]</a:t>
            </a:r>
          </a:p>
        </p:txBody>
      </p:sp>
      <p:sp>
        <p:nvSpPr>
          <p:cNvPr id="3" name="Slide Number Placeholder 2"/>
          <p:cNvSpPr>
            <a:spLocks noGrp="1"/>
          </p:cNvSpPr>
          <p:nvPr>
            <p:ph type="sldNum" sz="quarter" idx="12"/>
          </p:nvPr>
        </p:nvSpPr>
        <p:spPr/>
        <p:txBody>
          <a:bodyPr/>
          <a:lstStyle/>
          <a:p>
            <a:pPr lvl="0"/>
            <a:fld id="{9A0DB2DC-4C9A-4742-B13C-FB6460FD3503}" type="slidenum">
              <a:rPr lang="en-US" altLang="en-US" dirty="0"/>
              <a:t>2</a:t>
            </a:fld>
            <a:endParaRPr lang="en-US"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1666" name="Title 1521665"/>
          <p:cNvSpPr>
            <a:spLocks noGrp="1"/>
          </p:cNvSpPr>
          <p:nvPr>
            <p:ph type="title"/>
          </p:nvPr>
        </p:nvSpPr>
        <p:spPr>
          <a:xfrm>
            <a:off x="342900" y="198120"/>
            <a:ext cx="8857615" cy="782955"/>
          </a:xfrm>
        </p:spPr>
        <p:txBody>
          <a:bodyPr anchor="b">
            <a:normAutofit/>
          </a:bodyPr>
          <a:lstStyle/>
          <a:p>
            <a:r>
              <a:rPr lang="en-US" altLang="zh-TW" b="1">
                <a:ea typeface="PMingLiU" pitchFamily="18" charset="-120"/>
              </a:rPr>
              <a:t>What Is Association Mining?</a:t>
            </a:r>
          </a:p>
        </p:txBody>
      </p:sp>
      <p:sp>
        <p:nvSpPr>
          <p:cNvPr id="1521667" name="Text Placeholder 1521666"/>
          <p:cNvSpPr>
            <a:spLocks noGrp="1"/>
          </p:cNvSpPr>
          <p:nvPr>
            <p:ph type="body" idx="1"/>
          </p:nvPr>
        </p:nvSpPr>
        <p:spPr>
          <a:xfrm>
            <a:off x="342900" y="1371600"/>
            <a:ext cx="11290935" cy="5181600"/>
          </a:xfrm>
        </p:spPr>
        <p:txBody>
          <a:bodyPr/>
          <a:lstStyle/>
          <a:p>
            <a:pPr>
              <a:lnSpc>
                <a:spcPct val="150000"/>
              </a:lnSpc>
            </a:pPr>
            <a:r>
              <a:rPr lang="en-US" altLang="zh-TW" sz="2800">
                <a:ea typeface="PMingLiU" pitchFamily="18" charset="-120"/>
              </a:rPr>
              <a:t>Motivation: finding regularities in data</a:t>
            </a:r>
          </a:p>
          <a:p>
            <a:pPr lvl="1">
              <a:lnSpc>
                <a:spcPct val="150000"/>
              </a:lnSpc>
            </a:pPr>
            <a:r>
              <a:rPr lang="en-US" altLang="zh-TW" sz="2800">
                <a:ea typeface="PMingLiU" pitchFamily="18" charset="-120"/>
              </a:rPr>
              <a:t>What products were often purchased together? — Beer and diapers</a:t>
            </a:r>
          </a:p>
          <a:p>
            <a:pPr lvl="1">
              <a:lnSpc>
                <a:spcPct val="150000"/>
              </a:lnSpc>
            </a:pPr>
            <a:r>
              <a:rPr lang="en-US" altLang="zh-TW" sz="2800">
                <a:ea typeface="PMingLiU" pitchFamily="18" charset="-120"/>
              </a:rPr>
              <a:t>What are the subsequent purchases after buying a PC?</a:t>
            </a:r>
          </a:p>
          <a:p>
            <a:pPr lvl="1">
              <a:lnSpc>
                <a:spcPct val="150000"/>
              </a:lnSpc>
            </a:pPr>
            <a:r>
              <a:rPr lang="en-US" altLang="zh-TW" sz="2800">
                <a:ea typeface="PMingLiU" pitchFamily="18" charset="-120"/>
              </a:rPr>
              <a:t>What kinds of DNA are sensitive to this new drug?</a:t>
            </a:r>
          </a:p>
          <a:p>
            <a:pPr lvl="1">
              <a:lnSpc>
                <a:spcPct val="150000"/>
              </a:lnSpc>
            </a:pPr>
            <a:r>
              <a:rPr lang="en-US" altLang="zh-TW" sz="2800">
                <a:ea typeface="PMingLiU" pitchFamily="18" charset="-120"/>
              </a:rPr>
              <a:t>Can we automatically classify web documents?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0851" name="Text Placeholder 1230850"/>
          <p:cNvSpPr>
            <a:spLocks noGrp="1"/>
          </p:cNvSpPr>
          <p:nvPr>
            <p:ph type="body" idx="1"/>
          </p:nvPr>
        </p:nvSpPr>
        <p:spPr>
          <a:xfrm>
            <a:off x="381000" y="1143000"/>
            <a:ext cx="11174730" cy="1456055"/>
          </a:xfrm>
        </p:spPr>
        <p:txBody>
          <a:bodyPr lIns="90488" tIns="44450" rIns="90488" bIns="44450">
            <a:normAutofit/>
          </a:bodyPr>
          <a:lstStyle/>
          <a:p>
            <a:pPr>
              <a:lnSpc>
                <a:spcPct val="120000"/>
              </a:lnSpc>
            </a:pPr>
            <a:r>
              <a:t>Given a set of transactions, find rules that will predict the occurrence of an item based on the occurrences of other items in the transaction</a:t>
            </a:r>
            <a:r>
              <a:rPr lang="en-US"/>
              <a:t>.</a:t>
            </a:r>
          </a:p>
        </p:txBody>
      </p:sp>
      <p:sp>
        <p:nvSpPr>
          <p:cNvPr id="1230852" name="Text Box 1230851"/>
          <p:cNvSpPr txBox="1"/>
          <p:nvPr/>
        </p:nvSpPr>
        <p:spPr>
          <a:xfrm>
            <a:off x="661035" y="2599055"/>
            <a:ext cx="6202680" cy="521970"/>
          </a:xfrm>
          <a:prstGeom prst="rect">
            <a:avLst/>
          </a:prstGeom>
          <a:noFill/>
          <a:ln w="12700">
            <a:noFill/>
          </a:ln>
        </p:spPr>
        <p:txBody>
          <a:bodyPr wrap="square">
            <a:spAutoFit/>
          </a:bodyPr>
          <a:lstStyle/>
          <a:p>
            <a:pPr>
              <a:spcBef>
                <a:spcPct val="50000"/>
              </a:spcBef>
            </a:pPr>
            <a:r>
              <a:rPr sz="2800" b="1">
                <a:solidFill>
                  <a:srgbClr val="0C6D9C"/>
                </a:solidFill>
                <a:latin typeface="Arial" panose="020B0604020202020204" pitchFamily="34" charset="0"/>
              </a:rPr>
              <a:t>Market-Basket transactions</a:t>
            </a:r>
          </a:p>
        </p:txBody>
      </p:sp>
      <p:graphicFrame>
        <p:nvGraphicFramePr>
          <p:cNvPr id="1230853" name="Object 1230852"/>
          <p:cNvGraphicFramePr/>
          <p:nvPr/>
        </p:nvGraphicFramePr>
        <p:xfrm>
          <a:off x="1050290" y="3282315"/>
          <a:ext cx="4926965" cy="2867025"/>
        </p:xfrm>
        <a:graphic>
          <a:graphicData uri="http://schemas.openxmlformats.org/presentationml/2006/ole">
            <mc:AlternateContent xmlns:mc="http://schemas.openxmlformats.org/markup-compatibility/2006">
              <mc:Choice xmlns:v="urn:schemas-microsoft-com:vml" Requires="v">
                <p:oleObj r:id="rId2" imgW="3429635" imgH="1999615" progId="Word.Document.8">
                  <p:embed/>
                </p:oleObj>
              </mc:Choice>
              <mc:Fallback>
                <p:oleObj r:id="rId2" imgW="3429635" imgH="1999615" progId="Word.Document.8">
                  <p:embed/>
                  <p:pic>
                    <p:nvPicPr>
                      <p:cNvPr id="0" name="Picture 3075"/>
                      <p:cNvPicPr/>
                      <p:nvPr/>
                    </p:nvPicPr>
                    <p:blipFill>
                      <a:blip r:embed="rId3"/>
                      <a:stretch>
                        <a:fillRect/>
                      </a:stretch>
                    </p:blipFill>
                    <p:spPr>
                      <a:xfrm>
                        <a:off x="1050290" y="3282315"/>
                        <a:ext cx="4926965" cy="2867025"/>
                      </a:xfrm>
                      <a:prstGeom prst="rect">
                        <a:avLst/>
                      </a:prstGeom>
                      <a:noFill/>
                      <a:ln w="38100">
                        <a:noFill/>
                        <a:miter/>
                      </a:ln>
                    </p:spPr>
                  </p:pic>
                </p:oleObj>
              </mc:Fallback>
            </mc:AlternateContent>
          </a:graphicData>
        </a:graphic>
      </p:graphicFrame>
      <p:sp>
        <p:nvSpPr>
          <p:cNvPr id="1230854" name="Text Box 1230853"/>
          <p:cNvSpPr txBox="1"/>
          <p:nvPr/>
        </p:nvSpPr>
        <p:spPr>
          <a:xfrm>
            <a:off x="6337935" y="2701925"/>
            <a:ext cx="5348605" cy="491490"/>
          </a:xfrm>
          <a:prstGeom prst="rect">
            <a:avLst/>
          </a:prstGeom>
          <a:noFill/>
          <a:ln w="12700">
            <a:noFill/>
          </a:ln>
        </p:spPr>
        <p:txBody>
          <a:bodyPr wrap="square">
            <a:spAutoFit/>
          </a:bodyPr>
          <a:lstStyle/>
          <a:p>
            <a:pPr>
              <a:spcBef>
                <a:spcPct val="50000"/>
              </a:spcBef>
            </a:pPr>
            <a:r>
              <a:rPr sz="2600">
                <a:latin typeface="Arial" panose="020B0604020202020204" pitchFamily="34" charset="0"/>
              </a:rPr>
              <a:t>Example of Association Rules</a:t>
            </a:r>
          </a:p>
        </p:txBody>
      </p:sp>
      <p:sp>
        <p:nvSpPr>
          <p:cNvPr id="1230855" name="Text Box 1230854"/>
          <p:cNvSpPr txBox="1"/>
          <p:nvPr/>
        </p:nvSpPr>
        <p:spPr>
          <a:xfrm>
            <a:off x="6955790" y="3427730"/>
            <a:ext cx="4599940" cy="1291590"/>
          </a:xfrm>
          <a:prstGeom prst="rect">
            <a:avLst/>
          </a:prstGeom>
          <a:noFill/>
          <a:ln w="12700">
            <a:noFill/>
          </a:ln>
        </p:spPr>
        <p:txBody>
          <a:bodyPr wrap="square">
            <a:spAutoFit/>
          </a:bodyPr>
          <a:lstStyle/>
          <a:p>
            <a:pPr>
              <a:spcBef>
                <a:spcPct val="50000"/>
              </a:spcBef>
            </a:pPr>
            <a:r>
              <a:rPr sz="2600" b="0">
                <a:latin typeface="Arial" panose="020B0604020202020204" pitchFamily="34" charset="0"/>
              </a:rPr>
              <a:t>{Diaper} </a:t>
            </a:r>
            <a:r>
              <a:rPr sz="2600" b="0">
                <a:latin typeface="Arial" panose="020B0604020202020204" pitchFamily="34" charset="0"/>
                <a:sym typeface="Symbol" panose="05050102010706020507" pitchFamily="18" charset="2"/>
              </a:rPr>
              <a:t> {Beer},</a:t>
            </a:r>
            <a:br>
              <a:rPr sz="2600" b="0">
                <a:latin typeface="Arial" panose="020B0604020202020204" pitchFamily="34" charset="0"/>
                <a:sym typeface="Symbol" panose="05050102010706020507" pitchFamily="18" charset="2"/>
              </a:rPr>
            </a:br>
            <a:r>
              <a:rPr sz="2600" b="0">
                <a:latin typeface="Arial" panose="020B0604020202020204" pitchFamily="34" charset="0"/>
                <a:sym typeface="Symbol" panose="05050102010706020507" pitchFamily="18" charset="2"/>
              </a:rPr>
              <a:t>{Milk, Bread}  {Eggs,Coke},</a:t>
            </a:r>
            <a:br>
              <a:rPr sz="2600" b="0">
                <a:latin typeface="Arial" panose="020B0604020202020204" pitchFamily="34" charset="0"/>
                <a:sym typeface="Symbol" panose="05050102010706020507" pitchFamily="18" charset="2"/>
              </a:rPr>
            </a:br>
            <a:r>
              <a:rPr sz="2600" b="0">
                <a:latin typeface="Arial" panose="020B0604020202020204" pitchFamily="34" charset="0"/>
                <a:sym typeface="Symbol" panose="05050102010706020507" pitchFamily="18" charset="2"/>
              </a:rPr>
              <a:t>{Beer, Bread}  {Milk},</a:t>
            </a:r>
          </a:p>
        </p:txBody>
      </p:sp>
      <p:sp>
        <p:nvSpPr>
          <p:cNvPr id="1230856" name="Text Box 1230855"/>
          <p:cNvSpPr txBox="1"/>
          <p:nvPr/>
        </p:nvSpPr>
        <p:spPr>
          <a:xfrm>
            <a:off x="6337935" y="5257800"/>
            <a:ext cx="5669280" cy="891540"/>
          </a:xfrm>
          <a:prstGeom prst="rect">
            <a:avLst/>
          </a:prstGeom>
          <a:noFill/>
          <a:ln w="12700">
            <a:noFill/>
          </a:ln>
        </p:spPr>
        <p:txBody>
          <a:bodyPr wrap="square">
            <a:spAutoFit/>
          </a:bodyPr>
          <a:lstStyle/>
          <a:p>
            <a:pPr>
              <a:spcBef>
                <a:spcPct val="50000"/>
              </a:spcBef>
            </a:pPr>
            <a:r>
              <a:rPr sz="2600" b="0">
                <a:latin typeface="Arial" panose="020B0604020202020204" pitchFamily="34" charset="0"/>
              </a:rPr>
              <a:t>Implication means co-occurrence, not causality!</a:t>
            </a:r>
          </a:p>
        </p:txBody>
      </p:sp>
      <p:sp>
        <p:nvSpPr>
          <p:cNvPr id="643074" name="Title 643073"/>
          <p:cNvSpPr>
            <a:spLocks noGrp="1"/>
          </p:cNvSpPr>
          <p:nvPr>
            <p:ph type="title"/>
          </p:nvPr>
        </p:nvSpPr>
        <p:spPr>
          <a:xfrm>
            <a:off x="297180" y="288925"/>
            <a:ext cx="10515600" cy="861060"/>
          </a:xfrm>
        </p:spPr>
        <p:txBody>
          <a:bodyPr>
            <a:normAutofit/>
          </a:bodyPr>
          <a:lstStyle/>
          <a:p>
            <a:r>
              <a:rPr lang="en-GB" altLang="x-none" b="1"/>
              <a:t>Association rule mining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2" name="Title 6151"/>
          <p:cNvSpPr>
            <a:spLocks noGrp="1"/>
          </p:cNvSpPr>
          <p:nvPr/>
        </p:nvSpPr>
        <p:spPr>
          <a:xfrm>
            <a:off x="328930" y="306070"/>
            <a:ext cx="7772400" cy="862330"/>
          </a:xfrm>
          <a:prstGeom prst="rect">
            <a:avLst/>
          </a:prstGeom>
          <a:noFill/>
          <a:ln w="9525">
            <a:noFill/>
          </a:ln>
        </p:spPr>
        <p:txBody>
          <a:bodyPr anchor="ctr"/>
          <a:lstStyle>
            <a:lvl1pPr marL="0" lvl="0" indent="0" algn="l" defTabSz="914400" rtl="0" eaLnBrk="0" fontAlgn="base" latinLnBrk="0" hangingPunct="0">
              <a:lnSpc>
                <a:spcPct val="100000"/>
              </a:lnSpc>
              <a:spcBef>
                <a:spcPct val="0"/>
              </a:spcBef>
              <a:spcAft>
                <a:spcPct val="0"/>
              </a:spcAft>
              <a:buNone/>
              <a:defRPr sz="4000" b="0" i="0" u="none" kern="1200" baseline="0">
                <a:solidFill>
                  <a:srgbClr val="800000"/>
                </a:solidFill>
                <a:latin typeface="+mj-lt"/>
                <a:ea typeface="+mj-ea"/>
                <a:cs typeface="+mj-cs"/>
              </a:defRPr>
            </a:lvl1pPr>
          </a:lstStyle>
          <a:p>
            <a:pPr algn="l" eaLnBrk="1" fontAlgn="auto" hangingPunct="1">
              <a:lnSpc>
                <a:spcPct val="90000"/>
              </a:lnSpc>
            </a:pPr>
            <a:r>
              <a:rPr lang="en-GB" altLang="x-none" sz="4400" b="1">
                <a:solidFill>
                  <a:schemeClr val="tx1"/>
                </a:solidFill>
              </a:rPr>
              <a:t>Basket Data</a:t>
            </a:r>
          </a:p>
        </p:txBody>
      </p:sp>
      <p:sp>
        <p:nvSpPr>
          <p:cNvPr id="6153" name="Text Placeholder 6152"/>
          <p:cNvSpPr>
            <a:spLocks noGrp="1"/>
          </p:cNvSpPr>
          <p:nvPr/>
        </p:nvSpPr>
        <p:spPr>
          <a:xfrm>
            <a:off x="599440" y="1515110"/>
            <a:ext cx="10345420" cy="5316220"/>
          </a:xfrm>
          <a:prstGeom prst="rect">
            <a:avLst/>
          </a:prstGeom>
          <a:noFill/>
          <a:ln w="9525">
            <a:noFill/>
          </a:ln>
        </p:spPr>
        <p:txBody>
          <a:bodyPr/>
          <a:lstStyle>
            <a:lvl1pPr marL="342900" lvl="0" indent="-342900" algn="l" defTabSz="914400" rtl="0" eaLnBrk="0" fontAlgn="base" latinLnBrk="0" hangingPunct="0">
              <a:lnSpc>
                <a:spcPct val="90000"/>
              </a:lnSpc>
              <a:spcBef>
                <a:spcPct val="20000"/>
              </a:spcBef>
              <a:spcAft>
                <a:spcPct val="0"/>
              </a:spcAft>
              <a:buSzPct val="50000"/>
              <a:buFont typeface="Monotype Sorts" pitchFamily="2" charset="2"/>
              <a:buChar char="l"/>
              <a:defRPr sz="2800" b="0" i="0" u="none" kern="1200" baseline="0">
                <a:solidFill>
                  <a:schemeClr val="tx1"/>
                </a:solidFill>
                <a:latin typeface="+mn-lt"/>
                <a:ea typeface="+mn-ea"/>
                <a:cs typeface="+mn-cs"/>
              </a:defRPr>
            </a:lvl1pPr>
            <a:lvl2pPr marL="742950" lvl="1" indent="-285750" algn="l" defTabSz="914400" rtl="0" eaLnBrk="0" fontAlgn="base" latinLnBrk="0" hangingPunct="0">
              <a:lnSpc>
                <a:spcPct val="100000"/>
              </a:lnSpc>
              <a:spcBef>
                <a:spcPct val="10000"/>
              </a:spcBef>
              <a:spcAft>
                <a:spcPct val="0"/>
              </a:spcAft>
              <a:buSzPct val="50000"/>
              <a:buFont typeface="Monotype Sorts" pitchFamily="2" charset="2"/>
              <a:buChar char="n"/>
              <a:defRPr sz="2800" b="0" i="0" u="none" kern="1200" baseline="0">
                <a:solidFill>
                  <a:schemeClr val="tx1"/>
                </a:solidFill>
                <a:latin typeface="+mn-lt"/>
                <a:ea typeface="+mn-ea"/>
                <a:cs typeface="+mn-cs"/>
              </a:defRPr>
            </a:lvl2pPr>
            <a:lvl3pPr marL="1143000" lvl="2" indent="-228600" algn="l" defTabSz="914400" rtl="0" eaLnBrk="0" fontAlgn="base" latinLnBrk="0" hangingPunct="0">
              <a:lnSpc>
                <a:spcPct val="100000"/>
              </a:lnSpc>
              <a:spcBef>
                <a:spcPct val="20000"/>
              </a:spcBef>
              <a:spcAft>
                <a:spcPct val="0"/>
              </a:spcAft>
              <a:buSzPct val="50000"/>
              <a:buFont typeface="Monotype Sorts" pitchFamily="2" charset="2"/>
              <a:buChar char="u"/>
              <a:defRPr sz="2400" b="0" i="0" u="none" kern="1200" baseline="0">
                <a:solidFill>
                  <a:schemeClr val="tx1"/>
                </a:solidFill>
                <a:latin typeface="+mn-lt"/>
                <a:ea typeface="+mn-ea"/>
                <a:cs typeface="+mn-cs"/>
              </a:defRPr>
            </a:lvl3pPr>
            <a:lvl4pPr marL="1600200" lvl="3" indent="-228600" algn="l" defTabSz="914400" rtl="0" eaLnBrk="0" fontAlgn="base" latinLnBrk="0" hangingPunct="0">
              <a:lnSpc>
                <a:spcPct val="100000"/>
              </a:lnSpc>
              <a:spcBef>
                <a:spcPct val="20000"/>
              </a:spcBef>
              <a:spcAft>
                <a:spcPct val="0"/>
              </a:spcAft>
              <a:buFont typeface="Monotype Sorts" pitchFamily="2" charset="2"/>
              <a:buChar char="–"/>
              <a:defRPr sz="2000" b="0" i="0" u="none" kern="1200" baseline="0">
                <a:solidFill>
                  <a:schemeClr val="tx1"/>
                </a:solidFill>
                <a:latin typeface="+mn-lt"/>
                <a:ea typeface="+mn-ea"/>
                <a:cs typeface="+mn-cs"/>
              </a:defRPr>
            </a:lvl4pPr>
            <a:lvl5pPr marL="2057400" lvl="4" indent="-228600" algn="l" defTabSz="914400" rtl="0" eaLnBrk="0" fontAlgn="base" latinLnBrk="0" hangingPunct="0">
              <a:lnSpc>
                <a:spcPct val="100000"/>
              </a:lnSpc>
              <a:spcBef>
                <a:spcPct val="20000"/>
              </a:spcBef>
              <a:spcAft>
                <a:spcPct val="0"/>
              </a:spcAft>
              <a:buFont typeface="Monotype Sorts" pitchFamily="2" charset="2"/>
              <a:buChar char="»"/>
              <a:defRPr sz="1800" b="0" i="0" u="none" kern="1200" baseline="0">
                <a:solidFill>
                  <a:schemeClr val="tx1"/>
                </a:solidFill>
                <a:latin typeface="+mn-lt"/>
                <a:ea typeface="+mn-ea"/>
                <a:cs typeface="+mn-cs"/>
              </a:defRPr>
            </a:lvl5pPr>
            <a:lvl6pPr marL="2514600" lvl="5" indent="-228600" algn="l" defTabSz="914400" rtl="0" eaLnBrk="0" fontAlgn="base" latinLnBrk="0" hangingPunct="0">
              <a:lnSpc>
                <a:spcPct val="100000"/>
              </a:lnSpc>
              <a:spcBef>
                <a:spcPct val="20000"/>
              </a:spcBef>
              <a:spcAft>
                <a:spcPct val="0"/>
              </a:spcAft>
              <a:buFont typeface="Monotype Sorts" pitchFamily="2" charset="2"/>
              <a:buChar char="»"/>
              <a:defRPr sz="1800" b="0" i="0" u="none" kern="1200" baseline="0">
                <a:solidFill>
                  <a:schemeClr val="tx1"/>
                </a:solidFill>
                <a:latin typeface="+mn-lt"/>
                <a:ea typeface="+mn-ea"/>
                <a:cs typeface="+mn-cs"/>
              </a:defRPr>
            </a:lvl6pPr>
            <a:lvl7pPr marL="2971800" lvl="6" indent="-228600" algn="l" defTabSz="914400" rtl="0" eaLnBrk="0" fontAlgn="base" latinLnBrk="0" hangingPunct="0">
              <a:lnSpc>
                <a:spcPct val="100000"/>
              </a:lnSpc>
              <a:spcBef>
                <a:spcPct val="20000"/>
              </a:spcBef>
              <a:spcAft>
                <a:spcPct val="0"/>
              </a:spcAft>
              <a:buFont typeface="Monotype Sorts" pitchFamily="2" charset="2"/>
              <a:buChar char="»"/>
              <a:defRPr sz="1800" b="0" i="0" u="none" kern="1200" baseline="0">
                <a:solidFill>
                  <a:schemeClr val="tx1"/>
                </a:solidFill>
                <a:latin typeface="+mn-lt"/>
                <a:ea typeface="+mn-ea"/>
                <a:cs typeface="+mn-cs"/>
              </a:defRPr>
            </a:lvl7pPr>
            <a:lvl8pPr marL="3429000" lvl="7" indent="-228600" algn="l" defTabSz="914400" rtl="0" eaLnBrk="0" fontAlgn="base" latinLnBrk="0" hangingPunct="0">
              <a:lnSpc>
                <a:spcPct val="100000"/>
              </a:lnSpc>
              <a:spcBef>
                <a:spcPct val="20000"/>
              </a:spcBef>
              <a:spcAft>
                <a:spcPct val="0"/>
              </a:spcAft>
              <a:buFont typeface="Monotype Sorts" pitchFamily="2" charset="2"/>
              <a:buChar char="»"/>
              <a:defRPr sz="1800" b="0" i="0" u="none" kern="1200" baseline="0">
                <a:solidFill>
                  <a:schemeClr val="tx1"/>
                </a:solidFill>
                <a:latin typeface="+mn-lt"/>
                <a:ea typeface="+mn-ea"/>
                <a:cs typeface="+mn-cs"/>
              </a:defRPr>
            </a:lvl8pPr>
            <a:lvl9pPr marL="3886200" lvl="8" indent="-228600" algn="l" defTabSz="914400" rtl="0" eaLnBrk="0" fontAlgn="base" latinLnBrk="0" hangingPunct="0">
              <a:lnSpc>
                <a:spcPct val="100000"/>
              </a:lnSpc>
              <a:spcBef>
                <a:spcPct val="20000"/>
              </a:spcBef>
              <a:spcAft>
                <a:spcPct val="0"/>
              </a:spcAft>
              <a:buFont typeface="Monotype Sorts" pitchFamily="2" charset="2"/>
              <a:buChar char="»"/>
              <a:defRPr sz="1800" b="0" i="0" u="none" kern="1200" baseline="0">
                <a:solidFill>
                  <a:schemeClr val="tx1"/>
                </a:solidFill>
                <a:latin typeface="+mn-lt"/>
                <a:ea typeface="+mn-ea"/>
                <a:cs typeface="+mn-cs"/>
              </a:defRPr>
            </a:lvl9pPr>
          </a:lstStyle>
          <a:p>
            <a:pPr>
              <a:lnSpc>
                <a:spcPct val="110000"/>
              </a:lnSpc>
              <a:buNone/>
            </a:pPr>
            <a:r>
              <a:rPr lang="en-GB" dirty="0"/>
              <a:t>	Retail organizations, e.g., supermarkets, collect and store massive amounts sales data, called </a:t>
            </a:r>
            <a:r>
              <a:rPr lang="en-GB" b="1" i="1" dirty="0">
                <a:solidFill>
                  <a:srgbClr val="000099"/>
                </a:solidFill>
              </a:rPr>
              <a:t>basket data</a:t>
            </a:r>
            <a:r>
              <a:rPr lang="en-GB" dirty="0"/>
              <a:t>.</a:t>
            </a:r>
          </a:p>
          <a:p>
            <a:pPr>
              <a:lnSpc>
                <a:spcPct val="110000"/>
              </a:lnSpc>
              <a:buNone/>
            </a:pPr>
            <a:r>
              <a:rPr lang="en-GB" dirty="0"/>
              <a:t>	A record consist of</a:t>
            </a:r>
          </a:p>
          <a:p>
            <a:pPr lvl="1">
              <a:lnSpc>
                <a:spcPct val="110000"/>
              </a:lnSpc>
              <a:buNone/>
            </a:pPr>
            <a:r>
              <a:rPr lang="en-GB" b="1" dirty="0">
                <a:solidFill>
                  <a:srgbClr val="000099"/>
                </a:solidFill>
              </a:rPr>
              <a:t>	transaction date</a:t>
            </a:r>
          </a:p>
          <a:p>
            <a:pPr lvl="1">
              <a:lnSpc>
                <a:spcPct val="110000"/>
              </a:lnSpc>
              <a:buNone/>
            </a:pPr>
            <a:r>
              <a:rPr lang="en-GB" b="1" dirty="0">
                <a:solidFill>
                  <a:srgbClr val="000099"/>
                </a:solidFill>
              </a:rPr>
              <a:t>	items bought</a:t>
            </a:r>
            <a:endParaRPr lang="en-GB" b="1" dirty="0"/>
          </a:p>
          <a:p>
            <a:pPr>
              <a:lnSpc>
                <a:spcPct val="110000"/>
              </a:lnSpc>
              <a:buNone/>
            </a:pPr>
            <a:r>
              <a:rPr lang="en-GB" dirty="0"/>
              <a:t>	Or, basket data may consist of items bought by a customer over a period.</a:t>
            </a:r>
          </a:p>
          <a:p>
            <a:pPr eaLnBrk="1" hangingPunct="1">
              <a:lnSpc>
                <a:spcPct val="90000"/>
              </a:lnSpc>
            </a:pPr>
            <a:r>
              <a:rPr dirty="0">
                <a:sym typeface="+mn-ea"/>
              </a:rPr>
              <a:t>Items frequently purchased together:</a:t>
            </a:r>
            <a:endParaRPr dirty="0"/>
          </a:p>
          <a:p>
            <a:pPr lvl="1" algn="ctr" eaLnBrk="1" hangingPunct="1">
              <a:lnSpc>
                <a:spcPct val="90000"/>
              </a:lnSpc>
              <a:buNone/>
            </a:pPr>
            <a:r>
              <a:rPr b="1" dirty="0">
                <a:solidFill>
                  <a:schemeClr val="tx2"/>
                </a:solidFill>
                <a:sym typeface="+mn-ea"/>
              </a:rPr>
              <a:t>Bread </a:t>
            </a:r>
            <a:r>
              <a:rPr b="1" dirty="0">
                <a:solidFill>
                  <a:schemeClr val="tx2"/>
                </a:solidFill>
                <a:latin typeface="cmsy10" pitchFamily="34" charset="0"/>
                <a:sym typeface="Symbol" panose="05050102010706020507" pitchFamily="18" charset="2"/>
              </a:rPr>
              <a:t></a:t>
            </a:r>
            <a:r>
              <a:rPr b="1" dirty="0">
                <a:solidFill>
                  <a:schemeClr val="tx2"/>
                </a:solidFill>
                <a:sym typeface="+mn-ea"/>
              </a:rPr>
              <a:t>PeanutButter</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8193"/>
          <p:cNvSpPr>
            <a:spLocks noGrp="1"/>
          </p:cNvSpPr>
          <p:nvPr>
            <p:ph type="title"/>
          </p:nvPr>
        </p:nvSpPr>
        <p:spPr>
          <a:xfrm>
            <a:off x="362585" y="125095"/>
            <a:ext cx="10515600" cy="1002030"/>
          </a:xfrm>
        </p:spPr>
        <p:txBody>
          <a:bodyPr anchor="ctr"/>
          <a:lstStyle/>
          <a:p>
            <a:r>
              <a:rPr lang="en-GB" b="1" dirty="0"/>
              <a:t>Example Association Rule</a:t>
            </a:r>
          </a:p>
        </p:txBody>
      </p:sp>
      <p:sp>
        <p:nvSpPr>
          <p:cNvPr id="8195" name="Text Placeholder 8194"/>
          <p:cNvSpPr>
            <a:spLocks noGrp="1"/>
          </p:cNvSpPr>
          <p:nvPr>
            <p:ph type="body" idx="1"/>
          </p:nvPr>
        </p:nvSpPr>
        <p:spPr>
          <a:xfrm>
            <a:off x="838200" y="1367155"/>
            <a:ext cx="11068685" cy="5541010"/>
          </a:xfrm>
        </p:spPr>
        <p:txBody>
          <a:bodyPr>
            <a:normAutofit fontScale="90000"/>
          </a:bodyPr>
          <a:lstStyle/>
          <a:p>
            <a:pPr algn="ctr">
              <a:lnSpc>
                <a:spcPct val="102000"/>
              </a:lnSpc>
              <a:spcBef>
                <a:spcPts val="1015"/>
              </a:spcBef>
              <a:buNone/>
            </a:pPr>
            <a:r>
              <a:rPr lang="en-GB" dirty="0">
                <a:solidFill>
                  <a:srgbClr val="0000FF"/>
                </a:solidFill>
              </a:rPr>
              <a:t>	</a:t>
            </a:r>
            <a:r>
              <a:rPr lang="en-GB" b="1" dirty="0">
                <a:solidFill>
                  <a:srgbClr val="0000FF"/>
                </a:solidFill>
              </a:rPr>
              <a:t>90% of transactions that purchase bread and butter also purchase milk</a:t>
            </a:r>
          </a:p>
          <a:p>
            <a:pPr algn="ctr">
              <a:lnSpc>
                <a:spcPct val="102000"/>
              </a:lnSpc>
              <a:spcBef>
                <a:spcPts val="1015"/>
              </a:spcBef>
              <a:buNone/>
            </a:pPr>
            <a:endParaRPr lang="en-GB" sz="1200" dirty="0">
              <a:solidFill>
                <a:srgbClr val="0000FF"/>
              </a:solidFill>
            </a:endParaRPr>
          </a:p>
          <a:p>
            <a:pPr eaLnBrk="1" hangingPunct="1">
              <a:buNone/>
            </a:pPr>
            <a:r>
              <a:rPr dirty="0">
                <a:sym typeface="+mn-ea"/>
              </a:rPr>
              <a:t>“IF” part = </a:t>
            </a:r>
            <a:r>
              <a:rPr b="1" dirty="0">
                <a:sym typeface="+mn-ea"/>
              </a:rPr>
              <a:t>antecedent</a:t>
            </a:r>
            <a:endParaRPr b="1" dirty="0"/>
          </a:p>
          <a:p>
            <a:pPr eaLnBrk="1" hangingPunct="1">
              <a:buNone/>
            </a:pPr>
            <a:r>
              <a:rPr dirty="0">
                <a:sym typeface="+mn-ea"/>
              </a:rPr>
              <a:t>“THEN” part = </a:t>
            </a:r>
            <a:r>
              <a:rPr b="1" dirty="0">
                <a:sym typeface="+mn-ea"/>
              </a:rPr>
              <a:t>consequent</a:t>
            </a:r>
            <a:endParaRPr b="1" dirty="0"/>
          </a:p>
          <a:p>
            <a:pPr eaLnBrk="1" hangingPunct="1">
              <a:lnSpc>
                <a:spcPct val="20000"/>
              </a:lnSpc>
            </a:pPr>
            <a:endParaRPr dirty="0"/>
          </a:p>
          <a:p>
            <a:pPr eaLnBrk="1" hangingPunct="1">
              <a:buNone/>
            </a:pPr>
            <a:r>
              <a:rPr dirty="0">
                <a:sym typeface="+mn-ea"/>
              </a:rPr>
              <a:t>“Item set” = the items (e.g., products) comprising the antecedent or consequent</a:t>
            </a:r>
            <a:endParaRPr dirty="0"/>
          </a:p>
          <a:p>
            <a:pPr eaLnBrk="1" hangingPunct="1">
              <a:lnSpc>
                <a:spcPct val="20000"/>
              </a:lnSpc>
            </a:pPr>
            <a:endParaRPr dirty="0"/>
          </a:p>
          <a:p>
            <a:pPr eaLnBrk="1" hangingPunct="1"/>
            <a:r>
              <a:rPr dirty="0">
                <a:sym typeface="+mn-ea"/>
              </a:rPr>
              <a:t>Antecedent and consequent are </a:t>
            </a:r>
            <a:r>
              <a:rPr i="1" dirty="0">
                <a:sym typeface="+mn-ea"/>
              </a:rPr>
              <a:t>disjoint</a:t>
            </a:r>
            <a:r>
              <a:rPr dirty="0">
                <a:sym typeface="+mn-ea"/>
              </a:rPr>
              <a:t> (i.e., have no items in common)</a:t>
            </a:r>
            <a:endParaRPr dirty="0"/>
          </a:p>
          <a:p>
            <a:pPr algn="ctr">
              <a:lnSpc>
                <a:spcPct val="72000"/>
              </a:lnSpc>
              <a:spcBef>
                <a:spcPts val="1015"/>
              </a:spcBef>
              <a:buClr>
                <a:schemeClr val="bg1"/>
              </a:buClr>
              <a:buSzPct val="100000"/>
              <a:buNone/>
            </a:pPr>
            <a:endParaRPr lang="en-GB" dirty="0">
              <a:solidFill>
                <a:srgbClr val="800000"/>
              </a:solidFill>
            </a:endParaRPr>
          </a:p>
          <a:p>
            <a:pPr algn="l">
              <a:lnSpc>
                <a:spcPct val="112000"/>
              </a:lnSpc>
              <a:spcBef>
                <a:spcPts val="1015"/>
              </a:spcBef>
              <a:buNone/>
            </a:pPr>
            <a:r>
              <a:rPr lang="en-GB" dirty="0"/>
              <a:t>	</a:t>
            </a:r>
            <a:r>
              <a:rPr lang="en-GB" b="1" dirty="0"/>
              <a:t>Antecedent:</a:t>
            </a:r>
            <a:r>
              <a:rPr lang="en-GB" dirty="0"/>
              <a:t> </a:t>
            </a:r>
            <a:r>
              <a:rPr lang="en-GB" dirty="0">
                <a:solidFill>
                  <a:srgbClr val="800080"/>
                </a:solidFill>
              </a:rPr>
              <a:t>bread and butter</a:t>
            </a:r>
          </a:p>
          <a:p>
            <a:pPr algn="l">
              <a:lnSpc>
                <a:spcPct val="112000"/>
              </a:lnSpc>
              <a:spcBef>
                <a:spcPts val="1015"/>
              </a:spcBef>
              <a:buNone/>
            </a:pPr>
            <a:r>
              <a:rPr lang="en-GB" dirty="0"/>
              <a:t>	</a:t>
            </a:r>
            <a:r>
              <a:rPr lang="en-GB" b="1" dirty="0"/>
              <a:t>Consequent:</a:t>
            </a:r>
            <a:r>
              <a:rPr lang="en-GB" dirty="0"/>
              <a:t> </a:t>
            </a:r>
            <a:r>
              <a:rPr lang="en-GB" dirty="0">
                <a:solidFill>
                  <a:srgbClr val="800080"/>
                </a:solidFill>
              </a:rPr>
              <a:t>milk</a:t>
            </a:r>
          </a:p>
          <a:p>
            <a:pPr algn="l">
              <a:lnSpc>
                <a:spcPct val="112000"/>
              </a:lnSpc>
              <a:spcBef>
                <a:spcPts val="1015"/>
              </a:spcBef>
              <a:buNone/>
            </a:pPr>
            <a:r>
              <a:rPr lang="en-GB" dirty="0"/>
              <a:t>	</a:t>
            </a:r>
            <a:r>
              <a:rPr lang="en-GB" b="1" dirty="0"/>
              <a:t>Confidence factor:</a:t>
            </a:r>
            <a:r>
              <a:rPr lang="en-GB" dirty="0"/>
              <a:t> </a:t>
            </a:r>
            <a:r>
              <a:rPr lang="en-GB" dirty="0">
                <a:solidFill>
                  <a:srgbClr val="800080"/>
                </a:solidFill>
              </a:rPr>
              <a:t>90%</a:t>
            </a:r>
            <a:endParaRPr dirty="0">
              <a:solidFill>
                <a:srgbClr val="80008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6866" name="Title 676865"/>
          <p:cNvSpPr>
            <a:spLocks noGrp="1"/>
          </p:cNvSpPr>
          <p:nvPr>
            <p:ph type="title"/>
          </p:nvPr>
        </p:nvSpPr>
        <p:spPr>
          <a:xfrm>
            <a:off x="264795" y="224790"/>
            <a:ext cx="10515600" cy="868680"/>
          </a:xfrm>
        </p:spPr>
        <p:txBody>
          <a:bodyPr/>
          <a:lstStyle/>
          <a:p>
            <a:r>
              <a:rPr b="1"/>
              <a:t>Transaction data: supermarket data</a:t>
            </a:r>
          </a:p>
        </p:txBody>
      </p:sp>
      <p:sp>
        <p:nvSpPr>
          <p:cNvPr id="676867" name="Text Placeholder 676866"/>
          <p:cNvSpPr>
            <a:spLocks noGrp="1"/>
          </p:cNvSpPr>
          <p:nvPr>
            <p:ph type="body" idx="1"/>
          </p:nvPr>
        </p:nvSpPr>
        <p:spPr>
          <a:xfrm>
            <a:off x="331470" y="1276350"/>
            <a:ext cx="11723370" cy="5318760"/>
          </a:xfrm>
        </p:spPr>
        <p:txBody>
          <a:bodyPr>
            <a:noAutofit/>
          </a:bodyPr>
          <a:lstStyle/>
          <a:p>
            <a:pPr>
              <a:lnSpc>
                <a:spcPct val="100000"/>
              </a:lnSpc>
            </a:pPr>
            <a:r>
              <a:t>Market basket transactions:</a:t>
            </a:r>
          </a:p>
          <a:p>
            <a:pPr lvl="1">
              <a:lnSpc>
                <a:spcPct val="100000"/>
              </a:lnSpc>
              <a:buNone/>
            </a:pPr>
            <a:r>
              <a:rPr sz="2800"/>
              <a:t>	t1: </a:t>
            </a:r>
            <a:r>
              <a:rPr sz="2800">
                <a:solidFill>
                  <a:srgbClr val="FF0000"/>
                </a:solidFill>
              </a:rPr>
              <a:t>{bread, cheese, milk}</a:t>
            </a:r>
          </a:p>
          <a:p>
            <a:pPr lvl="1">
              <a:lnSpc>
                <a:spcPct val="100000"/>
              </a:lnSpc>
              <a:buNone/>
            </a:pPr>
            <a:r>
              <a:rPr sz="2800"/>
              <a:t>	t2: </a:t>
            </a:r>
            <a:r>
              <a:rPr sz="2800">
                <a:solidFill>
                  <a:srgbClr val="FF0000"/>
                </a:solidFill>
              </a:rPr>
              <a:t>{apple, eggs, salt, yogurt}</a:t>
            </a:r>
          </a:p>
          <a:p>
            <a:pPr lvl="1">
              <a:lnSpc>
                <a:spcPct val="100000"/>
              </a:lnSpc>
              <a:buNone/>
            </a:pPr>
            <a:r>
              <a:rPr sz="2800"/>
              <a:t>	… 		</a:t>
            </a:r>
            <a:r>
              <a:rPr sz="2800">
                <a:solidFill>
                  <a:srgbClr val="FF0000"/>
                </a:solidFill>
              </a:rPr>
              <a:t>…</a:t>
            </a:r>
          </a:p>
          <a:p>
            <a:pPr lvl="1">
              <a:lnSpc>
                <a:spcPct val="100000"/>
              </a:lnSpc>
              <a:buNone/>
            </a:pPr>
            <a:r>
              <a:rPr sz="2800" dirty="0" err="1"/>
              <a:t>	tn</a:t>
            </a:r>
            <a:r>
              <a:rPr sz="2800"/>
              <a:t>: </a:t>
            </a:r>
            <a:r>
              <a:rPr sz="2800">
                <a:solidFill>
                  <a:srgbClr val="FF0000"/>
                </a:solidFill>
              </a:rPr>
              <a:t>{biscuit, eggs, milk}</a:t>
            </a:r>
          </a:p>
          <a:p>
            <a:pPr>
              <a:lnSpc>
                <a:spcPct val="100000"/>
              </a:lnSpc>
            </a:pPr>
            <a:r>
              <a:t>Concepts:</a:t>
            </a:r>
          </a:p>
          <a:p>
            <a:pPr lvl="1">
              <a:lnSpc>
                <a:spcPct val="100000"/>
              </a:lnSpc>
            </a:pPr>
            <a:r>
              <a:rPr sz="2800">
                <a:solidFill>
                  <a:srgbClr val="FF0000"/>
                </a:solidFill>
              </a:rPr>
              <a:t>An </a:t>
            </a:r>
            <a:r>
              <a:rPr sz="2800" i="1">
                <a:solidFill>
                  <a:srgbClr val="FF0000"/>
                </a:solidFill>
              </a:rPr>
              <a:t>item</a:t>
            </a:r>
            <a:r>
              <a:rPr sz="2800">
                <a:solidFill>
                  <a:srgbClr val="FF0000"/>
                </a:solidFill>
              </a:rPr>
              <a:t>:</a:t>
            </a:r>
            <a:r>
              <a:rPr sz="2800"/>
              <a:t>  an item/article in a basket</a:t>
            </a:r>
          </a:p>
          <a:p>
            <a:pPr lvl="1">
              <a:lnSpc>
                <a:spcPct val="100000"/>
              </a:lnSpc>
            </a:pPr>
            <a:r>
              <a:rPr sz="2800" i="1">
                <a:solidFill>
                  <a:srgbClr val="FF0000"/>
                </a:solidFill>
              </a:rPr>
              <a:t>I</a:t>
            </a:r>
            <a:r>
              <a:rPr sz="2800">
                <a:solidFill>
                  <a:srgbClr val="FF0000"/>
                </a:solidFill>
              </a:rPr>
              <a:t>:</a:t>
            </a:r>
            <a:r>
              <a:rPr sz="2800">
                <a:solidFill>
                  <a:schemeClr val="hlink"/>
                </a:solidFill>
              </a:rPr>
              <a:t> </a:t>
            </a:r>
            <a:r>
              <a:rPr sz="2800"/>
              <a:t>the set of all items sold in the store</a:t>
            </a:r>
          </a:p>
          <a:p>
            <a:pPr lvl="1">
              <a:lnSpc>
                <a:spcPct val="100000"/>
              </a:lnSpc>
            </a:pPr>
            <a:r>
              <a:rPr sz="2800">
                <a:solidFill>
                  <a:srgbClr val="FF0000"/>
                </a:solidFill>
              </a:rPr>
              <a:t>A </a:t>
            </a:r>
            <a:r>
              <a:rPr sz="2800" i="1">
                <a:solidFill>
                  <a:srgbClr val="FF0000"/>
                </a:solidFill>
              </a:rPr>
              <a:t>transaction</a:t>
            </a:r>
            <a:r>
              <a:rPr sz="2800">
                <a:solidFill>
                  <a:srgbClr val="FF0000"/>
                </a:solidFill>
              </a:rPr>
              <a:t>:</a:t>
            </a:r>
            <a:r>
              <a:rPr sz="2800"/>
              <a:t> items purchased in a basket; it may have TID (transaction ID)</a:t>
            </a:r>
          </a:p>
          <a:p>
            <a:pPr lvl="1">
              <a:lnSpc>
                <a:spcPct val="100000"/>
              </a:lnSpc>
            </a:pPr>
            <a:r>
              <a:rPr sz="2800">
                <a:solidFill>
                  <a:srgbClr val="FF0000"/>
                </a:solidFill>
              </a:rPr>
              <a:t>A </a:t>
            </a:r>
            <a:r>
              <a:rPr sz="2800" i="1">
                <a:solidFill>
                  <a:srgbClr val="FF0000"/>
                </a:solidFill>
              </a:rPr>
              <a:t>transactional</a:t>
            </a:r>
            <a:r>
              <a:rPr sz="2800">
                <a:solidFill>
                  <a:srgbClr val="FF0000"/>
                </a:solidFill>
              </a:rPr>
              <a:t> </a:t>
            </a:r>
            <a:r>
              <a:rPr sz="2800" i="1">
                <a:solidFill>
                  <a:srgbClr val="FF0000"/>
                </a:solidFill>
              </a:rPr>
              <a:t>dataset</a:t>
            </a:r>
            <a:r>
              <a:rPr sz="2800"/>
              <a:t>: A set of transactions</a:t>
            </a:r>
          </a:p>
        </p:txBody>
      </p:sp>
      <p:sp>
        <p:nvSpPr>
          <p:cNvPr id="3" name="Slide Number Placeholder 2"/>
          <p:cNvSpPr>
            <a:spLocks noGrp="1"/>
          </p:cNvSpPr>
          <p:nvPr>
            <p:ph type="sldNum" sz="quarter" idx="12"/>
          </p:nvPr>
        </p:nvSpPr>
        <p:spPr/>
        <p:txBody>
          <a:bodyPr/>
          <a:lstStyle/>
          <a:p>
            <a:pPr lvl="0"/>
            <a:fld id="{9A0DB2DC-4C9A-4742-B13C-FB6460FD3503}" type="slidenum">
              <a:rPr lang="en-US" altLang="en-US" dirty="0"/>
              <a:t>7</a:t>
            </a:fld>
            <a:endParaRPr lang="en-US"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5538" name="Title 705537"/>
          <p:cNvSpPr>
            <a:spLocks noGrp="1"/>
          </p:cNvSpPr>
          <p:nvPr>
            <p:ph type="title"/>
          </p:nvPr>
        </p:nvSpPr>
        <p:spPr>
          <a:xfrm>
            <a:off x="264795" y="235585"/>
            <a:ext cx="10515600" cy="881380"/>
          </a:xfrm>
        </p:spPr>
        <p:txBody>
          <a:bodyPr>
            <a:normAutofit/>
          </a:bodyPr>
          <a:lstStyle/>
          <a:p>
            <a:r>
              <a:rPr b="1"/>
              <a:t>Transaction data: a set of documents</a:t>
            </a:r>
          </a:p>
        </p:txBody>
      </p:sp>
      <p:sp>
        <p:nvSpPr>
          <p:cNvPr id="705539" name="Text Placeholder 705538"/>
          <p:cNvSpPr>
            <a:spLocks noGrp="1"/>
          </p:cNvSpPr>
          <p:nvPr>
            <p:ph type="body" idx="1"/>
          </p:nvPr>
        </p:nvSpPr>
        <p:spPr>
          <a:xfrm>
            <a:off x="488315" y="1341755"/>
            <a:ext cx="11290935" cy="4789170"/>
          </a:xfrm>
        </p:spPr>
        <p:txBody>
          <a:bodyPr/>
          <a:lstStyle/>
          <a:p>
            <a:r>
              <a:rPr lang="en-US" altLang="ja-JP" b="1">
                <a:solidFill>
                  <a:srgbClr val="FF0000"/>
                </a:solidFill>
                <a:ea typeface="MS PGothic" panose="020B0600070205080204" pitchFamily="34" charset="-128"/>
              </a:rPr>
              <a:t>A text document data set. Each document is treated as a “bag” of keywords</a:t>
            </a:r>
            <a:endParaRPr lang="en-US" altLang="ja-JP">
              <a:solidFill>
                <a:srgbClr val="FF0000"/>
              </a:solidFill>
              <a:ea typeface="MS PGothic" panose="020B0600070205080204" pitchFamily="34" charset="-128"/>
            </a:endParaRPr>
          </a:p>
          <a:p>
            <a:pPr>
              <a:buNone/>
            </a:pPr>
            <a:r>
              <a:rPr lang="en-US" altLang="ja-JP">
                <a:ea typeface="MS PGothic" panose="020B0600070205080204" pitchFamily="34" charset="-128"/>
              </a:rPr>
              <a:t>	doc1: 	Student, Teach, School 	 </a:t>
            </a:r>
          </a:p>
          <a:p>
            <a:pPr>
              <a:buNone/>
            </a:pPr>
            <a:r>
              <a:rPr lang="en-US" altLang="ja-JP">
                <a:ea typeface="MS PGothic" panose="020B0600070205080204" pitchFamily="34" charset="-128"/>
              </a:rPr>
              <a:t>	doc2: 	Student, School 		 </a:t>
            </a:r>
          </a:p>
          <a:p>
            <a:pPr>
              <a:buNone/>
            </a:pPr>
            <a:r>
              <a:rPr lang="en-US" altLang="ja-JP">
                <a:ea typeface="MS PGothic" panose="020B0600070205080204" pitchFamily="34" charset="-128"/>
              </a:rPr>
              <a:t>	doc3: 	Teach, School, City, Game 	 </a:t>
            </a:r>
          </a:p>
          <a:p>
            <a:pPr>
              <a:buNone/>
            </a:pPr>
            <a:r>
              <a:rPr lang="en-US" altLang="ja-JP">
                <a:ea typeface="MS PGothic" panose="020B0600070205080204" pitchFamily="34" charset="-128"/>
              </a:rPr>
              <a:t>	doc4: 	Baseball, Basketball		</a:t>
            </a:r>
          </a:p>
          <a:p>
            <a:pPr>
              <a:buNone/>
            </a:pPr>
            <a:r>
              <a:rPr lang="en-US" altLang="ja-JP">
                <a:ea typeface="MS PGothic" panose="020B0600070205080204" pitchFamily="34" charset="-128"/>
              </a:rPr>
              <a:t>	doc5: 	Basketball, Player, Spectator  	</a:t>
            </a:r>
          </a:p>
          <a:p>
            <a:pPr>
              <a:buNone/>
            </a:pPr>
            <a:r>
              <a:rPr lang="en-US" altLang="ja-JP">
                <a:ea typeface="MS PGothic" panose="020B0600070205080204" pitchFamily="34" charset="-128"/>
              </a:rPr>
              <a:t>	doc6: 	Baseball, Coach, Game, Team</a:t>
            </a:r>
          </a:p>
          <a:p>
            <a:pPr>
              <a:buNone/>
            </a:pPr>
            <a:r>
              <a:rPr lang="en-US" altLang="ja-JP">
                <a:ea typeface="MS PGothic" panose="020B0600070205080204" pitchFamily="34" charset="-128"/>
              </a:rPr>
              <a:t>	doc7: 	Basketball, Team, City, Game 	</a:t>
            </a:r>
          </a:p>
        </p:txBody>
      </p:sp>
      <p:sp>
        <p:nvSpPr>
          <p:cNvPr id="3" name="Slide Number Placeholder 2"/>
          <p:cNvSpPr>
            <a:spLocks noGrp="1"/>
          </p:cNvSpPr>
          <p:nvPr>
            <p:ph type="sldNum" sz="quarter" idx="12"/>
          </p:nvPr>
        </p:nvSpPr>
        <p:spPr/>
        <p:txBody>
          <a:bodyPr/>
          <a:lstStyle/>
          <a:p>
            <a:pPr lvl="0"/>
            <a:fld id="{9A0DB2DC-4C9A-4742-B13C-FB6460FD3503}" type="slidenum">
              <a:rPr lang="en-US" altLang="en-US" dirty="0"/>
              <a:t>8</a:t>
            </a:fld>
            <a:endParaRPr lang="en-US"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1874" name="Title 1231873"/>
          <p:cNvSpPr>
            <a:spLocks noGrp="1"/>
          </p:cNvSpPr>
          <p:nvPr>
            <p:ph type="title"/>
          </p:nvPr>
        </p:nvSpPr>
        <p:spPr>
          <a:xfrm>
            <a:off x="304800" y="267335"/>
            <a:ext cx="10515600" cy="799465"/>
          </a:xfrm>
        </p:spPr>
        <p:txBody>
          <a:bodyPr lIns="90488" tIns="44450" rIns="90488" bIns="44450" anchor="b">
            <a:normAutofit/>
          </a:bodyPr>
          <a:lstStyle/>
          <a:p>
            <a:r>
              <a:rPr b="1" dirty="0" err="1"/>
              <a:t>Definition: Frequent Itemset</a:t>
            </a:r>
          </a:p>
        </p:txBody>
      </p:sp>
      <p:sp>
        <p:nvSpPr>
          <p:cNvPr id="1231875" name="Text Placeholder 1231874"/>
          <p:cNvSpPr>
            <a:spLocks noGrp="1"/>
          </p:cNvSpPr>
          <p:nvPr>
            <p:ph type="body" sz="half" idx="1"/>
          </p:nvPr>
        </p:nvSpPr>
        <p:spPr>
          <a:xfrm>
            <a:off x="304800" y="1293495"/>
            <a:ext cx="11183620" cy="5334000"/>
          </a:xfrm>
        </p:spPr>
        <p:txBody>
          <a:bodyPr lIns="90488" tIns="44450" rIns="90488" bIns="44450">
            <a:noAutofit/>
          </a:bodyPr>
          <a:lstStyle/>
          <a:p>
            <a:pPr marL="342900" indent="-342900">
              <a:lnSpc>
                <a:spcPct val="80000"/>
              </a:lnSpc>
            </a:pPr>
            <a:r>
              <a:rPr sz="2600" b="1" dirty="0" err="1"/>
              <a:t>Itemset</a:t>
            </a:r>
            <a:endParaRPr sz="2600" b="1"/>
          </a:p>
          <a:p>
            <a:pPr marL="742950" lvl="1" indent="-285750">
              <a:lnSpc>
                <a:spcPct val="80000"/>
              </a:lnSpc>
            </a:pPr>
            <a:r>
              <a:rPr sz="2600"/>
              <a:t>A collection of one or more items</a:t>
            </a:r>
          </a:p>
          <a:p>
            <a:pPr marL="1143000" lvl="2" indent="-228600">
              <a:lnSpc>
                <a:spcPct val="80000"/>
              </a:lnSpc>
            </a:pPr>
            <a:r>
              <a:rPr sz="2600"/>
              <a:t>Example: {Milk, Bread, Diaper}</a:t>
            </a:r>
          </a:p>
          <a:p>
            <a:pPr marL="742950" lvl="1" indent="-285750">
              <a:lnSpc>
                <a:spcPct val="80000"/>
              </a:lnSpc>
            </a:pPr>
            <a:r>
              <a:rPr sz="2600" dirty="0" err="1"/>
              <a:t>k-itemset</a:t>
            </a:r>
            <a:endParaRPr sz="2600"/>
          </a:p>
          <a:p>
            <a:pPr marL="1143000" lvl="2" indent="-228600">
              <a:lnSpc>
                <a:spcPct val="80000"/>
              </a:lnSpc>
            </a:pPr>
            <a:r>
              <a:rPr sz="2600" dirty="0" err="1"/>
              <a:t>An itemset</a:t>
            </a:r>
            <a:r>
              <a:rPr sz="2600"/>
              <a:t> that contains k items</a:t>
            </a:r>
            <a:endParaRPr sz="2600" b="1"/>
          </a:p>
          <a:p>
            <a:pPr marL="342900" indent="-342900">
              <a:lnSpc>
                <a:spcPct val="80000"/>
              </a:lnSpc>
            </a:pPr>
            <a:r>
              <a:rPr sz="2600" b="1"/>
              <a:t>Support count (</a:t>
            </a:r>
            <a:r>
              <a:rPr sz="2600" b="1">
                <a:sym typeface="Symbol" panose="05050102010706020507" pitchFamily="18" charset="2"/>
              </a:rPr>
              <a:t>)</a:t>
            </a:r>
          </a:p>
          <a:p>
            <a:pPr marL="742950" lvl="1" indent="-285750">
              <a:lnSpc>
                <a:spcPct val="80000"/>
              </a:lnSpc>
            </a:pPr>
            <a:r>
              <a:rPr sz="2600" dirty="0" err="1"/>
              <a:t>Frequency of occurrence of an itemset</a:t>
            </a:r>
            <a:endParaRPr sz="2600"/>
          </a:p>
          <a:p>
            <a:pPr marL="742950" lvl="1" indent="-285750">
              <a:lnSpc>
                <a:spcPct val="80000"/>
              </a:lnSpc>
            </a:pPr>
            <a:r>
              <a:rPr sz="2600"/>
              <a:t>E.g.   </a:t>
            </a:r>
            <a:r>
              <a:rPr sz="2600">
                <a:sym typeface="Symbol" panose="05050102010706020507" pitchFamily="18" charset="2"/>
              </a:rPr>
              <a:t>({Milk, Bread,Diaper}) = 2 </a:t>
            </a:r>
            <a:endParaRPr sz="2600"/>
          </a:p>
          <a:p>
            <a:pPr marL="342900" indent="-342900">
              <a:lnSpc>
                <a:spcPct val="80000"/>
              </a:lnSpc>
            </a:pPr>
            <a:r>
              <a:rPr sz="2600" b="1"/>
              <a:t>Support</a:t>
            </a:r>
          </a:p>
          <a:p>
            <a:pPr marL="742950" lvl="1" indent="-285750">
              <a:lnSpc>
                <a:spcPct val="80000"/>
              </a:lnSpc>
            </a:pPr>
            <a:r>
              <a:rPr sz="2600" dirty="0" err="1"/>
              <a:t>Fraction of transactions that contain an itemset</a:t>
            </a:r>
            <a:endParaRPr sz="2600"/>
          </a:p>
          <a:p>
            <a:pPr marL="742950" lvl="1" indent="-285750">
              <a:lnSpc>
                <a:spcPct val="80000"/>
              </a:lnSpc>
            </a:pPr>
            <a:r>
              <a:rPr sz="2600"/>
              <a:t>E.g.   s({Milk, Bread, Diaper}) = 2/5</a:t>
            </a:r>
          </a:p>
          <a:p>
            <a:pPr marL="342900" indent="-342900">
              <a:lnSpc>
                <a:spcPct val="80000"/>
              </a:lnSpc>
            </a:pPr>
            <a:r>
              <a:rPr sz="2600" b="1" dirty="0" err="1"/>
              <a:t>Frequent Itemset</a:t>
            </a:r>
            <a:endParaRPr sz="2600" b="1"/>
          </a:p>
          <a:p>
            <a:pPr marL="742950" lvl="1" indent="-285750">
              <a:lnSpc>
                <a:spcPct val="80000"/>
              </a:lnSpc>
            </a:pPr>
            <a:r>
              <a:rPr sz="2600" dirty="0" err="1"/>
              <a:t>An itemset</a:t>
            </a:r>
            <a:r>
              <a:rPr sz="2600"/>
              <a:t> whose support is greater than or equal to a </a:t>
            </a:r>
            <a:r>
              <a:rPr sz="2600" b="1" i="1" dirty="0" err="1"/>
              <a:t>minsup</a:t>
            </a:r>
            <a:r>
              <a:rPr sz="2600"/>
              <a:t> threshold</a:t>
            </a:r>
          </a:p>
        </p:txBody>
      </p:sp>
      <p:graphicFrame>
        <p:nvGraphicFramePr>
          <p:cNvPr id="1231917" name="Online Image Placeholder 1231916"/>
          <p:cNvGraphicFramePr>
            <a:graphicFrameLocks noGrp="1"/>
          </p:cNvGraphicFramePr>
          <p:nvPr>
            <p:ph type="clipArt" sz="half" idx="2"/>
          </p:nvPr>
        </p:nvGraphicFramePr>
        <p:xfrm>
          <a:off x="6837680" y="1461770"/>
          <a:ext cx="5139055" cy="3061335"/>
        </p:xfrm>
        <a:graphic>
          <a:graphicData uri="http://schemas.openxmlformats.org/presentationml/2006/ole">
            <mc:AlternateContent xmlns:mc="http://schemas.openxmlformats.org/markup-compatibility/2006">
              <mc:Choice xmlns:v="urn:schemas-microsoft-com:vml" Requires="v">
                <p:oleObj r:id="rId2" imgW="3354705" imgH="2018030" progId="Word.Document.8">
                  <p:embed/>
                </p:oleObj>
              </mc:Choice>
              <mc:Fallback>
                <p:oleObj r:id="rId2" imgW="3354705" imgH="2018030" progId="Word.Document.8">
                  <p:embed/>
                  <p:pic>
                    <p:nvPicPr>
                      <p:cNvPr id="0" name="Picture 3103"/>
                      <p:cNvPicPr/>
                      <p:nvPr/>
                    </p:nvPicPr>
                    <p:blipFill>
                      <a:blip r:embed="rId3"/>
                      <a:stretch>
                        <a:fillRect/>
                      </a:stretch>
                    </p:blipFill>
                    <p:spPr>
                      <a:xfrm>
                        <a:off x="6837680" y="1461770"/>
                        <a:ext cx="5139055" cy="3061335"/>
                      </a:xfrm>
                      <a:prstGeom prst="rect">
                        <a:avLst/>
                      </a:prstGeom>
                      <a:noFill/>
                      <a:ln w="38100">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3187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3187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3187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3187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3187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31875">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31875">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31875">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31875">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31875">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31875">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31875">
                                            <p:txEl>
                                              <p:pRg st="11" end="11"/>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231875">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1875"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6146" name="Title 646145"/>
          <p:cNvSpPr>
            <a:spLocks noGrp="1"/>
          </p:cNvSpPr>
          <p:nvPr>
            <p:ph type="title"/>
          </p:nvPr>
        </p:nvSpPr>
        <p:spPr>
          <a:xfrm>
            <a:off x="286385" y="170815"/>
            <a:ext cx="10515600" cy="882650"/>
          </a:xfrm>
        </p:spPr>
        <p:txBody>
          <a:bodyPr/>
          <a:lstStyle/>
          <a:p>
            <a:r>
              <a:rPr b="1"/>
              <a:t>The model: data</a:t>
            </a:r>
          </a:p>
        </p:txBody>
      </p:sp>
      <p:sp>
        <p:nvSpPr>
          <p:cNvPr id="646147" name="Text Placeholder 646146"/>
          <p:cNvSpPr>
            <a:spLocks noGrp="1"/>
          </p:cNvSpPr>
          <p:nvPr>
            <p:ph type="body" idx="1"/>
          </p:nvPr>
        </p:nvSpPr>
        <p:spPr>
          <a:xfrm>
            <a:off x="477520" y="1130300"/>
            <a:ext cx="11236960" cy="4596765"/>
          </a:xfrm>
        </p:spPr>
        <p:txBody>
          <a:bodyPr/>
          <a:lstStyle/>
          <a:p>
            <a:pPr>
              <a:lnSpc>
                <a:spcPct val="70000"/>
              </a:lnSpc>
            </a:pPr>
            <a:r>
              <a:rPr sz="2800" b="1" i="1">
                <a:solidFill>
                  <a:srgbClr val="FF0000"/>
                </a:solidFill>
              </a:rPr>
              <a:t>I</a:t>
            </a:r>
            <a:r>
              <a:rPr sz="2800" b="1">
                <a:solidFill>
                  <a:srgbClr val="FF0000"/>
                </a:solidFill>
              </a:rPr>
              <a:t> = {</a:t>
            </a:r>
            <a:r>
              <a:rPr sz="2800" b="1" i="1">
                <a:solidFill>
                  <a:srgbClr val="FF0000"/>
                </a:solidFill>
              </a:rPr>
              <a:t>i</a:t>
            </a:r>
            <a:r>
              <a:rPr sz="2800" b="1" baseline="-25000">
                <a:solidFill>
                  <a:srgbClr val="FF0000"/>
                </a:solidFill>
              </a:rPr>
              <a:t>1</a:t>
            </a:r>
            <a:r>
              <a:rPr sz="2800" b="1">
                <a:solidFill>
                  <a:srgbClr val="FF0000"/>
                </a:solidFill>
              </a:rPr>
              <a:t>, </a:t>
            </a:r>
            <a:r>
              <a:rPr sz="2800" b="1" i="1">
                <a:solidFill>
                  <a:srgbClr val="FF0000"/>
                </a:solidFill>
              </a:rPr>
              <a:t>i</a:t>
            </a:r>
            <a:r>
              <a:rPr sz="2800" b="1" baseline="-25000">
                <a:solidFill>
                  <a:srgbClr val="FF0000"/>
                </a:solidFill>
              </a:rPr>
              <a:t>2</a:t>
            </a:r>
            <a:r>
              <a:rPr sz="2800" b="1">
                <a:solidFill>
                  <a:srgbClr val="FF0000"/>
                </a:solidFill>
              </a:rPr>
              <a:t>, …, </a:t>
            </a:r>
            <a:r>
              <a:rPr sz="2800" b="1" i="1" dirty="0" err="1">
                <a:solidFill>
                  <a:srgbClr val="FF0000"/>
                </a:solidFill>
              </a:rPr>
              <a:t>i</a:t>
            </a:r>
            <a:r>
              <a:rPr sz="2800" b="1" i="1" baseline="-25000" dirty="0" err="1">
                <a:solidFill>
                  <a:srgbClr val="FF0000"/>
                </a:solidFill>
              </a:rPr>
              <a:t>m</a:t>
            </a:r>
            <a:r>
              <a:rPr sz="2800" b="1">
                <a:solidFill>
                  <a:srgbClr val="FF0000"/>
                </a:solidFill>
              </a:rPr>
              <a:t>}</a:t>
            </a:r>
            <a:r>
              <a:rPr sz="2800"/>
              <a:t>: a set of </a:t>
            </a:r>
            <a:r>
              <a:rPr sz="2800" i="1"/>
              <a:t>items</a:t>
            </a:r>
            <a:r>
              <a:rPr sz="2800"/>
              <a:t>.</a:t>
            </a:r>
          </a:p>
          <a:p>
            <a:pPr>
              <a:lnSpc>
                <a:spcPct val="70000"/>
              </a:lnSpc>
            </a:pPr>
            <a:r>
              <a:rPr sz="2800" b="1">
                <a:solidFill>
                  <a:srgbClr val="FF0000"/>
                </a:solidFill>
              </a:rPr>
              <a:t>Transaction</a:t>
            </a:r>
            <a:r>
              <a:rPr sz="2800" b="1"/>
              <a:t> </a:t>
            </a:r>
            <a:r>
              <a:rPr sz="2800" b="1" i="1">
                <a:solidFill>
                  <a:srgbClr val="FF0000"/>
                </a:solidFill>
              </a:rPr>
              <a:t>t</a:t>
            </a:r>
            <a:r>
              <a:rPr sz="2800"/>
              <a:t> : </a:t>
            </a:r>
          </a:p>
          <a:p>
            <a:pPr marL="742950" lvl="1" indent="-285750">
              <a:lnSpc>
                <a:spcPct val="70000"/>
              </a:lnSpc>
            </a:pPr>
            <a:r>
              <a:rPr sz="2800" i="1"/>
              <a:t>t</a:t>
            </a:r>
            <a:r>
              <a:rPr sz="2800"/>
              <a:t> a set of items, and </a:t>
            </a:r>
            <a:r>
              <a:rPr sz="2800" i="1"/>
              <a:t>t</a:t>
            </a:r>
            <a:r>
              <a:rPr sz="2800"/>
              <a:t> </a:t>
            </a:r>
            <a:r>
              <a:rPr sz="2800">
                <a:sym typeface="Symbol" panose="05050102010706020507" pitchFamily="18" charset="2"/>
              </a:rPr>
              <a:t></a:t>
            </a:r>
            <a:r>
              <a:rPr sz="2800"/>
              <a:t> </a:t>
            </a:r>
            <a:r>
              <a:rPr sz="2800" i="1"/>
              <a:t>I</a:t>
            </a:r>
            <a:r>
              <a:rPr sz="2800"/>
              <a:t>.</a:t>
            </a:r>
          </a:p>
          <a:p>
            <a:pPr>
              <a:lnSpc>
                <a:spcPct val="70000"/>
              </a:lnSpc>
            </a:pPr>
            <a:r>
              <a:rPr sz="2800" b="1">
                <a:solidFill>
                  <a:srgbClr val="FF0000"/>
                </a:solidFill>
              </a:rPr>
              <a:t>Transaction Database </a:t>
            </a:r>
            <a:r>
              <a:rPr sz="2800" b="1" i="1">
                <a:solidFill>
                  <a:srgbClr val="FF0000"/>
                </a:solidFill>
              </a:rPr>
              <a:t>T</a:t>
            </a:r>
            <a:r>
              <a:rPr sz="2800" b="1">
                <a:solidFill>
                  <a:srgbClr val="FF0000"/>
                </a:solidFill>
              </a:rPr>
              <a:t>:</a:t>
            </a:r>
            <a:r>
              <a:rPr sz="2800" b="1"/>
              <a:t> </a:t>
            </a:r>
            <a:r>
              <a:rPr sz="2800"/>
              <a:t>a set of transactions </a:t>
            </a:r>
            <a:r>
              <a:rPr sz="2800" i="1"/>
              <a:t>T</a:t>
            </a:r>
            <a:r>
              <a:rPr sz="2800"/>
              <a:t> = {t</a:t>
            </a:r>
            <a:r>
              <a:rPr sz="2800" baseline="-25000"/>
              <a:t>1</a:t>
            </a:r>
            <a:r>
              <a:rPr sz="2800"/>
              <a:t>, t</a:t>
            </a:r>
            <a:r>
              <a:rPr sz="2800" baseline="-25000"/>
              <a:t>2</a:t>
            </a:r>
            <a:r>
              <a:rPr sz="2800" dirty="0" err="1"/>
              <a:t>, …, t</a:t>
            </a:r>
            <a:r>
              <a:rPr sz="2800" baseline="-25000" dirty="0" err="1"/>
              <a:t>n</a:t>
            </a:r>
            <a:r>
              <a:rPr sz="2800"/>
              <a:t>}.</a:t>
            </a:r>
          </a:p>
          <a:p>
            <a:endParaRPr sz="2800"/>
          </a:p>
        </p:txBody>
      </p:sp>
      <p:sp>
        <p:nvSpPr>
          <p:cNvPr id="3" name="Slide Number Placeholder 2"/>
          <p:cNvSpPr>
            <a:spLocks noGrp="1"/>
          </p:cNvSpPr>
          <p:nvPr>
            <p:ph type="sldNum" sz="quarter" idx="12"/>
          </p:nvPr>
        </p:nvSpPr>
        <p:spPr/>
        <p:txBody>
          <a:bodyPr/>
          <a:lstStyle/>
          <a:p>
            <a:pPr lvl="0"/>
            <a:fld id="{9A0DB2DC-4C9A-4742-B13C-FB6460FD3503}" type="slidenum">
              <a:rPr lang="en-US" altLang="en-US" dirty="0"/>
              <a:t>10</a:t>
            </a:fld>
            <a:endParaRPr lang="en-US" altLang="en-US" dirty="0"/>
          </a:p>
        </p:txBody>
      </p:sp>
      <p:sp>
        <p:nvSpPr>
          <p:cNvPr id="16387" name="Text Placeholder 16386"/>
          <p:cNvSpPr>
            <a:spLocks noGrp="1"/>
          </p:cNvSpPr>
          <p:nvPr/>
        </p:nvSpPr>
        <p:spPr>
          <a:xfrm>
            <a:off x="403860" y="2912110"/>
            <a:ext cx="11203305" cy="4114800"/>
          </a:xfrm>
          <a:prstGeom prst="rect">
            <a:avLst/>
          </a:prstGeom>
          <a:noFill/>
          <a:ln w="9525">
            <a:noFill/>
          </a:ln>
        </p:spPr>
        <p:txBody>
          <a:bodyPr/>
          <a:lstStyle>
            <a:lvl1pPr marL="342900" lvl="0" indent="-342900" algn="l" defTabSz="914400" rtl="0" eaLnBrk="0" fontAlgn="base" latinLnBrk="0" hangingPunct="0">
              <a:lnSpc>
                <a:spcPct val="90000"/>
              </a:lnSpc>
              <a:spcBef>
                <a:spcPct val="20000"/>
              </a:spcBef>
              <a:spcAft>
                <a:spcPct val="0"/>
              </a:spcAft>
              <a:buSzPct val="50000"/>
              <a:buFont typeface="Monotype Sorts" pitchFamily="2" charset="2"/>
              <a:buChar char="l"/>
              <a:defRPr sz="2800" b="0" i="0" u="none" kern="1200" baseline="0">
                <a:solidFill>
                  <a:schemeClr val="tx1"/>
                </a:solidFill>
                <a:latin typeface="+mn-lt"/>
                <a:ea typeface="+mn-ea"/>
                <a:cs typeface="+mn-cs"/>
              </a:defRPr>
            </a:lvl1pPr>
            <a:lvl2pPr marL="742950" lvl="1" indent="-285750" algn="l" defTabSz="914400" rtl="0" eaLnBrk="0" fontAlgn="base" latinLnBrk="0" hangingPunct="0">
              <a:lnSpc>
                <a:spcPct val="100000"/>
              </a:lnSpc>
              <a:spcBef>
                <a:spcPct val="10000"/>
              </a:spcBef>
              <a:spcAft>
                <a:spcPct val="0"/>
              </a:spcAft>
              <a:buSzPct val="50000"/>
              <a:buFont typeface="Monotype Sorts" pitchFamily="2" charset="2"/>
              <a:buChar char="n"/>
              <a:defRPr sz="2800" b="0" i="0" u="none" kern="1200" baseline="0">
                <a:solidFill>
                  <a:schemeClr val="tx1"/>
                </a:solidFill>
                <a:latin typeface="+mn-lt"/>
                <a:ea typeface="+mn-ea"/>
                <a:cs typeface="+mn-cs"/>
              </a:defRPr>
            </a:lvl2pPr>
            <a:lvl3pPr marL="1143000" lvl="2" indent="-228600" algn="l" defTabSz="914400" rtl="0" eaLnBrk="0" fontAlgn="base" latinLnBrk="0" hangingPunct="0">
              <a:lnSpc>
                <a:spcPct val="100000"/>
              </a:lnSpc>
              <a:spcBef>
                <a:spcPct val="20000"/>
              </a:spcBef>
              <a:spcAft>
                <a:spcPct val="0"/>
              </a:spcAft>
              <a:buSzPct val="50000"/>
              <a:buFont typeface="Monotype Sorts" pitchFamily="2" charset="2"/>
              <a:buChar char="u"/>
              <a:defRPr sz="2400" b="0" i="0" u="none" kern="1200" baseline="0">
                <a:solidFill>
                  <a:schemeClr val="tx1"/>
                </a:solidFill>
                <a:latin typeface="+mn-lt"/>
                <a:ea typeface="+mn-ea"/>
                <a:cs typeface="+mn-cs"/>
              </a:defRPr>
            </a:lvl3pPr>
            <a:lvl4pPr marL="1600200" lvl="3" indent="-228600" algn="l" defTabSz="914400" rtl="0" eaLnBrk="0" fontAlgn="base" latinLnBrk="0" hangingPunct="0">
              <a:lnSpc>
                <a:spcPct val="100000"/>
              </a:lnSpc>
              <a:spcBef>
                <a:spcPct val="20000"/>
              </a:spcBef>
              <a:spcAft>
                <a:spcPct val="0"/>
              </a:spcAft>
              <a:buFont typeface="Monotype Sorts" pitchFamily="2" charset="2"/>
              <a:buChar char="–"/>
              <a:defRPr sz="2000" b="0" i="0" u="none" kern="1200" baseline="0">
                <a:solidFill>
                  <a:schemeClr val="tx1"/>
                </a:solidFill>
                <a:latin typeface="+mn-lt"/>
                <a:ea typeface="+mn-ea"/>
                <a:cs typeface="+mn-cs"/>
              </a:defRPr>
            </a:lvl4pPr>
            <a:lvl5pPr marL="2057400" lvl="4" indent="-228600" algn="l" defTabSz="914400" rtl="0" eaLnBrk="0" fontAlgn="base" latinLnBrk="0" hangingPunct="0">
              <a:lnSpc>
                <a:spcPct val="100000"/>
              </a:lnSpc>
              <a:spcBef>
                <a:spcPct val="20000"/>
              </a:spcBef>
              <a:spcAft>
                <a:spcPct val="0"/>
              </a:spcAft>
              <a:buFont typeface="Monotype Sorts" pitchFamily="2" charset="2"/>
              <a:buChar char="»"/>
              <a:defRPr sz="1800" b="0" i="0" u="none" kern="1200" baseline="0">
                <a:solidFill>
                  <a:schemeClr val="tx1"/>
                </a:solidFill>
                <a:latin typeface="+mn-lt"/>
                <a:ea typeface="+mn-ea"/>
                <a:cs typeface="+mn-cs"/>
              </a:defRPr>
            </a:lvl5pPr>
            <a:lvl6pPr marL="2514600" lvl="5" indent="-228600" algn="l" defTabSz="914400" rtl="0" eaLnBrk="0" fontAlgn="base" latinLnBrk="0" hangingPunct="0">
              <a:lnSpc>
                <a:spcPct val="100000"/>
              </a:lnSpc>
              <a:spcBef>
                <a:spcPct val="20000"/>
              </a:spcBef>
              <a:spcAft>
                <a:spcPct val="0"/>
              </a:spcAft>
              <a:buFont typeface="Monotype Sorts" pitchFamily="2" charset="2"/>
              <a:buChar char="»"/>
              <a:defRPr sz="1800" b="0" i="0" u="none" kern="1200" baseline="0">
                <a:solidFill>
                  <a:schemeClr val="tx1"/>
                </a:solidFill>
                <a:latin typeface="+mn-lt"/>
                <a:ea typeface="+mn-ea"/>
                <a:cs typeface="+mn-cs"/>
              </a:defRPr>
            </a:lvl6pPr>
            <a:lvl7pPr marL="2971800" lvl="6" indent="-228600" algn="l" defTabSz="914400" rtl="0" eaLnBrk="0" fontAlgn="base" latinLnBrk="0" hangingPunct="0">
              <a:lnSpc>
                <a:spcPct val="100000"/>
              </a:lnSpc>
              <a:spcBef>
                <a:spcPct val="20000"/>
              </a:spcBef>
              <a:spcAft>
                <a:spcPct val="0"/>
              </a:spcAft>
              <a:buFont typeface="Monotype Sorts" pitchFamily="2" charset="2"/>
              <a:buChar char="»"/>
              <a:defRPr sz="1800" b="0" i="0" u="none" kern="1200" baseline="0">
                <a:solidFill>
                  <a:schemeClr val="tx1"/>
                </a:solidFill>
                <a:latin typeface="+mn-lt"/>
                <a:ea typeface="+mn-ea"/>
                <a:cs typeface="+mn-cs"/>
              </a:defRPr>
            </a:lvl7pPr>
            <a:lvl8pPr marL="3429000" lvl="7" indent="-228600" algn="l" defTabSz="914400" rtl="0" eaLnBrk="0" fontAlgn="base" latinLnBrk="0" hangingPunct="0">
              <a:lnSpc>
                <a:spcPct val="100000"/>
              </a:lnSpc>
              <a:spcBef>
                <a:spcPct val="20000"/>
              </a:spcBef>
              <a:spcAft>
                <a:spcPct val="0"/>
              </a:spcAft>
              <a:buFont typeface="Monotype Sorts" pitchFamily="2" charset="2"/>
              <a:buChar char="»"/>
              <a:defRPr sz="1800" b="0" i="0" u="none" kern="1200" baseline="0">
                <a:solidFill>
                  <a:schemeClr val="tx1"/>
                </a:solidFill>
                <a:latin typeface="+mn-lt"/>
                <a:ea typeface="+mn-ea"/>
                <a:cs typeface="+mn-cs"/>
              </a:defRPr>
            </a:lvl8pPr>
            <a:lvl9pPr marL="3886200" lvl="8" indent="-228600" algn="l" defTabSz="914400" rtl="0" eaLnBrk="0" fontAlgn="base" latinLnBrk="0" hangingPunct="0">
              <a:lnSpc>
                <a:spcPct val="100000"/>
              </a:lnSpc>
              <a:spcBef>
                <a:spcPct val="20000"/>
              </a:spcBef>
              <a:spcAft>
                <a:spcPct val="0"/>
              </a:spcAft>
              <a:buFont typeface="Monotype Sorts" pitchFamily="2" charset="2"/>
              <a:buChar char="»"/>
              <a:defRPr sz="1800" b="0" i="0" u="none" kern="1200" baseline="0">
                <a:solidFill>
                  <a:schemeClr val="tx1"/>
                </a:solidFill>
                <a:latin typeface="+mn-lt"/>
                <a:ea typeface="+mn-ea"/>
                <a:cs typeface="+mn-cs"/>
              </a:defRPr>
            </a:lvl9pPr>
          </a:lstStyle>
          <a:p>
            <a:pPr>
              <a:spcBef>
                <a:spcPts val="1050"/>
              </a:spcBef>
            </a:pPr>
            <a:r>
              <a:rPr lang="en-GB" i="1" dirty="0">
                <a:solidFill>
                  <a:srgbClr val="000099"/>
                </a:solidFill>
                <a:latin typeface="Verdana" panose="020B0604030504040204" pitchFamily="34" charset="0"/>
              </a:rPr>
              <a:t>I</a:t>
            </a:r>
            <a:r>
              <a:rPr lang="en-GB" i="1" dirty="0">
                <a:solidFill>
                  <a:srgbClr val="000099"/>
                </a:solidFill>
              </a:rPr>
              <a:t>: </a:t>
            </a:r>
            <a:r>
              <a:rPr lang="en-GB" i="1">
                <a:solidFill>
                  <a:srgbClr val="000099"/>
                </a:solidFill>
              </a:rPr>
              <a:t>itemset</a:t>
            </a:r>
            <a:endParaRPr lang="en-GB" i="1"/>
          </a:p>
          <a:p>
            <a:pPr>
              <a:spcBef>
                <a:spcPts val="415"/>
              </a:spcBef>
              <a:buNone/>
            </a:pPr>
            <a:r>
              <a:rPr lang="en-GB" sz="1800" dirty="0">
                <a:latin typeface="Courier New" panose="02070309020205020404" pitchFamily="49" charset="-94"/>
              </a:rPr>
              <a:t>{cucumber, parsley, onion, tomato, salt, bread, olives, cheese, butter}</a:t>
            </a:r>
          </a:p>
          <a:p>
            <a:pPr>
              <a:spcBef>
                <a:spcPts val="1050"/>
              </a:spcBef>
            </a:pPr>
            <a:r>
              <a:rPr lang="en-US" altLang="en-GB" i="1" dirty="0">
                <a:solidFill>
                  <a:srgbClr val="000099"/>
                </a:solidFill>
                <a:latin typeface="Verdana" panose="020B0604030504040204" pitchFamily="34" charset="0"/>
              </a:rPr>
              <a:t>T</a:t>
            </a:r>
            <a:r>
              <a:rPr lang="en-GB" dirty="0">
                <a:solidFill>
                  <a:srgbClr val="000099"/>
                </a:solidFill>
              </a:rPr>
              <a:t>: set of transactions</a:t>
            </a:r>
          </a:p>
          <a:p>
            <a:pPr>
              <a:spcBef>
                <a:spcPts val="415"/>
              </a:spcBef>
              <a:buNone/>
            </a:pPr>
            <a:r>
              <a:rPr lang="en-GB" sz="1800" dirty="0">
                <a:latin typeface="Courier New" panose="02070309020205020404" pitchFamily="49" charset="-94"/>
              </a:rPr>
              <a:t>1	{{cucumber, parsley, onion, tomato, salt, bread},</a:t>
            </a:r>
          </a:p>
          <a:p>
            <a:pPr>
              <a:spcBef>
                <a:spcPts val="415"/>
              </a:spcBef>
              <a:buNone/>
            </a:pPr>
            <a:r>
              <a:rPr lang="en-GB" sz="1800" dirty="0">
                <a:latin typeface="Courier New" panose="02070309020205020404" pitchFamily="49" charset="-94"/>
              </a:rPr>
              <a:t>2  {tomato, cucumber, parsley},</a:t>
            </a:r>
          </a:p>
          <a:p>
            <a:pPr>
              <a:spcBef>
                <a:spcPts val="415"/>
              </a:spcBef>
              <a:buNone/>
            </a:pPr>
            <a:r>
              <a:rPr lang="en-GB" sz="1800" dirty="0">
                <a:latin typeface="Courier New" panose="02070309020205020404" pitchFamily="49" charset="-94"/>
              </a:rPr>
              <a:t>3  {tomato, cucumber, olives, onion, parsley},</a:t>
            </a:r>
          </a:p>
          <a:p>
            <a:pPr>
              <a:spcBef>
                <a:spcPts val="415"/>
              </a:spcBef>
              <a:buNone/>
            </a:pPr>
            <a:r>
              <a:rPr lang="en-GB" sz="1800" dirty="0">
                <a:latin typeface="Courier New" panose="02070309020205020404" pitchFamily="49" charset="-94"/>
              </a:rPr>
              <a:t>4  {tomato, cucumber, onion, bread},</a:t>
            </a:r>
          </a:p>
          <a:p>
            <a:pPr>
              <a:spcBef>
                <a:spcPts val="415"/>
              </a:spcBef>
              <a:buNone/>
            </a:pPr>
            <a:r>
              <a:rPr lang="en-GB" sz="1800" dirty="0">
                <a:latin typeface="Courier New" panose="02070309020205020404" pitchFamily="49" charset="-94"/>
              </a:rPr>
              <a:t>5  {tomato, salt, onion},</a:t>
            </a:r>
          </a:p>
          <a:p>
            <a:pPr>
              <a:spcBef>
                <a:spcPts val="415"/>
              </a:spcBef>
              <a:buNone/>
            </a:pPr>
            <a:r>
              <a:rPr lang="en-GB" sz="1800" dirty="0">
                <a:latin typeface="Courier New" panose="02070309020205020404" pitchFamily="49" charset="-94"/>
              </a:rPr>
              <a:t>6  {bread, cheese}</a:t>
            </a:r>
          </a:p>
          <a:p>
            <a:pPr>
              <a:spcBef>
                <a:spcPts val="415"/>
              </a:spcBef>
              <a:buNone/>
            </a:pPr>
            <a:r>
              <a:rPr lang="en-GB" sz="1800" dirty="0">
                <a:latin typeface="Courier New" panose="02070309020205020404" pitchFamily="49" charset="-94"/>
              </a:rPr>
              <a:t>7  {tomato, cheese, cucumber}</a:t>
            </a:r>
          </a:p>
          <a:p>
            <a:pPr>
              <a:spcBef>
                <a:spcPts val="415"/>
              </a:spcBef>
              <a:buNone/>
            </a:pPr>
            <a:r>
              <a:rPr lang="en-GB" sz="1800" dirty="0">
                <a:latin typeface="Courier New" panose="02070309020205020404" pitchFamily="49" charset="-94"/>
              </a:rPr>
              <a:t>8  {bread, butter}}</a:t>
            </a:r>
            <a:endParaRPr sz="1800" dirty="0">
              <a:latin typeface="Courier New" panose="02070309020205020404" pitchFamily="49" charset="-9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194" name="Title 648193"/>
          <p:cNvSpPr>
            <a:spLocks noGrp="1"/>
          </p:cNvSpPr>
          <p:nvPr>
            <p:ph type="title"/>
          </p:nvPr>
        </p:nvSpPr>
        <p:spPr>
          <a:xfrm>
            <a:off x="351155" y="202565"/>
            <a:ext cx="10515600" cy="1033780"/>
          </a:xfrm>
        </p:spPr>
        <p:txBody>
          <a:bodyPr/>
          <a:lstStyle/>
          <a:p>
            <a:r>
              <a:rPr b="1"/>
              <a:t>The model: </a:t>
            </a:r>
            <a:r>
              <a:rPr lang="en-US" b="1"/>
              <a:t>Association </a:t>
            </a:r>
            <a:r>
              <a:rPr b="1"/>
              <a:t>rules</a:t>
            </a:r>
            <a:endParaRPr sz="2200" b="1"/>
          </a:p>
        </p:txBody>
      </p:sp>
      <p:sp>
        <p:nvSpPr>
          <p:cNvPr id="648195" name="Text Placeholder 648194"/>
          <p:cNvSpPr>
            <a:spLocks noGrp="1"/>
          </p:cNvSpPr>
          <p:nvPr>
            <p:ph type="body" idx="1"/>
          </p:nvPr>
        </p:nvSpPr>
        <p:spPr>
          <a:xfrm>
            <a:off x="563880" y="1402715"/>
            <a:ext cx="11139805" cy="4787900"/>
          </a:xfrm>
        </p:spPr>
        <p:txBody>
          <a:bodyPr/>
          <a:lstStyle/>
          <a:p>
            <a:pPr>
              <a:lnSpc>
                <a:spcPct val="90000"/>
              </a:lnSpc>
            </a:pPr>
            <a:r>
              <a:rPr sz="2800"/>
              <a:t>A transaction </a:t>
            </a:r>
            <a:r>
              <a:rPr sz="2800" i="1">
                <a:solidFill>
                  <a:srgbClr val="FF0000"/>
                </a:solidFill>
              </a:rPr>
              <a:t>t</a:t>
            </a:r>
            <a:r>
              <a:rPr sz="2800">
                <a:solidFill>
                  <a:srgbClr val="FF0000"/>
                </a:solidFill>
              </a:rPr>
              <a:t> contains </a:t>
            </a:r>
            <a:r>
              <a:rPr sz="2800" i="1">
                <a:solidFill>
                  <a:srgbClr val="FF0000"/>
                </a:solidFill>
              </a:rPr>
              <a:t>X</a:t>
            </a:r>
            <a:r>
              <a:rPr sz="2800"/>
              <a:t>, a set of items (</a:t>
            </a:r>
            <a:r>
              <a:rPr sz="2800" dirty="0" err="1">
                <a:solidFill>
                  <a:srgbClr val="3333CC"/>
                </a:solidFill>
              </a:rPr>
              <a:t>itemset</a:t>
            </a:r>
            <a:r>
              <a:rPr sz="2800"/>
              <a:t>) in </a:t>
            </a:r>
            <a:r>
              <a:rPr sz="2800" i="1"/>
              <a:t>I</a:t>
            </a:r>
            <a:r>
              <a:rPr sz="2800"/>
              <a:t>, if </a:t>
            </a:r>
            <a:r>
              <a:rPr sz="2800" i="1"/>
              <a:t>X</a:t>
            </a:r>
            <a:r>
              <a:rPr sz="2800"/>
              <a:t> </a:t>
            </a:r>
            <a:r>
              <a:rPr sz="2800">
                <a:sym typeface="Symbol" panose="05050102010706020507" pitchFamily="18" charset="2"/>
              </a:rPr>
              <a:t></a:t>
            </a:r>
            <a:r>
              <a:rPr sz="2800"/>
              <a:t> </a:t>
            </a:r>
            <a:r>
              <a:rPr sz="2800" i="1"/>
              <a:t>t</a:t>
            </a:r>
            <a:r>
              <a:rPr sz="2800"/>
              <a:t>.</a:t>
            </a:r>
          </a:p>
          <a:p>
            <a:pPr>
              <a:lnSpc>
                <a:spcPct val="90000"/>
              </a:lnSpc>
            </a:pPr>
            <a:r>
              <a:rPr sz="2800"/>
              <a:t>An </a:t>
            </a:r>
            <a:r>
              <a:rPr sz="2800">
                <a:solidFill>
                  <a:srgbClr val="FF0000"/>
                </a:solidFill>
              </a:rPr>
              <a:t>association rule</a:t>
            </a:r>
            <a:r>
              <a:rPr sz="2800"/>
              <a:t> is an implication of the form:</a:t>
            </a:r>
          </a:p>
          <a:p>
            <a:pPr>
              <a:lnSpc>
                <a:spcPct val="90000"/>
              </a:lnSpc>
              <a:spcBef>
                <a:spcPct val="10000"/>
              </a:spcBef>
              <a:buNone/>
            </a:pPr>
            <a:r>
              <a:rPr sz="2800" i="1"/>
              <a:t>		</a:t>
            </a:r>
          </a:p>
          <a:p>
            <a:pPr algn="ctr">
              <a:lnSpc>
                <a:spcPct val="90000"/>
              </a:lnSpc>
              <a:spcBef>
                <a:spcPct val="10000"/>
              </a:spcBef>
              <a:buNone/>
            </a:pPr>
            <a:r>
              <a:rPr sz="2800" i="1"/>
              <a:t>X</a:t>
            </a:r>
            <a:r>
              <a:rPr sz="2800"/>
              <a:t> </a:t>
            </a:r>
            <a:r>
              <a:rPr sz="2800">
                <a:sym typeface="Symbol" panose="05050102010706020507" pitchFamily="18" charset="2"/>
              </a:rPr>
              <a:t> </a:t>
            </a:r>
            <a:r>
              <a:rPr sz="2800" i="1">
                <a:sym typeface="Symbol" panose="05050102010706020507" pitchFamily="18" charset="2"/>
              </a:rPr>
              <a:t>Y</a:t>
            </a:r>
            <a:r>
              <a:rPr sz="2800">
                <a:sym typeface="Symbol" panose="05050102010706020507" pitchFamily="18" charset="2"/>
              </a:rPr>
              <a:t>, where </a:t>
            </a:r>
            <a:r>
              <a:rPr sz="2800" i="1">
                <a:sym typeface="Symbol" panose="05050102010706020507" pitchFamily="18" charset="2"/>
              </a:rPr>
              <a:t>X</a:t>
            </a:r>
            <a:r>
              <a:rPr sz="2800">
                <a:sym typeface="Symbol" panose="05050102010706020507" pitchFamily="18" charset="2"/>
              </a:rPr>
              <a:t>, </a:t>
            </a:r>
            <a:r>
              <a:rPr sz="2800" i="1">
                <a:sym typeface="Symbol" panose="05050102010706020507" pitchFamily="18" charset="2"/>
              </a:rPr>
              <a:t>Y</a:t>
            </a:r>
            <a:r>
              <a:rPr sz="2800">
                <a:sym typeface="Symbol" panose="05050102010706020507" pitchFamily="18" charset="2"/>
              </a:rPr>
              <a:t>  </a:t>
            </a:r>
            <a:r>
              <a:rPr sz="2800" i="1">
                <a:sym typeface="Symbol" panose="05050102010706020507" pitchFamily="18" charset="2"/>
              </a:rPr>
              <a:t>I, and X </a:t>
            </a:r>
            <a:r>
              <a:rPr sz="2800">
                <a:sym typeface="Symbol" panose="05050102010706020507" pitchFamily="18" charset="2"/>
              </a:rPr>
              <a:t></a:t>
            </a:r>
            <a:r>
              <a:rPr sz="2800" i="1">
                <a:sym typeface="Symbol" panose="05050102010706020507" pitchFamily="18" charset="2"/>
              </a:rPr>
              <a:t>Y</a:t>
            </a:r>
            <a:r>
              <a:rPr sz="2800">
                <a:sym typeface="Symbol" panose="05050102010706020507" pitchFamily="18" charset="2"/>
              </a:rPr>
              <a:t>  = </a:t>
            </a:r>
          </a:p>
          <a:p>
            <a:pPr algn="ctr">
              <a:lnSpc>
                <a:spcPct val="90000"/>
              </a:lnSpc>
              <a:spcBef>
                <a:spcPct val="10000"/>
              </a:spcBef>
              <a:buNone/>
            </a:pPr>
            <a:endParaRPr sz="2800">
              <a:sym typeface="Symbol" panose="05050102010706020507" pitchFamily="18" charset="2"/>
            </a:endParaRPr>
          </a:p>
          <a:p>
            <a:pPr>
              <a:lnSpc>
                <a:spcPct val="90000"/>
              </a:lnSpc>
            </a:pPr>
            <a:r>
              <a:rPr sz="2800"/>
              <a:t>An </a:t>
            </a:r>
            <a:r>
              <a:rPr sz="2800" dirty="0" err="1">
                <a:solidFill>
                  <a:srgbClr val="FF0000"/>
                </a:solidFill>
              </a:rPr>
              <a:t>itemset</a:t>
            </a:r>
            <a:r>
              <a:rPr sz="2800">
                <a:solidFill>
                  <a:schemeClr val="hlink"/>
                </a:solidFill>
              </a:rPr>
              <a:t> </a:t>
            </a:r>
            <a:r>
              <a:rPr sz="2800"/>
              <a:t>is a set of items.</a:t>
            </a:r>
          </a:p>
          <a:p>
            <a:pPr marL="742950" lvl="1" indent="-285750">
              <a:lnSpc>
                <a:spcPct val="90000"/>
              </a:lnSpc>
            </a:pPr>
            <a:r>
              <a:rPr sz="2800" dirty="0" err="1"/>
              <a:t>E.g., X = {milk, bread, cereal} is an itemset</a:t>
            </a:r>
            <a:r>
              <a:rPr sz="2800"/>
              <a:t>.</a:t>
            </a:r>
          </a:p>
          <a:p>
            <a:pPr>
              <a:lnSpc>
                <a:spcPct val="90000"/>
              </a:lnSpc>
            </a:pPr>
            <a:r>
              <a:rPr sz="2800"/>
              <a:t>A </a:t>
            </a:r>
            <a:r>
              <a:rPr sz="2800" i="1" dirty="0" err="1">
                <a:solidFill>
                  <a:srgbClr val="FF0000"/>
                </a:solidFill>
              </a:rPr>
              <a:t>k</a:t>
            </a:r>
            <a:r>
              <a:rPr sz="2800" dirty="0" err="1">
                <a:solidFill>
                  <a:srgbClr val="FF0000"/>
                </a:solidFill>
              </a:rPr>
              <a:t>-itemset</a:t>
            </a:r>
            <a:r>
              <a:rPr sz="2800">
                <a:solidFill>
                  <a:srgbClr val="FF0000"/>
                </a:solidFill>
              </a:rPr>
              <a:t> </a:t>
            </a:r>
            <a:r>
              <a:rPr sz="2800" dirty="0" err="1"/>
              <a:t>is an itemset</a:t>
            </a:r>
            <a:r>
              <a:rPr sz="2800"/>
              <a:t> with </a:t>
            </a:r>
            <a:r>
              <a:rPr sz="2800" i="1"/>
              <a:t>k</a:t>
            </a:r>
            <a:r>
              <a:rPr sz="2800"/>
              <a:t> items.</a:t>
            </a:r>
          </a:p>
          <a:p>
            <a:pPr marL="742950" lvl="1" indent="-285750">
              <a:lnSpc>
                <a:spcPct val="90000"/>
              </a:lnSpc>
            </a:pPr>
            <a:r>
              <a:rPr sz="2800"/>
              <a:t>E.g., {milk, bread, cereal} is a 3-itemset</a:t>
            </a:r>
          </a:p>
        </p:txBody>
      </p:sp>
      <p:sp>
        <p:nvSpPr>
          <p:cNvPr id="3" name="Slide Number Placeholder 2"/>
          <p:cNvSpPr>
            <a:spLocks noGrp="1"/>
          </p:cNvSpPr>
          <p:nvPr>
            <p:ph type="sldNum" sz="quarter" idx="12"/>
          </p:nvPr>
        </p:nvSpPr>
        <p:spPr/>
        <p:txBody>
          <a:bodyPr/>
          <a:lstStyle/>
          <a:p>
            <a:pPr lvl="0"/>
            <a:fld id="{9A0DB2DC-4C9A-4742-B13C-FB6460FD3503}" type="slidenum">
              <a:rPr lang="en-US" altLang="en-US" dirty="0"/>
              <a:t>11</a:t>
            </a:fld>
            <a:endParaRPr lang="en-US"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9938" name="Title 679937"/>
          <p:cNvSpPr>
            <a:spLocks noGrp="1"/>
          </p:cNvSpPr>
          <p:nvPr>
            <p:ph type="title"/>
          </p:nvPr>
        </p:nvSpPr>
        <p:spPr>
          <a:xfrm>
            <a:off x="308610" y="148590"/>
            <a:ext cx="10515600" cy="850900"/>
          </a:xfrm>
        </p:spPr>
        <p:txBody>
          <a:bodyPr/>
          <a:lstStyle/>
          <a:p>
            <a:r>
              <a:rPr b="1"/>
              <a:t>Rule strength measures</a:t>
            </a:r>
          </a:p>
        </p:txBody>
      </p:sp>
      <p:sp>
        <p:nvSpPr>
          <p:cNvPr id="679939" name="Text Placeholder 679938"/>
          <p:cNvSpPr>
            <a:spLocks noGrp="1"/>
          </p:cNvSpPr>
          <p:nvPr>
            <p:ph type="body" idx="1"/>
          </p:nvPr>
        </p:nvSpPr>
        <p:spPr>
          <a:xfrm>
            <a:off x="304165" y="1064260"/>
            <a:ext cx="11745595" cy="5736590"/>
          </a:xfrm>
        </p:spPr>
        <p:txBody>
          <a:bodyPr>
            <a:normAutofit lnSpcReduction="10000"/>
          </a:bodyPr>
          <a:lstStyle/>
          <a:p>
            <a:pPr>
              <a:lnSpc>
                <a:spcPct val="100000"/>
              </a:lnSpc>
            </a:pPr>
            <a:r>
              <a:rPr sz="2800" b="1">
                <a:solidFill>
                  <a:srgbClr val="FF0000"/>
                </a:solidFill>
              </a:rPr>
              <a:t>Support:</a:t>
            </a:r>
            <a:r>
              <a:rPr sz="2800"/>
              <a:t> The rule holds with </a:t>
            </a:r>
            <a:r>
              <a:rPr sz="2800" b="1">
                <a:solidFill>
                  <a:srgbClr val="3333CC"/>
                </a:solidFill>
              </a:rPr>
              <a:t>support</a:t>
            </a:r>
            <a:r>
              <a:rPr sz="2800" b="1"/>
              <a:t> </a:t>
            </a:r>
            <a:r>
              <a:rPr sz="2800" b="1" i="1"/>
              <a:t>sup</a:t>
            </a:r>
            <a:r>
              <a:rPr sz="2800"/>
              <a:t> in </a:t>
            </a:r>
            <a:r>
              <a:rPr sz="2800" i="1"/>
              <a:t>T</a:t>
            </a:r>
            <a:r>
              <a:rPr sz="2800"/>
              <a:t> (the transaction data set) if sup% of transactions</a:t>
            </a:r>
            <a:r>
              <a:rPr sz="2800" i="1"/>
              <a:t> </a:t>
            </a:r>
            <a:r>
              <a:rPr sz="2800"/>
              <a:t>contain </a:t>
            </a:r>
            <a:r>
              <a:rPr sz="2800" i="1"/>
              <a:t>X</a:t>
            </a:r>
            <a:r>
              <a:rPr sz="2800"/>
              <a:t> </a:t>
            </a:r>
            <a:r>
              <a:rPr sz="2800">
                <a:sym typeface="Symbol" panose="05050102010706020507" pitchFamily="18" charset="2"/>
              </a:rPr>
              <a:t> </a:t>
            </a:r>
            <a:r>
              <a:rPr sz="2800" i="1">
                <a:sym typeface="Symbol" panose="05050102010706020507" pitchFamily="18" charset="2"/>
              </a:rPr>
              <a:t>Y</a:t>
            </a:r>
            <a:r>
              <a:rPr sz="2800">
                <a:sym typeface="Symbol" panose="05050102010706020507" pitchFamily="18" charset="2"/>
              </a:rPr>
              <a:t>. </a:t>
            </a:r>
          </a:p>
          <a:p>
            <a:pPr lvl="1">
              <a:lnSpc>
                <a:spcPct val="100000"/>
              </a:lnSpc>
            </a:pPr>
            <a:r>
              <a:rPr sz="2800" b="1" i="1">
                <a:solidFill>
                  <a:srgbClr val="3333CC"/>
                </a:solidFill>
                <a:sym typeface="Symbol" panose="05050102010706020507" pitchFamily="18" charset="2"/>
              </a:rPr>
              <a:t>sup</a:t>
            </a:r>
            <a:r>
              <a:rPr sz="2800" b="1" dirty="0" err="1">
                <a:solidFill>
                  <a:srgbClr val="3333CC"/>
                </a:solidFill>
                <a:sym typeface="Symbol" panose="05050102010706020507" pitchFamily="18" charset="2"/>
              </a:rPr>
              <a:t> = </a:t>
            </a:r>
            <a:r>
              <a:rPr lang="en-US" altLang="zh-TW" sz="2800">
                <a:solidFill>
                  <a:schemeClr val="tx2"/>
                </a:solidFill>
                <a:ea typeface="PMingLiU" pitchFamily="18" charset="-120"/>
                <a:sym typeface="Symbol" panose="05050102010706020507" pitchFamily="18" charset="2"/>
              </a:rPr>
              <a:t>probability</a:t>
            </a:r>
            <a:r>
              <a:rPr lang="en-US" altLang="zh-TW" sz="2800">
                <a:ea typeface="PMingLiU" pitchFamily="18" charset="-120"/>
                <a:sym typeface="Symbol" panose="05050102010706020507" pitchFamily="18" charset="2"/>
              </a:rPr>
              <a:t> that a transaction contains </a:t>
            </a:r>
            <a:r>
              <a:rPr sz="2800" b="1" dirty="0" err="1">
                <a:solidFill>
                  <a:srgbClr val="3333CC"/>
                </a:solidFill>
                <a:sym typeface="Symbol" panose="05050102010706020507" pitchFamily="18" charset="2"/>
              </a:rPr>
              <a:t>Pr(</a:t>
            </a:r>
            <a:r>
              <a:rPr sz="2800" b="1" i="1" dirty="0" err="1">
                <a:solidFill>
                  <a:srgbClr val="3333CC"/>
                </a:solidFill>
                <a:sym typeface="+mn-ea"/>
              </a:rPr>
              <a:t>X</a:t>
            </a:r>
            <a:r>
              <a:rPr sz="2800" b="1">
                <a:solidFill>
                  <a:srgbClr val="3333CC"/>
                </a:solidFill>
                <a:sym typeface="+mn-ea"/>
              </a:rPr>
              <a:t> </a:t>
            </a:r>
            <a:r>
              <a:rPr sz="2800" b="1">
                <a:solidFill>
                  <a:srgbClr val="3333CC"/>
                </a:solidFill>
                <a:sym typeface="Symbol" panose="05050102010706020507" pitchFamily="18" charset="2"/>
              </a:rPr>
              <a:t> </a:t>
            </a:r>
            <a:r>
              <a:rPr sz="2800" b="1" i="1">
                <a:solidFill>
                  <a:srgbClr val="3333CC"/>
                </a:solidFill>
                <a:sym typeface="Symbol" panose="05050102010706020507" pitchFamily="18" charset="2"/>
              </a:rPr>
              <a:t>Y</a:t>
            </a:r>
            <a:r>
              <a:rPr sz="2800" b="1">
                <a:solidFill>
                  <a:srgbClr val="3333CC"/>
                </a:solidFill>
                <a:sym typeface="Symbol" panose="05050102010706020507" pitchFamily="18" charset="2"/>
              </a:rPr>
              <a:t>)</a:t>
            </a:r>
            <a:r>
              <a:rPr sz="2800">
                <a:solidFill>
                  <a:srgbClr val="3333CC"/>
                </a:solidFill>
                <a:sym typeface="Symbol" panose="05050102010706020507" pitchFamily="18" charset="2"/>
              </a:rPr>
              <a:t> </a:t>
            </a:r>
          </a:p>
          <a:p>
            <a:pPr marL="457200" lvl="1" indent="0">
              <a:lnSpc>
                <a:spcPct val="100000"/>
              </a:lnSpc>
              <a:buNone/>
            </a:pPr>
            <a:r>
              <a:rPr lang="en-US" sz="2800" dirty="0">
                <a:sym typeface="+mn-ea"/>
              </a:rPr>
              <a:t>(</a:t>
            </a:r>
            <a:r>
              <a:rPr sz="2800" dirty="0">
                <a:sym typeface="+mn-ea"/>
              </a:rPr>
              <a:t>Percentage of transactions that contain </a:t>
            </a:r>
            <a:r>
              <a:rPr sz="2800" i="1">
                <a:sym typeface="+mn-ea"/>
              </a:rPr>
              <a:t>X</a:t>
            </a:r>
            <a:r>
              <a:rPr sz="2800">
                <a:sym typeface="+mn-ea"/>
              </a:rPr>
              <a:t> </a:t>
            </a:r>
            <a:r>
              <a:rPr sz="2800">
                <a:sym typeface="Symbol" panose="05050102010706020507" pitchFamily="18" charset="2"/>
              </a:rPr>
              <a:t> </a:t>
            </a:r>
            <a:r>
              <a:rPr sz="2800" i="1">
                <a:sym typeface="Symbol" panose="05050102010706020507" pitchFamily="18" charset="2"/>
              </a:rPr>
              <a:t>Y</a:t>
            </a:r>
            <a:r>
              <a:rPr lang="en-US" sz="2800" i="1">
                <a:sym typeface="Symbol" panose="05050102010706020507" pitchFamily="18" charset="2"/>
              </a:rPr>
              <a:t>)</a:t>
            </a:r>
            <a:endParaRPr sz="2800" b="1" i="1">
              <a:sym typeface="Symbol" panose="05050102010706020507" pitchFamily="18" charset="2"/>
            </a:endParaRPr>
          </a:p>
          <a:p>
            <a:pPr>
              <a:lnSpc>
                <a:spcPct val="100000"/>
              </a:lnSpc>
            </a:pPr>
            <a:r>
              <a:rPr sz="2800" b="1">
                <a:solidFill>
                  <a:srgbClr val="FF0000"/>
                </a:solidFill>
              </a:rPr>
              <a:t>Confidence:</a:t>
            </a:r>
            <a:r>
              <a:rPr sz="2800" b="1"/>
              <a:t> </a:t>
            </a:r>
            <a:r>
              <a:rPr sz="2800"/>
              <a:t>The rule holds in </a:t>
            </a:r>
            <a:r>
              <a:rPr sz="2800" i="1"/>
              <a:t>T</a:t>
            </a:r>
            <a:r>
              <a:rPr sz="2800"/>
              <a:t> with </a:t>
            </a:r>
            <a:r>
              <a:rPr sz="2800" b="1">
                <a:solidFill>
                  <a:srgbClr val="3333CC"/>
                </a:solidFill>
              </a:rPr>
              <a:t>confidence </a:t>
            </a:r>
            <a:r>
              <a:rPr sz="2800" b="1" i="1"/>
              <a:t>conf</a:t>
            </a:r>
            <a:r>
              <a:rPr sz="2800"/>
              <a:t> if </a:t>
            </a:r>
            <a:r>
              <a:rPr sz="2800" i="1"/>
              <a:t>conf</a:t>
            </a:r>
            <a:r>
              <a:rPr sz="2800" dirty="0" err="1"/>
              <a:t>% of tranactions</a:t>
            </a:r>
            <a:r>
              <a:rPr sz="2800"/>
              <a:t> that contain </a:t>
            </a:r>
            <a:r>
              <a:rPr sz="2800" i="1"/>
              <a:t>X</a:t>
            </a:r>
            <a:r>
              <a:rPr sz="2800"/>
              <a:t> also contain </a:t>
            </a:r>
            <a:r>
              <a:rPr sz="2800" i="1"/>
              <a:t>Y.</a:t>
            </a:r>
          </a:p>
          <a:p>
            <a:pPr lvl="1">
              <a:lnSpc>
                <a:spcPct val="100000"/>
              </a:lnSpc>
            </a:pPr>
            <a:r>
              <a:rPr sz="2800" b="1" i="1">
                <a:solidFill>
                  <a:srgbClr val="3333CC"/>
                </a:solidFill>
              </a:rPr>
              <a:t>conf</a:t>
            </a:r>
            <a:r>
              <a:rPr sz="2800" b="1" dirty="0" err="1">
                <a:solidFill>
                  <a:srgbClr val="3333CC"/>
                </a:solidFill>
              </a:rPr>
              <a:t> = </a:t>
            </a:r>
            <a:r>
              <a:rPr sz="2800" b="1">
                <a:solidFill>
                  <a:srgbClr val="3333CC"/>
                </a:solidFill>
                <a:sym typeface="Symbol" panose="05050102010706020507" pitchFamily="18" charset="2"/>
              </a:rPr>
              <a:t>conditional probability </a:t>
            </a:r>
            <a:r>
              <a:rPr lang="en-US" altLang="zh-TW" sz="2800">
                <a:ea typeface="PMingLiU" pitchFamily="18" charset="-120"/>
                <a:sym typeface="Symbol" panose="05050102010706020507" pitchFamily="18" charset="2"/>
              </a:rPr>
              <a:t>that a transaction having </a:t>
            </a:r>
            <a:r>
              <a:rPr lang="en-US" altLang="zh-TW" sz="2800" i="1">
                <a:ea typeface="PMingLiU" pitchFamily="18" charset="-120"/>
                <a:sym typeface="Symbol" panose="05050102010706020507" pitchFamily="18" charset="2"/>
              </a:rPr>
              <a:t>X</a:t>
            </a:r>
            <a:r>
              <a:rPr lang="en-US" altLang="zh-TW" sz="2800">
                <a:ea typeface="PMingLiU" pitchFamily="18" charset="-120"/>
                <a:sym typeface="Symbol" panose="05050102010706020507" pitchFamily="18" charset="2"/>
              </a:rPr>
              <a:t> also contains </a:t>
            </a:r>
            <a:r>
              <a:rPr lang="en-US" altLang="zh-TW" sz="2800" i="1">
                <a:ea typeface="PMingLiU" pitchFamily="18" charset="-120"/>
                <a:sym typeface="Symbol" panose="05050102010706020507" pitchFamily="18" charset="2"/>
              </a:rPr>
              <a:t>Y </a:t>
            </a:r>
            <a:r>
              <a:rPr sz="2800" b="1" dirty="0" err="1">
                <a:solidFill>
                  <a:srgbClr val="3333CC"/>
                </a:solidFill>
                <a:sym typeface="+mn-ea"/>
              </a:rPr>
              <a:t>Pr(</a:t>
            </a:r>
            <a:r>
              <a:rPr sz="2800" b="1" i="1" dirty="0" err="1">
                <a:solidFill>
                  <a:srgbClr val="3333CC"/>
                </a:solidFill>
                <a:sym typeface="+mn-ea"/>
              </a:rPr>
              <a:t>Y</a:t>
            </a:r>
            <a:r>
              <a:rPr sz="2800" b="1">
                <a:solidFill>
                  <a:srgbClr val="3333CC"/>
                </a:solidFill>
                <a:sym typeface="+mn-ea"/>
              </a:rPr>
              <a:t> | </a:t>
            </a:r>
            <a:r>
              <a:rPr sz="2800" b="1" i="1">
                <a:solidFill>
                  <a:srgbClr val="3333CC"/>
                </a:solidFill>
                <a:sym typeface="+mn-ea"/>
              </a:rPr>
              <a:t>X</a:t>
            </a:r>
            <a:r>
              <a:rPr sz="2800" b="1">
                <a:solidFill>
                  <a:srgbClr val="3333CC"/>
                </a:solidFill>
                <a:sym typeface="+mn-ea"/>
              </a:rPr>
              <a:t>) </a:t>
            </a:r>
            <a:endParaRPr sz="2800">
              <a:solidFill>
                <a:srgbClr val="3333CC"/>
              </a:solidFill>
              <a:sym typeface="+mn-ea"/>
            </a:endParaRPr>
          </a:p>
          <a:p>
            <a:pPr marL="457200" lvl="1" indent="0">
              <a:lnSpc>
                <a:spcPct val="100000"/>
              </a:lnSpc>
              <a:buNone/>
            </a:pPr>
            <a:r>
              <a:rPr lang="en-US" sz="2800">
                <a:solidFill>
                  <a:srgbClr val="3333CC"/>
                </a:solidFill>
                <a:sym typeface="+mn-ea"/>
              </a:rPr>
              <a:t>(</a:t>
            </a:r>
            <a:r>
              <a:rPr sz="2800" dirty="0">
                <a:sym typeface="+mn-ea"/>
              </a:rPr>
              <a:t>Ratio of number of transactions that contain </a:t>
            </a:r>
            <a:r>
              <a:rPr sz="2800" i="1" dirty="0">
                <a:sym typeface="+mn-ea"/>
              </a:rPr>
              <a:t>X </a:t>
            </a:r>
            <a:r>
              <a:rPr sz="2800" dirty="0">
                <a:latin typeface="cmsy10" pitchFamily="34" charset="0"/>
                <a:sym typeface="Symbol" panose="05050102010706020507" pitchFamily="18" charset="2"/>
              </a:rPr>
              <a:t></a:t>
            </a:r>
            <a:r>
              <a:rPr sz="2800" dirty="0">
                <a:sym typeface="+mn-ea"/>
              </a:rPr>
              <a:t> </a:t>
            </a:r>
            <a:r>
              <a:rPr sz="2800" i="1" dirty="0">
                <a:sym typeface="+mn-ea"/>
              </a:rPr>
              <a:t>Y</a:t>
            </a:r>
            <a:r>
              <a:rPr sz="2800" dirty="0">
                <a:sym typeface="+mn-ea"/>
              </a:rPr>
              <a:t> to the number that contain X</a:t>
            </a:r>
            <a:r>
              <a:rPr lang="en-US" sz="2800" dirty="0">
                <a:sym typeface="+mn-ea"/>
              </a:rPr>
              <a:t>)</a:t>
            </a:r>
            <a:endParaRPr sz="2800" b="1">
              <a:solidFill>
                <a:srgbClr val="3333CC"/>
              </a:solidFill>
            </a:endParaRPr>
          </a:p>
          <a:p>
            <a:pPr>
              <a:lnSpc>
                <a:spcPct val="100000"/>
              </a:lnSpc>
            </a:pPr>
            <a:r>
              <a:rPr sz="2800">
                <a:sym typeface="Symbol" panose="05050102010706020507" pitchFamily="18" charset="2"/>
              </a:rPr>
              <a:t>An association rule is a pattern that states when </a:t>
            </a:r>
            <a:r>
              <a:rPr sz="2800" i="1">
                <a:sym typeface="Symbol" panose="05050102010706020507" pitchFamily="18" charset="2"/>
              </a:rPr>
              <a:t>X</a:t>
            </a:r>
            <a:r>
              <a:rPr sz="2800">
                <a:sym typeface="Symbol" panose="05050102010706020507" pitchFamily="18" charset="2"/>
              </a:rPr>
              <a:t> occurs, </a:t>
            </a:r>
            <a:r>
              <a:rPr sz="2800" i="1">
                <a:sym typeface="Symbol" panose="05050102010706020507" pitchFamily="18" charset="2"/>
              </a:rPr>
              <a:t>Y</a:t>
            </a:r>
            <a:r>
              <a:rPr sz="2800">
                <a:sym typeface="Symbol" panose="05050102010706020507" pitchFamily="18" charset="2"/>
              </a:rPr>
              <a:t> occurs with certain probability. </a:t>
            </a:r>
          </a:p>
        </p:txBody>
      </p:sp>
      <p:sp>
        <p:nvSpPr>
          <p:cNvPr id="3" name="Slide Number Placeholder 2"/>
          <p:cNvSpPr>
            <a:spLocks noGrp="1"/>
          </p:cNvSpPr>
          <p:nvPr>
            <p:ph type="sldNum" sz="quarter" idx="12"/>
          </p:nvPr>
        </p:nvSpPr>
        <p:spPr/>
        <p:txBody>
          <a:bodyPr/>
          <a:lstStyle/>
          <a:p>
            <a:pPr lvl="0"/>
            <a:fld id="{9A0DB2DC-4C9A-4742-B13C-FB6460FD3503}" type="slidenum">
              <a:rPr lang="en-US" altLang="en-US" dirty="0"/>
              <a:t>12</a:t>
            </a:fld>
            <a:endParaRPr lang="en-US"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8914" name="Title 678913"/>
          <p:cNvSpPr>
            <a:spLocks noGrp="1"/>
          </p:cNvSpPr>
          <p:nvPr>
            <p:ph type="title"/>
          </p:nvPr>
        </p:nvSpPr>
        <p:spPr>
          <a:xfrm>
            <a:off x="360680" y="297180"/>
            <a:ext cx="7792720" cy="873125"/>
          </a:xfrm>
        </p:spPr>
        <p:txBody>
          <a:bodyPr/>
          <a:lstStyle/>
          <a:p>
            <a:r>
              <a:rPr b="1"/>
              <a:t>Support and Confidence</a:t>
            </a:r>
          </a:p>
        </p:txBody>
      </p:sp>
      <p:sp>
        <p:nvSpPr>
          <p:cNvPr id="678915" name="Text Placeholder 678914"/>
          <p:cNvSpPr>
            <a:spLocks noGrp="1"/>
          </p:cNvSpPr>
          <p:nvPr>
            <p:ph type="body" idx="1"/>
          </p:nvPr>
        </p:nvSpPr>
        <p:spPr>
          <a:xfrm>
            <a:off x="360045" y="1341755"/>
            <a:ext cx="11381740" cy="4471670"/>
          </a:xfrm>
        </p:spPr>
        <p:txBody>
          <a:bodyPr/>
          <a:lstStyle/>
          <a:p>
            <a:pPr>
              <a:lnSpc>
                <a:spcPct val="120000"/>
              </a:lnSpc>
            </a:pPr>
            <a:r>
              <a:rPr b="1">
                <a:solidFill>
                  <a:srgbClr val="FF0000"/>
                </a:solidFill>
              </a:rPr>
              <a:t>Support count</a:t>
            </a:r>
            <a:r>
              <a:rPr b="1" dirty="0" err="1"/>
              <a:t>: </a:t>
            </a:r>
            <a:r>
              <a:rPr dirty="0" err="1"/>
              <a:t>The support count of an itemset</a:t>
            </a:r>
            <a:r>
              <a:t> </a:t>
            </a:r>
            <a:r>
              <a:rPr i="1"/>
              <a:t>X</a:t>
            </a:r>
            <a:r>
              <a:t>, denoted by </a:t>
            </a:r>
            <a:r>
              <a:rPr b="1" i="1" dirty="0" err="1">
                <a:solidFill>
                  <a:srgbClr val="FF0000"/>
                </a:solidFill>
              </a:rPr>
              <a:t>X.count</a:t>
            </a:r>
            <a:r>
              <a:rPr b="1"/>
              <a:t>, </a:t>
            </a:r>
            <a:r>
              <a:t>in a data set </a:t>
            </a:r>
            <a:r>
              <a:rPr i="1"/>
              <a:t>T</a:t>
            </a:r>
            <a:r>
              <a:t> is the number of transactions in </a:t>
            </a:r>
            <a:r>
              <a:rPr i="1"/>
              <a:t>T</a:t>
            </a:r>
            <a:r>
              <a:t> that contain </a:t>
            </a:r>
            <a:r>
              <a:rPr i="1"/>
              <a:t>X</a:t>
            </a:r>
            <a:r>
              <a:t>. Assume </a:t>
            </a:r>
            <a:r>
              <a:rPr i="1"/>
              <a:t>T</a:t>
            </a:r>
            <a:r>
              <a:t> has </a:t>
            </a:r>
            <a:r>
              <a:rPr i="1"/>
              <a:t>n</a:t>
            </a:r>
            <a:r>
              <a:t> transactions. </a:t>
            </a:r>
          </a:p>
          <a:p>
            <a:pPr>
              <a:lnSpc>
                <a:spcPct val="120000"/>
              </a:lnSpc>
            </a:pPr>
            <a:r>
              <a:t>Then, </a:t>
            </a:r>
          </a:p>
          <a:p>
            <a:endParaRPr/>
          </a:p>
        </p:txBody>
      </p:sp>
      <p:sp>
        <p:nvSpPr>
          <p:cNvPr id="678917" name="Rectangle 678916"/>
          <p:cNvSpPr/>
          <p:nvPr/>
        </p:nvSpPr>
        <p:spPr>
          <a:xfrm>
            <a:off x="1524000" y="0"/>
            <a:ext cx="9144000" cy="0"/>
          </a:xfrm>
          <a:prstGeom prst="rect">
            <a:avLst/>
          </a:prstGeom>
          <a:noFill/>
          <a:ln w="9525">
            <a:noFill/>
          </a:ln>
        </p:spPr>
        <p:txBody>
          <a:bodyPr/>
          <a:lstStyle/>
          <a:p>
            <a:endParaRPr lang="en-US"/>
          </a:p>
        </p:txBody>
      </p:sp>
      <p:graphicFrame>
        <p:nvGraphicFramePr>
          <p:cNvPr id="678916" name="Object 678915"/>
          <p:cNvGraphicFramePr/>
          <p:nvPr/>
        </p:nvGraphicFramePr>
        <p:xfrm>
          <a:off x="3509645" y="2889250"/>
          <a:ext cx="4318635" cy="906780"/>
        </p:xfrm>
        <a:graphic>
          <a:graphicData uri="http://schemas.openxmlformats.org/presentationml/2006/ole">
            <mc:AlternateContent xmlns:mc="http://schemas.openxmlformats.org/markup-compatibility/2006">
              <mc:Choice xmlns:v="urn:schemas-microsoft-com:vml" Requires="v">
                <p:oleObj r:id="rId2" imgW="1460500" imgH="368300" progId="Equation.3">
                  <p:embed/>
                </p:oleObj>
              </mc:Choice>
              <mc:Fallback>
                <p:oleObj r:id="rId2" imgW="1460500" imgH="368300" progId="Equation.3">
                  <p:embed/>
                  <p:pic>
                    <p:nvPicPr>
                      <p:cNvPr id="0" name="Picture 3076"/>
                      <p:cNvPicPr/>
                      <p:nvPr/>
                    </p:nvPicPr>
                    <p:blipFill>
                      <a:blip r:embed="rId3"/>
                      <a:stretch>
                        <a:fillRect/>
                      </a:stretch>
                    </p:blipFill>
                    <p:spPr>
                      <a:xfrm>
                        <a:off x="3509645" y="2889250"/>
                        <a:ext cx="4318635" cy="906780"/>
                      </a:xfrm>
                      <a:prstGeom prst="rect">
                        <a:avLst/>
                      </a:prstGeom>
                      <a:noFill/>
                      <a:ln w="38100">
                        <a:noFill/>
                        <a:miter/>
                      </a:ln>
                    </p:spPr>
                  </p:pic>
                </p:oleObj>
              </mc:Fallback>
            </mc:AlternateContent>
          </a:graphicData>
        </a:graphic>
      </p:graphicFrame>
      <p:sp>
        <p:nvSpPr>
          <p:cNvPr id="678919" name="Rectangle 678918"/>
          <p:cNvSpPr/>
          <p:nvPr/>
        </p:nvSpPr>
        <p:spPr>
          <a:xfrm>
            <a:off x="1524000" y="3243263"/>
            <a:ext cx="9144000" cy="0"/>
          </a:xfrm>
          <a:prstGeom prst="rect">
            <a:avLst/>
          </a:prstGeom>
          <a:noFill/>
          <a:ln w="9525">
            <a:noFill/>
          </a:ln>
        </p:spPr>
        <p:txBody>
          <a:bodyPr/>
          <a:lstStyle/>
          <a:p>
            <a:endParaRPr lang="en-US"/>
          </a:p>
        </p:txBody>
      </p:sp>
      <p:graphicFrame>
        <p:nvGraphicFramePr>
          <p:cNvPr id="678918" name="Object 678917"/>
          <p:cNvGraphicFramePr/>
          <p:nvPr/>
        </p:nvGraphicFramePr>
        <p:xfrm>
          <a:off x="3544570" y="3871595"/>
          <a:ext cx="4284345" cy="906780"/>
        </p:xfrm>
        <a:graphic>
          <a:graphicData uri="http://schemas.openxmlformats.org/presentationml/2006/ole">
            <mc:AlternateContent xmlns:mc="http://schemas.openxmlformats.org/markup-compatibility/2006">
              <mc:Choice xmlns:v="urn:schemas-microsoft-com:vml" Requires="v">
                <p:oleObj r:id="rId4" imgW="1612900" imgH="368300" progId="Equation.3">
                  <p:embed/>
                </p:oleObj>
              </mc:Choice>
              <mc:Fallback>
                <p:oleObj r:id="rId4" imgW="1612900" imgH="368300" progId="Equation.3">
                  <p:embed/>
                  <p:pic>
                    <p:nvPicPr>
                      <p:cNvPr id="0" name="Picture 3075"/>
                      <p:cNvPicPr/>
                      <p:nvPr/>
                    </p:nvPicPr>
                    <p:blipFill>
                      <a:blip r:embed="rId5"/>
                      <a:stretch>
                        <a:fillRect/>
                      </a:stretch>
                    </p:blipFill>
                    <p:spPr>
                      <a:xfrm>
                        <a:off x="3544570" y="3871595"/>
                        <a:ext cx="4284345" cy="906780"/>
                      </a:xfrm>
                      <a:prstGeom prst="rect">
                        <a:avLst/>
                      </a:prstGeom>
                      <a:noFill/>
                      <a:ln w="38100">
                        <a:noFill/>
                        <a:miter/>
                      </a:ln>
                    </p:spPr>
                  </p:pic>
                </p:oleObj>
              </mc:Fallback>
            </mc:AlternateContent>
          </a:graphicData>
        </a:graphic>
      </p:graphicFrame>
      <p:sp>
        <p:nvSpPr>
          <p:cNvPr id="3" name="Slide Number Placeholder 2"/>
          <p:cNvSpPr>
            <a:spLocks noGrp="1"/>
          </p:cNvSpPr>
          <p:nvPr>
            <p:ph type="sldNum" sz="quarter" idx="12"/>
          </p:nvPr>
        </p:nvSpPr>
        <p:spPr/>
        <p:txBody>
          <a:bodyPr/>
          <a:lstStyle/>
          <a:p>
            <a:pPr lvl="0"/>
            <a:fld id="{9A0DB2DC-4C9A-4742-B13C-FB6460FD3503}" type="slidenum">
              <a:rPr lang="en-US" altLang="en-US" dirty="0"/>
              <a:t>13</a:t>
            </a:fld>
            <a:endParaRPr lang="en-US" altLang="en-US" dirty="0"/>
          </a:p>
        </p:txBody>
      </p:sp>
      <p:sp>
        <p:nvSpPr>
          <p:cNvPr id="5" name="Text Box 4"/>
          <p:cNvSpPr txBox="1"/>
          <p:nvPr/>
        </p:nvSpPr>
        <p:spPr>
          <a:xfrm>
            <a:off x="360680" y="5269865"/>
            <a:ext cx="11287125" cy="869950"/>
          </a:xfrm>
          <a:prstGeom prst="rect">
            <a:avLst/>
          </a:prstGeom>
          <a:noFill/>
        </p:spPr>
        <p:txBody>
          <a:bodyPr wrap="none" rtlCol="0" anchor="t">
            <a:spAutoFit/>
          </a:bodyPr>
          <a:lstStyle/>
          <a:p>
            <a:pPr>
              <a:lnSpc>
                <a:spcPct val="60000"/>
              </a:lnSpc>
              <a:spcAft>
                <a:spcPct val="50000"/>
              </a:spcAft>
            </a:pPr>
            <a:r>
              <a:rPr sz="2800" b="1">
                <a:solidFill>
                  <a:srgbClr val="FF0000"/>
                </a:solidFill>
                <a:sym typeface="+mn-ea"/>
              </a:rPr>
              <a:t>Goal:</a:t>
            </a:r>
            <a:r>
              <a:rPr sz="2800">
                <a:sym typeface="+mn-ea"/>
              </a:rPr>
              <a:t> Find all rules that satisfy the user-specified </a:t>
            </a:r>
            <a:r>
              <a:rPr sz="2800" i="1">
                <a:solidFill>
                  <a:srgbClr val="FF0000"/>
                </a:solidFill>
                <a:sym typeface="+mn-ea"/>
              </a:rPr>
              <a:t>minimum support</a:t>
            </a:r>
            <a:r>
              <a:rPr sz="2800" dirty="0" err="1">
                <a:sym typeface="+mn-ea"/>
              </a:rPr>
              <a:t> (minsup</a:t>
            </a:r>
            <a:r>
              <a:rPr sz="2800">
                <a:sym typeface="+mn-ea"/>
              </a:rPr>
              <a:t>) </a:t>
            </a:r>
          </a:p>
          <a:p>
            <a:pPr>
              <a:lnSpc>
                <a:spcPct val="60000"/>
              </a:lnSpc>
              <a:spcAft>
                <a:spcPct val="50000"/>
              </a:spcAft>
            </a:pPr>
            <a:r>
              <a:rPr sz="2800">
                <a:sym typeface="+mn-ea"/>
              </a:rPr>
              <a:t>and </a:t>
            </a:r>
            <a:r>
              <a:rPr sz="2800" i="1">
                <a:solidFill>
                  <a:srgbClr val="FF0000"/>
                </a:solidFill>
                <a:sym typeface="+mn-ea"/>
              </a:rPr>
              <a:t>minimum confidence</a:t>
            </a:r>
            <a:r>
              <a:rPr sz="2800" i="1">
                <a:sym typeface="+mn-ea"/>
              </a:rPr>
              <a:t> </a:t>
            </a:r>
            <a:r>
              <a:rPr sz="2800" dirty="0" err="1">
                <a:sym typeface="+mn-ea"/>
              </a:rPr>
              <a:t>(minconf</a:t>
            </a:r>
            <a:r>
              <a:rPr sz="2800">
                <a:sym typeface="+mn-ea"/>
              </a:rPr>
              <a:t>).</a:t>
            </a:r>
            <a:endParaRPr lang="en-US" sz="28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10390" name="Group 1210389"/>
          <p:cNvGrpSpPr/>
          <p:nvPr/>
        </p:nvGrpSpPr>
        <p:grpSpPr>
          <a:xfrm>
            <a:off x="6948170" y="3644995"/>
            <a:ext cx="4573270" cy="2506885"/>
            <a:chOff x="3014" y="2289"/>
            <a:chExt cx="2506" cy="1607"/>
          </a:xfrm>
        </p:grpSpPr>
        <p:sp>
          <p:nvSpPr>
            <p:cNvPr id="1210379" name="Text Box 1210378"/>
            <p:cNvSpPr txBox="1"/>
            <p:nvPr/>
          </p:nvSpPr>
          <p:spPr>
            <a:xfrm>
              <a:off x="3014" y="2289"/>
              <a:ext cx="728" cy="256"/>
            </a:xfrm>
            <a:prstGeom prst="rect">
              <a:avLst/>
            </a:prstGeom>
            <a:noFill/>
            <a:ln w="9525">
              <a:noFill/>
            </a:ln>
          </p:spPr>
          <p:txBody>
            <a:bodyPr wrap="square" anchor="t">
              <a:spAutoFit/>
            </a:bodyPr>
            <a:lstStyle/>
            <a:p>
              <a:r>
                <a:rPr sz="2000" b="1">
                  <a:solidFill>
                    <a:srgbClr val="FF0000"/>
                  </a:solidFill>
                  <a:latin typeface="Times New Roman" panose="02020603050405020304" pitchFamily="18" charset="0"/>
                </a:rPr>
                <a:t>Example:</a:t>
              </a:r>
            </a:p>
          </p:txBody>
        </p:sp>
        <p:graphicFrame>
          <p:nvGraphicFramePr>
            <p:cNvPr id="1210380" name="Object 1210379"/>
            <p:cNvGraphicFramePr/>
            <p:nvPr/>
          </p:nvGraphicFramePr>
          <p:xfrm>
            <a:off x="3779" y="2545"/>
            <a:ext cx="1741" cy="239"/>
          </p:xfrm>
          <a:graphic>
            <a:graphicData uri="http://schemas.openxmlformats.org/presentationml/2006/ole">
              <mc:AlternateContent xmlns:mc="http://schemas.openxmlformats.org/markup-compatibility/2006">
                <mc:Choice xmlns:v="urn:schemas-microsoft-com:vml" Requires="v">
                  <p:oleObj r:id="rId2" imgW="1459230" imgH="203200" progId="Equation.3">
                    <p:embed/>
                  </p:oleObj>
                </mc:Choice>
                <mc:Fallback>
                  <p:oleObj r:id="rId2" imgW="1459230" imgH="203200" progId="Equation.3">
                    <p:embed/>
                    <p:pic>
                      <p:nvPicPr>
                        <p:cNvPr id="0" name="Picture 3104"/>
                        <p:cNvPicPr/>
                        <p:nvPr/>
                      </p:nvPicPr>
                      <p:blipFill>
                        <a:blip r:embed="rId3"/>
                        <a:stretch>
                          <a:fillRect/>
                        </a:stretch>
                      </p:blipFill>
                      <p:spPr>
                        <a:xfrm>
                          <a:off x="3779" y="2545"/>
                          <a:ext cx="1741" cy="239"/>
                        </a:xfrm>
                        <a:prstGeom prst="rect">
                          <a:avLst/>
                        </a:prstGeom>
                        <a:noFill/>
                        <a:ln w="38100">
                          <a:noFill/>
                          <a:miter/>
                        </a:ln>
                      </p:spPr>
                    </p:pic>
                  </p:oleObj>
                </mc:Fallback>
              </mc:AlternateContent>
            </a:graphicData>
          </a:graphic>
        </p:graphicFrame>
        <p:graphicFrame>
          <p:nvGraphicFramePr>
            <p:cNvPr id="1210381" name="Object 1210380"/>
            <p:cNvGraphicFramePr/>
            <p:nvPr/>
          </p:nvGraphicFramePr>
          <p:xfrm>
            <a:off x="3060" y="2928"/>
            <a:ext cx="2460" cy="445"/>
          </p:xfrm>
          <a:graphic>
            <a:graphicData uri="http://schemas.openxmlformats.org/presentationml/2006/ole">
              <mc:AlternateContent xmlns:mc="http://schemas.openxmlformats.org/markup-compatibility/2006">
                <mc:Choice xmlns:v="urn:schemas-microsoft-com:vml" Requires="v">
                  <p:oleObj r:id="rId4" imgW="4318000" imgH="787400" progId="Equation.3">
                    <p:embed/>
                  </p:oleObj>
                </mc:Choice>
                <mc:Fallback>
                  <p:oleObj r:id="rId4" imgW="4318000" imgH="787400" progId="Equation.3">
                    <p:embed/>
                    <p:pic>
                      <p:nvPicPr>
                        <p:cNvPr id="0" name="Picture 3101"/>
                        <p:cNvPicPr/>
                        <p:nvPr/>
                      </p:nvPicPr>
                      <p:blipFill>
                        <a:blip r:embed="rId5"/>
                        <a:stretch>
                          <a:fillRect/>
                        </a:stretch>
                      </p:blipFill>
                      <p:spPr>
                        <a:xfrm>
                          <a:off x="3060" y="2928"/>
                          <a:ext cx="2460" cy="445"/>
                        </a:xfrm>
                        <a:prstGeom prst="rect">
                          <a:avLst/>
                        </a:prstGeom>
                        <a:noFill/>
                        <a:ln w="38100">
                          <a:noFill/>
                          <a:miter/>
                        </a:ln>
                      </p:spPr>
                    </p:pic>
                  </p:oleObj>
                </mc:Fallback>
              </mc:AlternateContent>
            </a:graphicData>
          </a:graphic>
        </p:graphicFrame>
        <p:graphicFrame>
          <p:nvGraphicFramePr>
            <p:cNvPr id="1210382" name="Object 1210381"/>
            <p:cNvGraphicFramePr/>
            <p:nvPr/>
          </p:nvGraphicFramePr>
          <p:xfrm>
            <a:off x="3014" y="3456"/>
            <a:ext cx="2475" cy="440"/>
          </p:xfrm>
          <a:graphic>
            <a:graphicData uri="http://schemas.openxmlformats.org/presentationml/2006/ole">
              <mc:AlternateContent xmlns:mc="http://schemas.openxmlformats.org/markup-compatibility/2006">
                <mc:Choice xmlns:v="urn:schemas-microsoft-com:vml" Requires="v">
                  <p:oleObj r:id="rId6" imgW="4470400" imgH="787400" progId="Equation.3">
                    <p:embed/>
                  </p:oleObj>
                </mc:Choice>
                <mc:Fallback>
                  <p:oleObj r:id="rId6" imgW="4470400" imgH="787400" progId="Equation.3">
                    <p:embed/>
                    <p:pic>
                      <p:nvPicPr>
                        <p:cNvPr id="0" name="Picture 3102"/>
                        <p:cNvPicPr/>
                        <p:nvPr/>
                      </p:nvPicPr>
                      <p:blipFill>
                        <a:blip r:embed="rId7"/>
                        <a:stretch>
                          <a:fillRect/>
                        </a:stretch>
                      </p:blipFill>
                      <p:spPr>
                        <a:xfrm>
                          <a:off x="3014" y="3456"/>
                          <a:ext cx="2475" cy="440"/>
                        </a:xfrm>
                        <a:prstGeom prst="rect">
                          <a:avLst/>
                        </a:prstGeom>
                        <a:noFill/>
                        <a:ln w="38100">
                          <a:noFill/>
                          <a:miter/>
                        </a:ln>
                      </p:spPr>
                    </p:pic>
                  </p:oleObj>
                </mc:Fallback>
              </mc:AlternateContent>
            </a:graphicData>
          </a:graphic>
        </p:graphicFrame>
      </p:grpSp>
      <p:sp>
        <p:nvSpPr>
          <p:cNvPr id="1210387" name="Rectangle 1210386"/>
          <p:cNvSpPr/>
          <p:nvPr/>
        </p:nvSpPr>
        <p:spPr>
          <a:xfrm>
            <a:off x="229870" y="1066800"/>
            <a:ext cx="6096635" cy="5366385"/>
          </a:xfrm>
          <a:prstGeom prst="rect">
            <a:avLst/>
          </a:prstGeom>
          <a:noFill/>
          <a:ln w="12700">
            <a:noFill/>
          </a:ln>
        </p:spPr>
        <p:txBody>
          <a:bodyPr lIns="90488" tIns="44450" rIns="90488" bIns="44450"/>
          <a:lstStyle>
            <a:lvl1pPr marL="292100" lvl="0" indent="-292100" algn="l" defTabSz="914400" rtl="0" eaLnBrk="0" fontAlgn="base" latinLnBrk="0" hangingPunct="0">
              <a:lnSpc>
                <a:spcPct val="100000"/>
              </a:lnSpc>
              <a:spcBef>
                <a:spcPct val="10000"/>
              </a:spcBef>
              <a:spcAft>
                <a:spcPts val="400"/>
              </a:spcAft>
              <a:buClr>
                <a:srgbClr val="0C7B9C"/>
              </a:buClr>
              <a:buSzPct val="75000"/>
              <a:buFont typeface="Monotype Sorts" pitchFamily="2" charset="2"/>
              <a:buChar char="l"/>
              <a:defRPr sz="2400" u="none" kern="1200" baseline="0">
                <a:solidFill>
                  <a:schemeClr val="tx1"/>
                </a:solidFill>
                <a:latin typeface="Arial" panose="020B0604020202020204" pitchFamily="34" charset="0"/>
              </a:defRPr>
            </a:lvl1pPr>
            <a:lvl2pPr marL="800100" lvl="1" indent="-342900" algn="l" defTabSz="914400" rtl="0" eaLnBrk="0" fontAlgn="base" latinLnBrk="0" hangingPunct="0">
              <a:lnSpc>
                <a:spcPct val="100000"/>
              </a:lnSpc>
              <a:spcBef>
                <a:spcPct val="10000"/>
              </a:spcBef>
              <a:spcAft>
                <a:spcPts val="400"/>
              </a:spcAft>
              <a:buClr>
                <a:srgbClr val="0C7B9C"/>
              </a:buClr>
              <a:buSzPct val="100000"/>
              <a:buFont typeface="Monotype Sorts" pitchFamily="2" charset="2"/>
              <a:buChar char="–"/>
              <a:defRPr sz="2000" b="0" i="0" u="none" kern="1200" baseline="0">
                <a:solidFill>
                  <a:schemeClr val="tx1"/>
                </a:solidFill>
                <a:latin typeface="Arial" panose="020B0604020202020204" pitchFamily="34" charset="0"/>
              </a:defRPr>
            </a:lvl2pPr>
            <a:lvl3pPr marL="914400" lvl="2" indent="0" algn="l" defTabSz="914400" rtl="0" eaLnBrk="0" fontAlgn="base" latinLnBrk="0" hangingPunct="0">
              <a:lnSpc>
                <a:spcPct val="100000"/>
              </a:lnSpc>
              <a:spcBef>
                <a:spcPct val="10000"/>
              </a:spcBef>
              <a:spcAft>
                <a:spcPts val="400"/>
              </a:spcAft>
              <a:buClr>
                <a:srgbClr val="0C7B9C"/>
              </a:buClr>
              <a:buSzPct val="70000"/>
              <a:buFont typeface="Monotype Sorts" pitchFamily="2" charset="2"/>
              <a:buChar char="u"/>
              <a:defRPr sz="1800" b="0" i="0" u="none" kern="1200" baseline="0">
                <a:solidFill>
                  <a:schemeClr val="tx1"/>
                </a:solidFill>
                <a:latin typeface="Arial" panose="020B0604020202020204" pitchFamily="34" charset="0"/>
              </a:defRPr>
            </a:lvl3pPr>
            <a:lvl4pPr marL="1600200" lvl="3" indent="-228600" algn="l" defTabSz="914400" rtl="0" eaLnBrk="0" fontAlgn="base" latinLnBrk="0" hangingPunct="0">
              <a:lnSpc>
                <a:spcPct val="100000"/>
              </a:lnSpc>
              <a:spcBef>
                <a:spcPct val="20000"/>
              </a:spcBef>
              <a:spcAft>
                <a:spcPct val="0"/>
              </a:spcAft>
              <a:buSzPct val="100000"/>
              <a:buFont typeface="Monotype Sorts" pitchFamily="2" charset="2"/>
              <a:buChar char="–"/>
              <a:defRPr sz="1800" b="0" i="0" u="none" kern="1200" baseline="0">
                <a:solidFill>
                  <a:schemeClr val="tx1"/>
                </a:solidFill>
                <a:latin typeface="Times New Roman" panose="02020603050405020304" pitchFamily="18" charset="0"/>
              </a:defRPr>
            </a:lvl4pPr>
            <a:lvl5pPr marL="2057400" lvl="4" indent="-228600" algn="l" defTabSz="914400" rtl="0" eaLnBrk="0" fontAlgn="base" latinLnBrk="0" hangingPunct="0">
              <a:lnSpc>
                <a:spcPct val="100000"/>
              </a:lnSpc>
              <a:spcBef>
                <a:spcPct val="20000"/>
              </a:spcBef>
              <a:spcAft>
                <a:spcPct val="0"/>
              </a:spcAft>
              <a:buSzPct val="100000"/>
              <a:buFont typeface="Monotype Sorts" pitchFamily="2" charset="2"/>
              <a:buChar char="•"/>
              <a:defRPr sz="1800" b="0" i="0" u="none" kern="1200" baseline="0">
                <a:solidFill>
                  <a:schemeClr val="tx1"/>
                </a:solidFill>
                <a:latin typeface="Times New Roman" panose="02020603050405020304" pitchFamily="18" charset="0"/>
              </a:defRPr>
            </a:lvl5pPr>
          </a:lstStyle>
          <a:p>
            <a:pPr marL="342900" lvl="0" indent="-342900">
              <a:lnSpc>
                <a:spcPct val="90000"/>
              </a:lnSpc>
            </a:pPr>
            <a:r>
              <a:rPr sz="2400" b="1"/>
              <a:t>Association Rule</a:t>
            </a:r>
          </a:p>
          <a:p>
            <a:pPr marL="742950" lvl="1" indent="-285750">
              <a:lnSpc>
                <a:spcPct val="90000"/>
              </a:lnSpc>
            </a:pPr>
            <a:r>
              <a:rPr sz="2400" b="0"/>
              <a:t>An implication expression of the form X </a:t>
            </a:r>
            <a:r>
              <a:rPr sz="2400" b="0" dirty="0" err="1">
                <a:sym typeface="Symbol" panose="05050102010706020507" pitchFamily="18" charset="2"/>
              </a:rPr>
              <a:t> Y, where X and Y are itemsets</a:t>
            </a:r>
            <a:endParaRPr sz="2400" b="0">
              <a:sym typeface="Symbol" panose="05050102010706020507" pitchFamily="18" charset="2"/>
            </a:endParaRPr>
          </a:p>
          <a:p>
            <a:pPr marL="742950" lvl="1" indent="-285750">
              <a:lnSpc>
                <a:spcPct val="90000"/>
              </a:lnSpc>
            </a:pPr>
            <a:r>
              <a:rPr sz="2400" b="0"/>
              <a:t>Example:</a:t>
            </a:r>
            <a:br>
              <a:rPr sz="2400" b="0"/>
            </a:br>
            <a:r>
              <a:rPr sz="2400" b="0"/>
              <a:t>   {Milk, Diaper} </a:t>
            </a:r>
            <a:r>
              <a:rPr sz="2400" b="0">
                <a:sym typeface="Symbol" panose="05050102010706020507" pitchFamily="18" charset="2"/>
              </a:rPr>
              <a:t> {Beer}</a:t>
            </a:r>
            <a:r>
              <a:rPr sz="2400" b="0"/>
              <a:t> </a:t>
            </a:r>
          </a:p>
          <a:p>
            <a:pPr marL="742950" lvl="1" indent="-285750">
              <a:lnSpc>
                <a:spcPct val="90000"/>
              </a:lnSpc>
              <a:buNone/>
            </a:pPr>
            <a:endParaRPr sz="2400" b="1"/>
          </a:p>
          <a:p>
            <a:pPr marL="342900" lvl="0" indent="-342900">
              <a:lnSpc>
                <a:spcPct val="90000"/>
              </a:lnSpc>
            </a:pPr>
            <a:r>
              <a:rPr sz="2400" b="1"/>
              <a:t>Rule Evaluation Metrics</a:t>
            </a:r>
            <a:endParaRPr sz="2400" b="1">
              <a:sym typeface="Symbol" panose="05050102010706020507" pitchFamily="18" charset="2"/>
            </a:endParaRPr>
          </a:p>
          <a:p>
            <a:pPr marL="727710" lvl="1" indent="-269875">
              <a:lnSpc>
                <a:spcPct val="90000"/>
              </a:lnSpc>
            </a:pPr>
            <a:r>
              <a:rPr sz="2400"/>
              <a:t>Support (s)</a:t>
            </a:r>
          </a:p>
          <a:p>
            <a:pPr marL="727710" lvl="2" indent="-269875">
              <a:lnSpc>
                <a:spcPct val="90000"/>
              </a:lnSpc>
            </a:pPr>
            <a:r>
              <a:rPr sz="2400"/>
              <a:t>Fraction of transactions that contain both X and Y</a:t>
            </a:r>
          </a:p>
          <a:p>
            <a:pPr marL="727710" lvl="1" indent="-269875">
              <a:lnSpc>
                <a:spcPct val="90000"/>
              </a:lnSpc>
            </a:pPr>
            <a:r>
              <a:rPr sz="2400"/>
              <a:t>Confidence (c)</a:t>
            </a:r>
          </a:p>
          <a:p>
            <a:pPr marL="727710" lvl="2" indent="-269875">
              <a:lnSpc>
                <a:spcPct val="90000"/>
              </a:lnSpc>
            </a:pPr>
            <a:r>
              <a:rPr sz="2400"/>
              <a:t>Measures how often items in Y </a:t>
            </a:r>
            <a:br>
              <a:rPr sz="2400"/>
            </a:br>
            <a:r>
              <a:rPr sz="2400"/>
              <a:t>appear in transactions that</a:t>
            </a:r>
            <a:br>
              <a:rPr sz="2400"/>
            </a:br>
            <a:r>
              <a:rPr sz="2400"/>
              <a:t>contain X</a:t>
            </a:r>
          </a:p>
        </p:txBody>
      </p:sp>
      <p:graphicFrame>
        <p:nvGraphicFramePr>
          <p:cNvPr id="1210389" name="Content Placeholder 1210388"/>
          <p:cNvGraphicFramePr>
            <a:graphicFrameLocks noGrp="1"/>
          </p:cNvGraphicFramePr>
          <p:nvPr>
            <p:ph idx="1"/>
          </p:nvPr>
        </p:nvGraphicFramePr>
        <p:xfrm>
          <a:off x="7444740" y="1176020"/>
          <a:ext cx="4344670" cy="2314575"/>
        </p:xfrm>
        <a:graphic>
          <a:graphicData uri="http://schemas.openxmlformats.org/presentationml/2006/ole">
            <mc:AlternateContent xmlns:mc="http://schemas.openxmlformats.org/markup-compatibility/2006">
              <mc:Choice xmlns:v="urn:schemas-microsoft-com:vml" Requires="v">
                <p:oleObj r:id="rId8" imgW="3354705" imgH="2018030" progId="Word.Document.8">
                  <p:embed/>
                </p:oleObj>
              </mc:Choice>
              <mc:Fallback>
                <p:oleObj r:id="rId8" imgW="3354705" imgH="2018030" progId="Word.Document.8">
                  <p:embed/>
                  <p:pic>
                    <p:nvPicPr>
                      <p:cNvPr id="0" name="Picture 3105"/>
                      <p:cNvPicPr/>
                      <p:nvPr/>
                    </p:nvPicPr>
                    <p:blipFill>
                      <a:blip r:embed="rId9"/>
                      <a:stretch>
                        <a:fillRect/>
                      </a:stretch>
                    </p:blipFill>
                    <p:spPr>
                      <a:xfrm>
                        <a:off x="7444740" y="1176020"/>
                        <a:ext cx="4344670" cy="2314575"/>
                      </a:xfrm>
                      <a:prstGeom prst="rect">
                        <a:avLst/>
                      </a:prstGeom>
                      <a:noFill/>
                      <a:ln w="38100">
                        <a:noFill/>
                        <a:miter/>
                      </a:ln>
                    </p:spPr>
                  </p:pic>
                </p:oleObj>
              </mc:Fallback>
            </mc:AlternateContent>
          </a:graphicData>
        </a:graphic>
      </p:graphicFrame>
      <p:sp>
        <p:nvSpPr>
          <p:cNvPr id="1210370" name="Title 1210369"/>
          <p:cNvSpPr>
            <a:spLocks noGrp="1"/>
          </p:cNvSpPr>
          <p:nvPr>
            <p:ph type="title"/>
          </p:nvPr>
        </p:nvSpPr>
        <p:spPr>
          <a:xfrm>
            <a:off x="304800" y="217170"/>
            <a:ext cx="10515600" cy="849630"/>
          </a:xfrm>
        </p:spPr>
        <p:txBody>
          <a:bodyPr lIns="90488" tIns="44450" rIns="90488" bIns="44450" anchor="b"/>
          <a:lstStyle/>
          <a:p>
            <a:r>
              <a:rPr b="1"/>
              <a:t>Definition: Association Rule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6565" y="365125"/>
            <a:ext cx="11344910" cy="1461135"/>
          </a:xfrm>
        </p:spPr>
        <p:txBody>
          <a:bodyPr>
            <a:normAutofit/>
          </a:bodyPr>
          <a:lstStyle/>
          <a:p>
            <a:r>
              <a:rPr lang="en-US" sz="3200" b="1"/>
              <a:t>Is minimum support and minimum confidence can be automatically determined in mining association rules?</a:t>
            </a:r>
          </a:p>
        </p:txBody>
      </p:sp>
      <p:sp>
        <p:nvSpPr>
          <p:cNvPr id="3" name="Content Placeholder 2"/>
          <p:cNvSpPr>
            <a:spLocks noGrp="1"/>
          </p:cNvSpPr>
          <p:nvPr>
            <p:ph idx="1"/>
          </p:nvPr>
        </p:nvSpPr>
        <p:spPr>
          <a:xfrm>
            <a:off x="838200" y="1825625"/>
            <a:ext cx="10515600" cy="5398770"/>
          </a:xfrm>
        </p:spPr>
        <p:txBody>
          <a:bodyPr/>
          <a:lstStyle/>
          <a:p>
            <a:r>
              <a:rPr lang="en-US" sz="2400"/>
              <a:t>For the </a:t>
            </a:r>
            <a:r>
              <a:rPr lang="en-US" sz="2400" b="1"/>
              <a:t>mininmum support</a:t>
            </a:r>
            <a:r>
              <a:rPr lang="en-US" sz="2400"/>
              <a:t>, it all depends on the dataset. Usually,  may start with a high value, and then decrease the values until to find a value that will generate enough paterns.</a:t>
            </a:r>
          </a:p>
          <a:p>
            <a:r>
              <a:rPr lang="en-US" sz="2400"/>
              <a:t>For the </a:t>
            </a:r>
            <a:r>
              <a:rPr lang="en-US" sz="2400" b="1"/>
              <a:t>minimum confidence</a:t>
            </a:r>
            <a:r>
              <a:rPr lang="en-US" sz="2400"/>
              <a:t>, it is a little bit easier because it represents the confidence that you want in the rules. So usually, use something like 60 % . But it also depends on the data.</a:t>
            </a:r>
          </a:p>
          <a:p>
            <a:r>
              <a:rPr lang="en-US" sz="2400"/>
              <a:t>In terms of performance, when </a:t>
            </a:r>
            <a:r>
              <a:rPr lang="en-US" sz="2400" b="1" i="1"/>
              <a:t>minsup</a:t>
            </a:r>
            <a:r>
              <a:rPr lang="en-US" sz="2400"/>
              <a:t> is higher you will find </a:t>
            </a:r>
            <a:r>
              <a:rPr lang="en-US" sz="2400" b="1"/>
              <a:t>less pattern</a:t>
            </a:r>
            <a:r>
              <a:rPr lang="en-US" sz="2400"/>
              <a:t> and the algorithm is faster. For </a:t>
            </a:r>
            <a:r>
              <a:rPr lang="en-US" sz="2400" b="1" i="1"/>
              <a:t>minconf</a:t>
            </a:r>
            <a:r>
              <a:rPr lang="en-US" sz="2400"/>
              <a:t>, when it is set higher, there will be less pattern but it may not be faster because many algorithms don't use minconf to prune the search space. So obviously, setting these parameters also depends on how many rules you want.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1986" name="Title 681985"/>
          <p:cNvSpPr>
            <a:spLocks noGrp="1"/>
          </p:cNvSpPr>
          <p:nvPr>
            <p:ph type="title"/>
          </p:nvPr>
        </p:nvSpPr>
        <p:spPr>
          <a:xfrm>
            <a:off x="310515" y="239395"/>
            <a:ext cx="7772400" cy="1104900"/>
          </a:xfrm>
        </p:spPr>
        <p:txBody>
          <a:bodyPr/>
          <a:lstStyle/>
          <a:p>
            <a:r>
              <a:rPr lang="en-GB" altLang="x-none" b="1"/>
              <a:t>An example</a:t>
            </a:r>
          </a:p>
        </p:txBody>
      </p:sp>
      <p:sp>
        <p:nvSpPr>
          <p:cNvPr id="681987" name="Text Placeholder 681986"/>
          <p:cNvSpPr>
            <a:spLocks noGrp="1"/>
          </p:cNvSpPr>
          <p:nvPr>
            <p:ph type="body" idx="1"/>
          </p:nvPr>
        </p:nvSpPr>
        <p:spPr>
          <a:xfrm>
            <a:off x="569595" y="1561465"/>
            <a:ext cx="7772400" cy="4794885"/>
          </a:xfrm>
        </p:spPr>
        <p:txBody>
          <a:bodyPr/>
          <a:lstStyle/>
          <a:p>
            <a:pPr>
              <a:lnSpc>
                <a:spcPct val="110000"/>
              </a:lnSpc>
              <a:spcBef>
                <a:spcPts val="1000"/>
              </a:spcBef>
            </a:pPr>
            <a:r>
              <a:rPr lang="en-GB" altLang="x-none"/>
              <a:t>Transaction data</a:t>
            </a:r>
            <a:endParaRPr lang="en-GB" altLang="x-none" b="1"/>
          </a:p>
          <a:p>
            <a:pPr>
              <a:lnSpc>
                <a:spcPct val="110000"/>
              </a:lnSpc>
              <a:spcBef>
                <a:spcPct val="0"/>
              </a:spcBef>
            </a:pPr>
            <a:r>
              <a:rPr lang="en-GB" altLang="x-none"/>
              <a:t>Assume:</a:t>
            </a:r>
          </a:p>
          <a:p>
            <a:pPr>
              <a:lnSpc>
                <a:spcPct val="110000"/>
              </a:lnSpc>
              <a:spcBef>
                <a:spcPct val="0"/>
              </a:spcBef>
              <a:buNone/>
            </a:pPr>
            <a:r>
              <a:rPr lang="en-GB" altLang="x-none" sz="2100"/>
              <a:t>		</a:t>
            </a:r>
            <a:r>
              <a:rPr lang="en-GB" altLang="x-none" sz="2100" dirty="0" err="1"/>
              <a:t>minsup</a:t>
            </a:r>
            <a:r>
              <a:rPr lang="en-GB" altLang="x-none" sz="2100"/>
              <a:t> = 30%</a:t>
            </a:r>
          </a:p>
          <a:p>
            <a:pPr>
              <a:lnSpc>
                <a:spcPct val="110000"/>
              </a:lnSpc>
              <a:spcBef>
                <a:spcPct val="0"/>
              </a:spcBef>
              <a:buNone/>
            </a:pPr>
            <a:r>
              <a:rPr lang="en-GB" altLang="x-none" sz="2100"/>
              <a:t>		</a:t>
            </a:r>
            <a:r>
              <a:rPr lang="en-GB" altLang="x-none" sz="2100" dirty="0" err="1"/>
              <a:t>minconf</a:t>
            </a:r>
            <a:r>
              <a:rPr lang="en-GB" altLang="x-none" sz="2100"/>
              <a:t> = 80%</a:t>
            </a:r>
          </a:p>
          <a:p>
            <a:pPr>
              <a:lnSpc>
                <a:spcPct val="110000"/>
              </a:lnSpc>
              <a:spcBef>
                <a:spcPct val="0"/>
              </a:spcBef>
            </a:pPr>
            <a:r>
              <a:rPr lang="en-GB" altLang="x-none"/>
              <a:t>An example </a:t>
            </a:r>
            <a:r>
              <a:rPr lang="en-GB" altLang="x-none">
                <a:solidFill>
                  <a:srgbClr val="FF0000"/>
                </a:solidFill>
              </a:rPr>
              <a:t>frequent </a:t>
            </a:r>
            <a:r>
              <a:rPr lang="en-GB" altLang="x-none" i="1" dirty="0" err="1">
                <a:solidFill>
                  <a:srgbClr val="FF0000"/>
                </a:solidFill>
              </a:rPr>
              <a:t>itemset</a:t>
            </a:r>
            <a:r>
              <a:rPr lang="en-GB" altLang="x-none"/>
              <a:t>:</a:t>
            </a:r>
            <a:r>
              <a:rPr lang="en-GB" altLang="x-none" b="1"/>
              <a:t>    </a:t>
            </a:r>
          </a:p>
          <a:p>
            <a:pPr>
              <a:lnSpc>
                <a:spcPct val="110000"/>
              </a:lnSpc>
              <a:spcBef>
                <a:spcPct val="0"/>
              </a:spcBef>
              <a:buNone/>
            </a:pPr>
            <a:r>
              <a:rPr lang="en-GB" altLang="x-none"/>
              <a:t>   </a:t>
            </a:r>
            <a:r>
              <a:rPr lang="en-GB" altLang="x-none" sz="2100"/>
              <a:t>{Chicken, Clothes, Milk}    	[sup = 3/7]</a:t>
            </a:r>
          </a:p>
          <a:p>
            <a:pPr>
              <a:lnSpc>
                <a:spcPct val="110000"/>
              </a:lnSpc>
              <a:spcBef>
                <a:spcPct val="0"/>
              </a:spcBef>
            </a:pPr>
            <a:r>
              <a:rPr lang="en-GB" altLang="x-none">
                <a:solidFill>
                  <a:srgbClr val="FF0000"/>
                </a:solidFill>
              </a:rPr>
              <a:t>Association rules</a:t>
            </a:r>
            <a:r>
              <a:rPr lang="en-GB" altLang="x-none">
                <a:solidFill>
                  <a:schemeClr val="accent2"/>
                </a:solidFill>
              </a:rPr>
              <a:t> </a:t>
            </a:r>
            <a:r>
              <a:rPr lang="en-GB" altLang="x-none"/>
              <a:t>from the </a:t>
            </a:r>
            <a:r>
              <a:rPr lang="en-GB" altLang="x-none" dirty="0" err="1"/>
              <a:t>itemset</a:t>
            </a:r>
            <a:r>
              <a:rPr lang="en-GB" altLang="x-none"/>
              <a:t>:</a:t>
            </a:r>
            <a:r>
              <a:rPr lang="en-GB" altLang="x-none" b="1"/>
              <a:t>	</a:t>
            </a:r>
          </a:p>
          <a:p>
            <a:pPr>
              <a:lnSpc>
                <a:spcPct val="110000"/>
              </a:lnSpc>
              <a:spcBef>
                <a:spcPct val="0"/>
              </a:spcBef>
              <a:buNone/>
            </a:pPr>
            <a:r>
              <a:rPr lang="en-GB" altLang="x-none" sz="2600"/>
              <a:t>	 </a:t>
            </a:r>
            <a:r>
              <a:rPr lang="en-GB" altLang="x-none" sz="2100"/>
              <a:t>Clothes </a:t>
            </a:r>
            <a:r>
              <a:rPr lang="en-GB" altLang="x-none" sz="2600">
                <a:sym typeface="Symbol" panose="05050102010706020507" pitchFamily="18" charset="2"/>
              </a:rPr>
              <a:t> </a:t>
            </a:r>
            <a:r>
              <a:rPr lang="en-GB" altLang="x-none" sz="2100"/>
              <a:t>Milk, </a:t>
            </a:r>
            <a:r>
              <a:rPr lang="en-GB" altLang="x-none" sz="2000"/>
              <a:t>Chicken	</a:t>
            </a:r>
            <a:r>
              <a:rPr lang="en-GB" altLang="x-none" sz="2100"/>
              <a:t>[sup = 3/7, conf = 3/3]</a:t>
            </a:r>
          </a:p>
          <a:p>
            <a:pPr>
              <a:lnSpc>
                <a:spcPct val="110000"/>
              </a:lnSpc>
              <a:spcBef>
                <a:spcPct val="0"/>
              </a:spcBef>
              <a:buNone/>
            </a:pPr>
            <a:r>
              <a:rPr lang="en-GB" altLang="x-none" sz="2600"/>
              <a:t>	 </a:t>
            </a:r>
            <a:r>
              <a:rPr lang="en-GB" altLang="x-none" sz="2100"/>
              <a:t>…				…</a:t>
            </a:r>
          </a:p>
          <a:p>
            <a:pPr>
              <a:lnSpc>
                <a:spcPct val="110000"/>
              </a:lnSpc>
              <a:spcBef>
                <a:spcPct val="0"/>
              </a:spcBef>
              <a:buNone/>
            </a:pPr>
            <a:r>
              <a:rPr lang="en-GB" altLang="x-none" sz="2600"/>
              <a:t>	 </a:t>
            </a:r>
            <a:r>
              <a:rPr lang="en-GB" altLang="x-none" sz="2100"/>
              <a:t>Clothes, </a:t>
            </a:r>
            <a:r>
              <a:rPr lang="en-GB" altLang="x-none" sz="2000"/>
              <a:t>Chicken</a:t>
            </a:r>
            <a:r>
              <a:rPr lang="en-GB" altLang="x-none" sz="2100"/>
              <a:t> </a:t>
            </a:r>
            <a:r>
              <a:rPr lang="en-GB" altLang="x-none" sz="2600">
                <a:sym typeface="Symbol" panose="05050102010706020507" pitchFamily="18" charset="2"/>
              </a:rPr>
              <a:t> </a:t>
            </a:r>
            <a:r>
              <a:rPr lang="en-GB" altLang="x-none" sz="2100"/>
              <a:t>Milk, </a:t>
            </a:r>
            <a:r>
              <a:rPr lang="en-GB" altLang="x-none" sz="2000"/>
              <a:t>	</a:t>
            </a:r>
            <a:r>
              <a:rPr lang="en-GB" altLang="x-none" sz="2100"/>
              <a:t>[sup = 3/7, conf = 3/3]</a:t>
            </a:r>
          </a:p>
        </p:txBody>
      </p:sp>
      <p:sp>
        <p:nvSpPr>
          <p:cNvPr id="681988" name="Text Box 681987"/>
          <p:cNvSpPr txBox="1"/>
          <p:nvPr/>
        </p:nvSpPr>
        <p:spPr>
          <a:xfrm>
            <a:off x="7124700" y="1691005"/>
            <a:ext cx="4667250" cy="2360930"/>
          </a:xfrm>
          <a:prstGeom prst="rect">
            <a:avLst/>
          </a:prstGeom>
          <a:noFill/>
          <a:ln w="12700">
            <a:noFill/>
          </a:ln>
        </p:spPr>
        <p:txBody>
          <a:bodyPr>
            <a:spAutoFit/>
          </a:bodyPr>
          <a:lstStyle/>
          <a:p>
            <a:pPr marL="114300" lvl="1" indent="0" defTabSz="635000">
              <a:spcBef>
                <a:spcPct val="20000"/>
              </a:spcBef>
              <a:buClr>
                <a:schemeClr val="accent1"/>
              </a:buClr>
              <a:buSzPct val="65000"/>
              <a:buFont typeface="Wingdings" panose="05000000000000000000" pitchFamily="2" charset="2"/>
              <a:buNone/>
            </a:pPr>
            <a:r>
              <a:rPr lang="en-US" altLang="ja-JP" sz="1800" b="1">
                <a:ea typeface="MS PGothic" panose="020B0600070205080204" pitchFamily="34" charset="-128"/>
              </a:rPr>
              <a:t>t1:	Bread, Chicken, Milk</a:t>
            </a:r>
          </a:p>
          <a:p>
            <a:pPr marL="114300" lvl="1" indent="0" defTabSz="635000">
              <a:spcBef>
                <a:spcPct val="20000"/>
              </a:spcBef>
              <a:buClr>
                <a:schemeClr val="accent1"/>
              </a:buClr>
              <a:buSzPct val="65000"/>
              <a:buFont typeface="Wingdings" panose="05000000000000000000" pitchFamily="2" charset="2"/>
              <a:buNone/>
            </a:pPr>
            <a:r>
              <a:rPr lang="en-US" altLang="ja-JP" sz="1800" b="1">
                <a:ea typeface="MS PGothic" panose="020B0600070205080204" pitchFamily="34" charset="-128"/>
              </a:rPr>
              <a:t>t2:	</a:t>
            </a:r>
            <a:r>
              <a:rPr lang="en-US" altLang="ja-JP" b="1">
                <a:ea typeface="MS PGothic" panose="020B0600070205080204" pitchFamily="34" charset="-128"/>
                <a:sym typeface="+mn-ea"/>
              </a:rPr>
              <a:t>Bread</a:t>
            </a:r>
            <a:r>
              <a:rPr lang="en-US" altLang="ja-JP" sz="1800" b="1">
                <a:ea typeface="MS PGothic" panose="020B0600070205080204" pitchFamily="34" charset="-128"/>
              </a:rPr>
              <a:t>, Cheese</a:t>
            </a:r>
          </a:p>
          <a:p>
            <a:pPr marL="114300" lvl="1" indent="0" defTabSz="635000">
              <a:spcBef>
                <a:spcPct val="20000"/>
              </a:spcBef>
              <a:buClr>
                <a:schemeClr val="accent1"/>
              </a:buClr>
              <a:buSzPct val="65000"/>
              <a:buFont typeface="Wingdings" panose="05000000000000000000" pitchFamily="2" charset="2"/>
              <a:buNone/>
            </a:pPr>
            <a:r>
              <a:rPr lang="en-US" altLang="ja-JP" sz="1800" b="1">
                <a:ea typeface="MS PGothic" panose="020B0600070205080204" pitchFamily="34" charset="-128"/>
              </a:rPr>
              <a:t>t3:	Cheese, Boots</a:t>
            </a:r>
          </a:p>
          <a:p>
            <a:pPr marL="114300" lvl="1" indent="0" defTabSz="635000">
              <a:spcBef>
                <a:spcPct val="20000"/>
              </a:spcBef>
              <a:buClr>
                <a:schemeClr val="accent1"/>
              </a:buClr>
              <a:buSzPct val="65000"/>
              <a:buFont typeface="Wingdings" panose="05000000000000000000" pitchFamily="2" charset="2"/>
              <a:buNone/>
            </a:pPr>
            <a:r>
              <a:rPr lang="en-US" altLang="ja-JP" sz="1800" b="1">
                <a:ea typeface="MS PGothic" panose="020B0600070205080204" pitchFamily="34" charset="-128"/>
              </a:rPr>
              <a:t>t4:	</a:t>
            </a:r>
            <a:r>
              <a:rPr lang="en-US" altLang="ja-JP" b="1">
                <a:ea typeface="MS PGothic" panose="020B0600070205080204" pitchFamily="34" charset="-128"/>
                <a:sym typeface="+mn-ea"/>
              </a:rPr>
              <a:t>Bread</a:t>
            </a:r>
            <a:r>
              <a:rPr lang="en-US" altLang="ja-JP" sz="1800" b="1">
                <a:ea typeface="MS PGothic" panose="020B0600070205080204" pitchFamily="34" charset="-128"/>
              </a:rPr>
              <a:t>, Chicken, Cheese</a:t>
            </a:r>
          </a:p>
          <a:p>
            <a:pPr marL="114300" lvl="1" indent="0" defTabSz="635000">
              <a:spcBef>
                <a:spcPct val="20000"/>
              </a:spcBef>
              <a:buClr>
                <a:schemeClr val="accent1"/>
              </a:buClr>
              <a:buSzPct val="65000"/>
              <a:buFont typeface="Wingdings" panose="05000000000000000000" pitchFamily="2" charset="2"/>
              <a:buNone/>
            </a:pPr>
            <a:r>
              <a:rPr lang="en-US" altLang="ja-JP" sz="1800" b="1">
                <a:ea typeface="MS PGothic" panose="020B0600070205080204" pitchFamily="34" charset="-128"/>
              </a:rPr>
              <a:t>t5:	</a:t>
            </a:r>
            <a:r>
              <a:rPr lang="en-US" altLang="ja-JP" b="1">
                <a:ea typeface="MS PGothic" panose="020B0600070205080204" pitchFamily="34" charset="-128"/>
                <a:sym typeface="+mn-ea"/>
              </a:rPr>
              <a:t>Bread</a:t>
            </a:r>
            <a:r>
              <a:rPr lang="en-US" altLang="ja-JP" sz="1800" b="1">
                <a:ea typeface="MS PGothic" panose="020B0600070205080204" pitchFamily="34" charset="-128"/>
              </a:rPr>
              <a:t>, Chicken, Clothes, Cheese, Milk</a:t>
            </a:r>
          </a:p>
          <a:p>
            <a:pPr marL="114300" lvl="1" indent="0" defTabSz="635000">
              <a:spcBef>
                <a:spcPct val="20000"/>
              </a:spcBef>
              <a:buClr>
                <a:schemeClr val="accent1"/>
              </a:buClr>
              <a:buSzPct val="65000"/>
              <a:buFont typeface="Wingdings" panose="05000000000000000000" pitchFamily="2" charset="2"/>
              <a:buNone/>
            </a:pPr>
            <a:r>
              <a:rPr lang="en-US" altLang="ja-JP" sz="1800" b="1">
                <a:ea typeface="MS PGothic" panose="020B0600070205080204" pitchFamily="34" charset="-128"/>
              </a:rPr>
              <a:t>t6:	Chicken, Clothes, Milk</a:t>
            </a:r>
          </a:p>
          <a:p>
            <a:pPr marL="114300" lvl="1" indent="0" defTabSz="635000">
              <a:spcBef>
                <a:spcPct val="20000"/>
              </a:spcBef>
              <a:buClr>
                <a:schemeClr val="accent1"/>
              </a:buClr>
              <a:buSzPct val="65000"/>
              <a:buFont typeface="Wingdings" panose="05000000000000000000" pitchFamily="2" charset="2"/>
              <a:buNone/>
            </a:pPr>
            <a:r>
              <a:rPr lang="en-US" altLang="ja-JP" sz="1800" b="1">
                <a:ea typeface="MS PGothic" panose="020B0600070205080204" pitchFamily="34" charset="-128"/>
              </a:rPr>
              <a:t>t7:	Chicken, Milk, Clothes</a:t>
            </a:r>
            <a:endParaRPr lang="en-GB" altLang="x-none" sz="1800" b="1">
              <a:solidFill>
                <a:schemeClr val="accent2"/>
              </a:solidFill>
            </a:endParaRPr>
          </a:p>
        </p:txBody>
      </p:sp>
      <p:sp>
        <p:nvSpPr>
          <p:cNvPr id="681989" name="Straight Connector 681988"/>
          <p:cNvSpPr/>
          <p:nvPr/>
        </p:nvSpPr>
        <p:spPr>
          <a:xfrm rot="1920000" flipV="1">
            <a:off x="3773170" y="981710"/>
            <a:ext cx="2968625" cy="1849120"/>
          </a:xfrm>
          <a:prstGeom prst="line">
            <a:avLst/>
          </a:prstGeom>
          <a:ln w="19050" cap="flat" cmpd="sng">
            <a:solidFill>
              <a:schemeClr val="tx2"/>
            </a:solidFill>
            <a:prstDash val="solid"/>
            <a:headEnd type="none" w="sm" len="sm"/>
            <a:tailEnd type="triangle" w="lg" len="lg"/>
          </a:ln>
        </p:spPr>
        <p:txBody>
          <a:bodyPr/>
          <a:lstStyle/>
          <a:p>
            <a:endParaRPr lang="en-US"/>
          </a:p>
        </p:txBody>
      </p:sp>
      <p:sp>
        <p:nvSpPr>
          <p:cNvPr id="681990" name="Rectangle 681989"/>
          <p:cNvSpPr/>
          <p:nvPr/>
        </p:nvSpPr>
        <p:spPr>
          <a:xfrm>
            <a:off x="7107238" y="1611630"/>
            <a:ext cx="4464050" cy="2439988"/>
          </a:xfrm>
          <a:prstGeom prst="rect">
            <a:avLst/>
          </a:prstGeom>
          <a:noFill/>
          <a:ln w="12700" cap="flat" cmpd="sng">
            <a:solidFill>
              <a:schemeClr val="tx2"/>
            </a:solidFill>
            <a:prstDash val="solid"/>
            <a:miter/>
            <a:headEnd type="none" w="sm" len="sm"/>
            <a:tailEnd type="none" w="sm" len="sm"/>
          </a:ln>
        </p:spPr>
        <p:txBody>
          <a:bodyPr/>
          <a:lstStyle/>
          <a:p>
            <a:endParaRPr lang="en-US"/>
          </a:p>
        </p:txBody>
      </p:sp>
      <p:sp>
        <p:nvSpPr>
          <p:cNvPr id="3" name="Slide Number Placeholder 2"/>
          <p:cNvSpPr>
            <a:spLocks noGrp="1"/>
          </p:cNvSpPr>
          <p:nvPr>
            <p:ph type="sldNum" sz="quarter" idx="12"/>
          </p:nvPr>
        </p:nvSpPr>
        <p:spPr/>
        <p:txBody>
          <a:bodyPr/>
          <a:lstStyle/>
          <a:p>
            <a:pPr lvl="0"/>
            <a:fld id="{9A0DB2DC-4C9A-4742-B13C-FB6460FD3503}" type="slidenum">
              <a:rPr lang="en-US" altLang="en-US" dirty="0"/>
              <a:t>16</a:t>
            </a:fld>
            <a:endParaRPr lang="en-US"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9618" name="Title 1519617"/>
          <p:cNvSpPr>
            <a:spLocks noGrp="1"/>
          </p:cNvSpPr>
          <p:nvPr>
            <p:ph type="title"/>
          </p:nvPr>
        </p:nvSpPr>
        <p:spPr>
          <a:xfrm>
            <a:off x="381000" y="228600"/>
            <a:ext cx="8382000" cy="826770"/>
          </a:xfrm>
        </p:spPr>
        <p:txBody>
          <a:bodyPr anchor="b">
            <a:normAutofit/>
          </a:bodyPr>
          <a:lstStyle/>
          <a:p>
            <a:pPr algn="l"/>
            <a:r>
              <a:rPr lang="en-GB" altLang="x-none" sz="4400" b="1"/>
              <a:t>Basic Concept: Association Rules</a:t>
            </a:r>
          </a:p>
        </p:txBody>
      </p:sp>
      <p:sp>
        <p:nvSpPr>
          <p:cNvPr id="1519619" name="Text Placeholder 1519618"/>
          <p:cNvSpPr>
            <a:spLocks noGrp="1"/>
          </p:cNvSpPr>
          <p:nvPr>
            <p:ph type="body" idx="1"/>
          </p:nvPr>
        </p:nvSpPr>
        <p:spPr>
          <a:xfrm>
            <a:off x="6352540" y="1465580"/>
            <a:ext cx="4953000" cy="2703513"/>
          </a:xfrm>
        </p:spPr>
        <p:txBody>
          <a:bodyPr/>
          <a:lstStyle/>
          <a:p>
            <a:pPr>
              <a:spcBef>
                <a:spcPct val="0"/>
              </a:spcBef>
              <a:buSzPct val="100000"/>
              <a:buFont typeface="Wingdings" panose="05000000000000000000" pitchFamily="2" charset="2"/>
              <a:buChar char="§"/>
            </a:pPr>
            <a:r>
              <a:rPr lang="en-US" altLang="zh-TW">
                <a:ea typeface="PMingLiU" pitchFamily="18" charset="-120"/>
              </a:rPr>
              <a:t>Let  </a:t>
            </a:r>
            <a:r>
              <a:rPr lang="en-US" altLang="zh-TW" i="1">
                <a:ea typeface="PMingLiU" pitchFamily="18" charset="-120"/>
              </a:rPr>
              <a:t>min_support</a:t>
            </a:r>
            <a:r>
              <a:rPr lang="en-US" altLang="zh-TW">
                <a:ea typeface="PMingLiU" pitchFamily="18" charset="-120"/>
              </a:rPr>
              <a:t> = 50%,    </a:t>
            </a:r>
            <a:r>
              <a:rPr lang="en-US" altLang="zh-TW" i="1">
                <a:ea typeface="PMingLiU" pitchFamily="18" charset="-120"/>
              </a:rPr>
              <a:t>min_conf</a:t>
            </a:r>
            <a:r>
              <a:rPr lang="en-US" altLang="zh-TW">
                <a:ea typeface="PMingLiU" pitchFamily="18" charset="-120"/>
              </a:rPr>
              <a:t>  = 50%:</a:t>
            </a:r>
            <a:endParaRPr lang="en-US" altLang="zh-TW" sz="3200">
              <a:ea typeface="PMingLiU" pitchFamily="18" charset="-120"/>
            </a:endParaRPr>
          </a:p>
          <a:p>
            <a:pPr lvl="1">
              <a:spcBef>
                <a:spcPct val="0"/>
              </a:spcBef>
              <a:buSzPct val="100000"/>
              <a:buFont typeface="Wingdings" panose="05000000000000000000" pitchFamily="2" charset="2"/>
              <a:buChar char="§"/>
            </a:pPr>
            <a:r>
              <a:rPr lang="en-US" altLang="zh-TW" sz="2400" i="1">
                <a:ea typeface="PMingLiU" pitchFamily="18" charset="-120"/>
              </a:rPr>
              <a:t>A </a:t>
            </a:r>
            <a:r>
              <a:rPr lang="en-US" altLang="zh-TW" sz="2400">
                <a:ea typeface="PMingLiU" pitchFamily="18" charset="-120"/>
                <a:sym typeface="Wingdings" panose="05000000000000000000" pitchFamily="2" charset="2"/>
              </a:rPr>
              <a:t></a:t>
            </a:r>
            <a:r>
              <a:rPr lang="en-US" altLang="zh-TW" sz="2400" i="1">
                <a:ea typeface="PMingLiU" pitchFamily="18" charset="-120"/>
                <a:sym typeface="Symbol" panose="05050102010706020507" pitchFamily="18" charset="2"/>
              </a:rPr>
              <a:t> C  </a:t>
            </a:r>
            <a:r>
              <a:rPr lang="en-US" altLang="zh-TW" sz="2400">
                <a:ea typeface="PMingLiU" pitchFamily="18" charset="-120"/>
                <a:sym typeface="Symbol" panose="05050102010706020507" pitchFamily="18" charset="2"/>
              </a:rPr>
              <a:t>(50%, 66.7%)</a:t>
            </a:r>
          </a:p>
          <a:p>
            <a:pPr lvl="1">
              <a:spcBef>
                <a:spcPct val="0"/>
              </a:spcBef>
              <a:buSzPct val="100000"/>
              <a:buFont typeface="Wingdings" panose="05000000000000000000" pitchFamily="2" charset="2"/>
              <a:buChar char="§"/>
            </a:pPr>
            <a:r>
              <a:rPr lang="en-US" altLang="zh-TW" sz="2400" i="1">
                <a:ea typeface="PMingLiU" pitchFamily="18" charset="-120"/>
              </a:rPr>
              <a:t>C </a:t>
            </a:r>
            <a:r>
              <a:rPr lang="en-US" altLang="zh-TW" sz="2400">
                <a:ea typeface="PMingLiU" pitchFamily="18" charset="-120"/>
                <a:sym typeface="Wingdings" panose="05000000000000000000" pitchFamily="2" charset="2"/>
              </a:rPr>
              <a:t></a:t>
            </a:r>
            <a:r>
              <a:rPr lang="en-US" altLang="zh-TW" sz="2400" i="1">
                <a:ea typeface="PMingLiU" pitchFamily="18" charset="-120"/>
                <a:sym typeface="Symbol" panose="05050102010706020507" pitchFamily="18" charset="2"/>
              </a:rPr>
              <a:t> A  </a:t>
            </a:r>
            <a:r>
              <a:rPr lang="en-US" altLang="zh-TW" sz="2400">
                <a:ea typeface="PMingLiU" pitchFamily="18" charset="-120"/>
                <a:sym typeface="Symbol" panose="05050102010706020507" pitchFamily="18" charset="2"/>
              </a:rPr>
              <a:t>(50%, 100%)</a:t>
            </a:r>
          </a:p>
        </p:txBody>
      </p:sp>
      <p:grpSp>
        <p:nvGrpSpPr>
          <p:cNvPr id="1519620" name="Group 1519619"/>
          <p:cNvGrpSpPr/>
          <p:nvPr/>
        </p:nvGrpSpPr>
        <p:grpSpPr>
          <a:xfrm>
            <a:off x="643255" y="3573463"/>
            <a:ext cx="3886200" cy="2630487"/>
            <a:chOff x="192" y="2400"/>
            <a:chExt cx="2448" cy="1657"/>
          </a:xfrm>
        </p:grpSpPr>
        <p:sp>
          <p:nvSpPr>
            <p:cNvPr id="1519621" name="Oval 1519620"/>
            <p:cNvSpPr/>
            <p:nvPr/>
          </p:nvSpPr>
          <p:spPr>
            <a:xfrm>
              <a:off x="384" y="2736"/>
              <a:ext cx="1200" cy="864"/>
            </a:xfrm>
            <a:prstGeom prst="ellipse">
              <a:avLst/>
            </a:prstGeom>
            <a:solidFill>
              <a:srgbClr val="FFFF00"/>
            </a:solidFill>
            <a:ln w="25400" cap="flat" cmpd="sng">
              <a:solidFill>
                <a:schemeClr val="tx2"/>
              </a:solidFill>
              <a:prstDash val="solid"/>
              <a:headEnd type="none" w="med" len="med"/>
              <a:tailEnd type="none" w="med" len="med"/>
            </a:ln>
          </p:spPr>
          <p:txBody>
            <a:bodyPr/>
            <a:lstStyle/>
            <a:p>
              <a:endParaRPr lang="en-US"/>
            </a:p>
          </p:txBody>
        </p:sp>
        <p:sp>
          <p:nvSpPr>
            <p:cNvPr id="1519622" name="Oval 1519621"/>
            <p:cNvSpPr/>
            <p:nvPr/>
          </p:nvSpPr>
          <p:spPr>
            <a:xfrm>
              <a:off x="1008" y="2736"/>
              <a:ext cx="1200" cy="960"/>
            </a:xfrm>
            <a:prstGeom prst="ellipse">
              <a:avLst/>
            </a:prstGeom>
            <a:solidFill>
              <a:srgbClr val="99CCFF">
                <a:alpha val="50000"/>
              </a:srgbClr>
            </a:solidFill>
            <a:ln w="25400" cap="flat" cmpd="sng">
              <a:solidFill>
                <a:schemeClr val="hlink"/>
              </a:solidFill>
              <a:prstDash val="solid"/>
              <a:headEnd type="none" w="med" len="med"/>
              <a:tailEnd type="none" w="med" len="med"/>
            </a:ln>
          </p:spPr>
          <p:txBody>
            <a:bodyPr/>
            <a:lstStyle/>
            <a:p>
              <a:endParaRPr lang="en-US"/>
            </a:p>
          </p:txBody>
        </p:sp>
        <p:sp>
          <p:nvSpPr>
            <p:cNvPr id="1519623" name="Straight Connector 1519622"/>
            <p:cNvSpPr/>
            <p:nvPr/>
          </p:nvSpPr>
          <p:spPr>
            <a:xfrm flipH="1">
              <a:off x="576" y="3168"/>
              <a:ext cx="144" cy="480"/>
            </a:xfrm>
            <a:prstGeom prst="line">
              <a:avLst/>
            </a:prstGeom>
            <a:ln w="9525" cap="flat" cmpd="sng">
              <a:solidFill>
                <a:schemeClr val="tx2"/>
              </a:solidFill>
              <a:prstDash val="solid"/>
              <a:headEnd type="none" w="med" len="med"/>
              <a:tailEnd type="none" w="med" len="med"/>
            </a:ln>
          </p:spPr>
          <p:txBody>
            <a:bodyPr/>
            <a:lstStyle/>
            <a:p>
              <a:endParaRPr lang="en-US"/>
            </a:p>
          </p:txBody>
        </p:sp>
        <p:sp>
          <p:nvSpPr>
            <p:cNvPr id="1519624" name="Straight Connector 1519623"/>
            <p:cNvSpPr/>
            <p:nvPr/>
          </p:nvSpPr>
          <p:spPr>
            <a:xfrm flipV="1">
              <a:off x="2016" y="2832"/>
              <a:ext cx="144" cy="432"/>
            </a:xfrm>
            <a:prstGeom prst="line">
              <a:avLst/>
            </a:prstGeom>
            <a:ln w="9525" cap="flat" cmpd="sng">
              <a:solidFill>
                <a:schemeClr val="hlink"/>
              </a:solidFill>
              <a:prstDash val="solid"/>
              <a:headEnd type="none" w="med" len="med"/>
              <a:tailEnd type="none" w="med" len="med"/>
            </a:ln>
          </p:spPr>
          <p:txBody>
            <a:bodyPr/>
            <a:lstStyle/>
            <a:p>
              <a:endParaRPr lang="en-US"/>
            </a:p>
          </p:txBody>
        </p:sp>
        <p:sp>
          <p:nvSpPr>
            <p:cNvPr id="1519625" name="Straight Connector 1519624"/>
            <p:cNvSpPr/>
            <p:nvPr/>
          </p:nvSpPr>
          <p:spPr>
            <a:xfrm flipH="1" flipV="1">
              <a:off x="1440" y="2592"/>
              <a:ext cx="0" cy="576"/>
            </a:xfrm>
            <a:prstGeom prst="line">
              <a:avLst/>
            </a:prstGeom>
            <a:ln w="9525" cap="flat" cmpd="sng">
              <a:solidFill>
                <a:srgbClr val="008000"/>
              </a:solidFill>
              <a:prstDash val="solid"/>
              <a:headEnd type="none" w="med" len="med"/>
              <a:tailEnd type="none" w="med" len="med"/>
            </a:ln>
          </p:spPr>
          <p:txBody>
            <a:bodyPr/>
            <a:lstStyle/>
            <a:p>
              <a:endParaRPr lang="en-US"/>
            </a:p>
          </p:txBody>
        </p:sp>
        <p:sp>
          <p:nvSpPr>
            <p:cNvPr id="1519626" name="Text Box 1519625"/>
            <p:cNvSpPr txBox="1"/>
            <p:nvPr/>
          </p:nvSpPr>
          <p:spPr>
            <a:xfrm>
              <a:off x="1824" y="2448"/>
              <a:ext cx="768" cy="396"/>
            </a:xfrm>
            <a:prstGeom prst="rect">
              <a:avLst/>
            </a:prstGeom>
            <a:noFill/>
            <a:ln w="9525">
              <a:noFill/>
            </a:ln>
          </p:spPr>
          <p:txBody>
            <a:bodyPr>
              <a:spAutoFit/>
            </a:bodyPr>
            <a:lstStyle/>
            <a:p>
              <a:pPr eaLnBrk="0" hangingPunct="0">
                <a:lnSpc>
                  <a:spcPct val="110000"/>
                </a:lnSpc>
              </a:pPr>
              <a:r>
                <a:rPr lang="en-US" altLang="zh-TW" sz="1600" b="1">
                  <a:solidFill>
                    <a:schemeClr val="hlink"/>
                  </a:solidFill>
                  <a:latin typeface="Times New Roman" panose="02020603050405020304" pitchFamily="18" charset="0"/>
                  <a:ea typeface="PMingLiU" pitchFamily="18" charset="-120"/>
                </a:rPr>
                <a:t>Customer</a:t>
              </a:r>
            </a:p>
            <a:p>
              <a:pPr eaLnBrk="0" hangingPunct="0">
                <a:lnSpc>
                  <a:spcPct val="110000"/>
                </a:lnSpc>
              </a:pPr>
              <a:r>
                <a:rPr lang="en-US" altLang="zh-TW" sz="1600" b="1">
                  <a:solidFill>
                    <a:schemeClr val="hlink"/>
                  </a:solidFill>
                  <a:latin typeface="Times New Roman" panose="02020603050405020304" pitchFamily="18" charset="0"/>
                  <a:ea typeface="PMingLiU" pitchFamily="18" charset="-120"/>
                </a:rPr>
                <a:t>buys diaper</a:t>
              </a:r>
              <a:endParaRPr lang="en-US" altLang="zh-TW" sz="1800" b="1" u="sng">
                <a:latin typeface="Times New Roman" panose="02020603050405020304" pitchFamily="18" charset="0"/>
                <a:ea typeface="PMingLiU" pitchFamily="18" charset="-120"/>
              </a:endParaRPr>
            </a:p>
          </p:txBody>
        </p:sp>
        <p:sp>
          <p:nvSpPr>
            <p:cNvPr id="1519627" name="Text Box 1519626"/>
            <p:cNvSpPr txBox="1"/>
            <p:nvPr/>
          </p:nvSpPr>
          <p:spPr>
            <a:xfrm>
              <a:off x="960" y="2400"/>
              <a:ext cx="657" cy="396"/>
            </a:xfrm>
            <a:prstGeom prst="rect">
              <a:avLst/>
            </a:prstGeom>
            <a:noFill/>
            <a:ln w="9525">
              <a:noFill/>
            </a:ln>
          </p:spPr>
          <p:txBody>
            <a:bodyPr>
              <a:spAutoFit/>
            </a:bodyPr>
            <a:lstStyle/>
            <a:p>
              <a:pPr eaLnBrk="0" hangingPunct="0">
                <a:lnSpc>
                  <a:spcPct val="110000"/>
                </a:lnSpc>
              </a:pPr>
              <a:r>
                <a:rPr lang="en-US" altLang="zh-TW" sz="1600" b="1">
                  <a:solidFill>
                    <a:srgbClr val="5FA180"/>
                  </a:solidFill>
                  <a:latin typeface="Times New Roman" panose="02020603050405020304" pitchFamily="18" charset="0"/>
                  <a:ea typeface="PMingLiU" pitchFamily="18" charset="-120"/>
                </a:rPr>
                <a:t>Customer</a:t>
              </a:r>
            </a:p>
            <a:p>
              <a:pPr eaLnBrk="0" hangingPunct="0">
                <a:lnSpc>
                  <a:spcPct val="110000"/>
                </a:lnSpc>
              </a:pPr>
              <a:r>
                <a:rPr lang="en-US" altLang="zh-TW" sz="1600" b="1">
                  <a:solidFill>
                    <a:srgbClr val="5FA180"/>
                  </a:solidFill>
                  <a:latin typeface="Times New Roman" panose="02020603050405020304" pitchFamily="18" charset="0"/>
                  <a:ea typeface="PMingLiU" pitchFamily="18" charset="-120"/>
                </a:rPr>
                <a:t>buys both</a:t>
              </a:r>
              <a:endParaRPr lang="en-US" altLang="zh-TW" sz="1800" b="1" u="sng">
                <a:solidFill>
                  <a:srgbClr val="5FA180"/>
                </a:solidFill>
                <a:latin typeface="Times New Roman" panose="02020603050405020304" pitchFamily="18" charset="0"/>
                <a:ea typeface="PMingLiU" pitchFamily="18" charset="-120"/>
              </a:endParaRPr>
            </a:p>
          </p:txBody>
        </p:sp>
        <p:sp>
          <p:nvSpPr>
            <p:cNvPr id="1519628" name="Text Box 1519627"/>
            <p:cNvSpPr txBox="1"/>
            <p:nvPr/>
          </p:nvSpPr>
          <p:spPr>
            <a:xfrm>
              <a:off x="384" y="3600"/>
              <a:ext cx="657" cy="396"/>
            </a:xfrm>
            <a:prstGeom prst="rect">
              <a:avLst/>
            </a:prstGeom>
            <a:noFill/>
            <a:ln w="9525">
              <a:noFill/>
            </a:ln>
          </p:spPr>
          <p:txBody>
            <a:bodyPr wrap="none" anchor="t">
              <a:spAutoFit/>
            </a:bodyPr>
            <a:lstStyle/>
            <a:p>
              <a:pPr eaLnBrk="0" hangingPunct="0">
                <a:lnSpc>
                  <a:spcPct val="110000"/>
                </a:lnSpc>
              </a:pPr>
              <a:r>
                <a:rPr lang="en-US" altLang="zh-TW" sz="1600" b="1">
                  <a:solidFill>
                    <a:schemeClr val="tx2"/>
                  </a:solidFill>
                  <a:latin typeface="Times New Roman" panose="02020603050405020304" pitchFamily="18" charset="0"/>
                  <a:ea typeface="PMingLiU" pitchFamily="18" charset="-120"/>
                </a:rPr>
                <a:t>Customer</a:t>
              </a:r>
            </a:p>
            <a:p>
              <a:pPr eaLnBrk="0" hangingPunct="0">
                <a:lnSpc>
                  <a:spcPct val="110000"/>
                </a:lnSpc>
              </a:pPr>
              <a:r>
                <a:rPr lang="en-US" altLang="zh-TW" sz="1600" b="1">
                  <a:solidFill>
                    <a:schemeClr val="tx2"/>
                  </a:solidFill>
                  <a:latin typeface="Times New Roman" panose="02020603050405020304" pitchFamily="18" charset="0"/>
                  <a:ea typeface="PMingLiU" pitchFamily="18" charset="-120"/>
                </a:rPr>
                <a:t>buys beer</a:t>
              </a:r>
              <a:endParaRPr lang="en-US" altLang="zh-TW" sz="1800" b="1" u="sng">
                <a:latin typeface="Times New Roman" panose="02020603050405020304" pitchFamily="18" charset="0"/>
                <a:ea typeface="PMingLiU" pitchFamily="18" charset="-120"/>
              </a:endParaRPr>
            </a:p>
          </p:txBody>
        </p:sp>
        <p:sp>
          <p:nvSpPr>
            <p:cNvPr id="1519629" name="Rectangle 1519628"/>
            <p:cNvSpPr/>
            <p:nvPr/>
          </p:nvSpPr>
          <p:spPr>
            <a:xfrm>
              <a:off x="192" y="2400"/>
              <a:ext cx="2448" cy="1657"/>
            </a:xfrm>
            <a:prstGeom prst="rect">
              <a:avLst/>
            </a:prstGeom>
            <a:noFill/>
            <a:ln w="9525" cap="flat" cmpd="sng">
              <a:solidFill>
                <a:schemeClr val="tx1"/>
              </a:solidFill>
              <a:prstDash val="solid"/>
              <a:miter/>
              <a:headEnd type="none" w="med" len="med"/>
              <a:tailEnd type="none" w="med" len="med"/>
            </a:ln>
          </p:spPr>
          <p:txBody>
            <a:bodyPr/>
            <a:lstStyle/>
            <a:p>
              <a:endParaRPr lang="en-US"/>
            </a:p>
          </p:txBody>
        </p:sp>
      </p:grpSp>
      <p:graphicFrame>
        <p:nvGraphicFramePr>
          <p:cNvPr id="1519630" name="Table 1519629"/>
          <p:cNvGraphicFramePr/>
          <p:nvPr/>
        </p:nvGraphicFramePr>
        <p:xfrm>
          <a:off x="643255" y="1555750"/>
          <a:ext cx="3886200" cy="1825625"/>
        </p:xfrm>
        <a:graphic>
          <a:graphicData uri="http://schemas.openxmlformats.org/drawingml/2006/table">
            <a:tbl>
              <a:tblPr/>
              <a:tblGrid>
                <a:gridCol w="1943100">
                  <a:extLst>
                    <a:ext uri="{9D8B030D-6E8A-4147-A177-3AD203B41FA5}">
                      <a16:colId xmlns:a16="http://schemas.microsoft.com/office/drawing/2014/main" val="20000"/>
                    </a:ext>
                  </a:extLst>
                </a:gridCol>
                <a:gridCol w="1943100">
                  <a:extLst>
                    <a:ext uri="{9D8B030D-6E8A-4147-A177-3AD203B41FA5}">
                      <a16:colId xmlns:a16="http://schemas.microsoft.com/office/drawing/2014/main" val="20001"/>
                    </a:ext>
                  </a:extLst>
                </a:gridCol>
              </a:tblGrid>
              <a:tr h="365125">
                <a:tc>
                  <a:txBody>
                    <a:bodyPr/>
                    <a:lstStyle/>
                    <a:p>
                      <a:pPr marL="0" lvl="0" indent="0" algn="ctr">
                        <a:buNone/>
                      </a:pPr>
                      <a:r>
                        <a:rPr lang="en-US" altLang="zh-TW" sz="1600" b="1">
                          <a:solidFill>
                            <a:schemeClr val="hlink"/>
                          </a:solidFill>
                          <a:ea typeface="PMingLiU" pitchFamily="18" charset="-120"/>
                        </a:rPr>
                        <a:t>Transaction-id</a:t>
                      </a:r>
                    </a:p>
                  </a:txBody>
                  <a:tcP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solidFill>
                      <a:schemeClr val="bg1"/>
                    </a:solidFill>
                  </a:tcPr>
                </a:tc>
                <a:tc>
                  <a:txBody>
                    <a:bodyPr/>
                    <a:lstStyle/>
                    <a:p>
                      <a:pPr marL="0" lvl="0" indent="0" algn="ctr">
                        <a:buNone/>
                      </a:pPr>
                      <a:r>
                        <a:rPr lang="en-US" altLang="zh-TW" sz="1600" b="1">
                          <a:solidFill>
                            <a:schemeClr val="hlink"/>
                          </a:solidFill>
                          <a:ea typeface="PMingLiU" pitchFamily="18" charset="-120"/>
                        </a:rPr>
                        <a:t>Items bought</a:t>
                      </a:r>
                    </a:p>
                  </a:txBody>
                  <a:tcP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65125">
                <a:tc>
                  <a:txBody>
                    <a:bodyPr/>
                    <a:lstStyle/>
                    <a:p>
                      <a:pPr marL="0" lvl="0" indent="0" algn="ctr">
                        <a:buNone/>
                      </a:pPr>
                      <a:r>
                        <a:rPr lang="zh-TW" altLang="en-US" sz="1600" dirty="0">
                          <a:ea typeface="PMingLiU" pitchFamily="18" charset="-120"/>
                        </a:rPr>
                        <a:t>10</a:t>
                      </a:r>
                    </a:p>
                  </a:txBody>
                  <a:tcP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p>
                      <a:pPr marL="0" lvl="0" indent="0" algn="ctr">
                        <a:buNone/>
                      </a:pPr>
                      <a:r>
                        <a:rPr lang="en-US" altLang="zh-TW" sz="1600">
                          <a:ea typeface="PMingLiU" pitchFamily="18" charset="-120"/>
                        </a:rPr>
                        <a:t>A, B, C</a:t>
                      </a:r>
                    </a:p>
                  </a:txBody>
                  <a:tcP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5125">
                <a:tc>
                  <a:txBody>
                    <a:bodyPr/>
                    <a:lstStyle/>
                    <a:p>
                      <a:pPr marL="0" lvl="0" indent="0" algn="ctr">
                        <a:buNone/>
                      </a:pPr>
                      <a:r>
                        <a:rPr lang="zh-TW" altLang="en-US" sz="1600" dirty="0">
                          <a:ea typeface="PMingLiU" pitchFamily="18" charset="-120"/>
                        </a:rPr>
                        <a:t>20</a:t>
                      </a:r>
                    </a:p>
                  </a:txBody>
                  <a:tcP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p>
                      <a:pPr marL="0" lvl="0" indent="0" algn="ctr">
                        <a:buNone/>
                      </a:pPr>
                      <a:r>
                        <a:rPr lang="en-US" altLang="zh-TW" sz="1600">
                          <a:ea typeface="PMingLiU" pitchFamily="18" charset="-120"/>
                        </a:rPr>
                        <a:t>A, C</a:t>
                      </a:r>
                    </a:p>
                  </a:txBody>
                  <a:tcP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5125">
                <a:tc>
                  <a:txBody>
                    <a:bodyPr/>
                    <a:lstStyle/>
                    <a:p>
                      <a:pPr marL="0" lvl="0" indent="0" algn="ctr">
                        <a:buNone/>
                      </a:pPr>
                      <a:r>
                        <a:rPr lang="zh-TW" altLang="en-US" sz="1600" dirty="0">
                          <a:ea typeface="PMingLiU" pitchFamily="18" charset="-120"/>
                        </a:rPr>
                        <a:t>30</a:t>
                      </a:r>
                    </a:p>
                  </a:txBody>
                  <a:tcP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p>
                      <a:pPr marL="0" lvl="0" indent="0" algn="ctr">
                        <a:buNone/>
                      </a:pPr>
                      <a:r>
                        <a:rPr lang="en-US" altLang="zh-TW" sz="1600">
                          <a:ea typeface="PMingLiU" pitchFamily="18" charset="-120"/>
                        </a:rPr>
                        <a:t>A, D</a:t>
                      </a:r>
                    </a:p>
                  </a:txBody>
                  <a:tcP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5125">
                <a:tc>
                  <a:txBody>
                    <a:bodyPr/>
                    <a:lstStyle/>
                    <a:p>
                      <a:pPr marL="0" lvl="0" indent="0" algn="ctr">
                        <a:buNone/>
                      </a:pPr>
                      <a:r>
                        <a:rPr lang="zh-TW" altLang="en-US" sz="1600" dirty="0">
                          <a:ea typeface="PMingLiU" pitchFamily="18" charset="-120"/>
                        </a:rPr>
                        <a:t>40</a:t>
                      </a:r>
                    </a:p>
                  </a:txBody>
                  <a:tcP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p>
                      <a:pPr marL="0" lvl="0" indent="0" algn="ctr">
                        <a:buNone/>
                      </a:pPr>
                      <a:r>
                        <a:rPr lang="en-US" altLang="zh-TW" sz="1600">
                          <a:ea typeface="PMingLiU" pitchFamily="18" charset="-120"/>
                        </a:rPr>
                        <a:t>B, E, F</a:t>
                      </a:r>
                    </a:p>
                  </a:txBody>
                  <a:tcP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cxnSp>
        <p:nvCxnSpPr>
          <p:cNvPr id="1362949" name="Elbow Connector 1362948"/>
          <p:cNvCxnSpPr/>
          <p:nvPr/>
        </p:nvCxnSpPr>
        <p:spPr>
          <a:xfrm>
            <a:off x="4529455" y="2545715"/>
            <a:ext cx="1691005" cy="1035685"/>
          </a:xfrm>
          <a:prstGeom prst="bentConnector3">
            <a:avLst>
              <a:gd name="adj1" fmla="val 50019"/>
            </a:avLst>
          </a:prstGeom>
          <a:ln w="9525" cap="flat" cmpd="sng">
            <a:solidFill>
              <a:schemeClr val="tx2"/>
            </a:solidFill>
            <a:prstDash val="solid"/>
            <a:miter/>
            <a:headEnd type="none" w="med" len="med"/>
            <a:tailEnd type="triangle" w="med" len="med"/>
          </a:ln>
        </p:spPr>
      </p:cxnSp>
      <p:graphicFrame>
        <p:nvGraphicFramePr>
          <p:cNvPr id="1362970" name="Table 1362969"/>
          <p:cNvGraphicFramePr/>
          <p:nvPr/>
        </p:nvGraphicFramePr>
        <p:xfrm>
          <a:off x="6220460" y="3381375"/>
          <a:ext cx="3886200" cy="1825625"/>
        </p:xfrm>
        <a:graphic>
          <a:graphicData uri="http://schemas.openxmlformats.org/drawingml/2006/table">
            <a:tbl>
              <a:tblPr/>
              <a:tblGrid>
                <a:gridCol w="23622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tblGrid>
              <a:tr h="365125">
                <a:tc>
                  <a:txBody>
                    <a:bodyPr/>
                    <a:lstStyle/>
                    <a:p>
                      <a:pPr marL="0" lvl="0" indent="0" algn="ctr">
                        <a:buNone/>
                      </a:pPr>
                      <a:r>
                        <a:rPr lang="en-US" altLang="zh-TW" sz="1600" b="1">
                          <a:solidFill>
                            <a:schemeClr val="hlink"/>
                          </a:solidFill>
                          <a:ea typeface="PMingLiU" pitchFamily="18" charset="-120"/>
                        </a:rPr>
                        <a:t>Frequent pattern</a:t>
                      </a:r>
                    </a:p>
                  </a:txBody>
                  <a:tcP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solidFill>
                      <a:schemeClr val="accent2"/>
                    </a:solidFill>
                  </a:tcPr>
                </a:tc>
                <a:tc>
                  <a:txBody>
                    <a:bodyPr/>
                    <a:lstStyle/>
                    <a:p>
                      <a:pPr marL="0" lvl="0" indent="0" algn="ctr">
                        <a:buNone/>
                      </a:pPr>
                      <a:r>
                        <a:rPr lang="en-US" altLang="zh-TW" sz="1600" b="1">
                          <a:solidFill>
                            <a:schemeClr val="hlink"/>
                          </a:solidFill>
                          <a:ea typeface="PMingLiU" pitchFamily="18" charset="-120"/>
                        </a:rPr>
                        <a:t>Support</a:t>
                      </a:r>
                    </a:p>
                  </a:txBody>
                  <a:tcP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365125">
                <a:tc>
                  <a:txBody>
                    <a:bodyPr/>
                    <a:lstStyle/>
                    <a:p>
                      <a:pPr marL="0" lvl="0" indent="0" algn="ctr">
                        <a:buNone/>
                      </a:pPr>
                      <a:r>
                        <a:rPr lang="zh-TW" altLang="en-US" sz="1600">
                          <a:ea typeface="PMingLiU" pitchFamily="18" charset="-120"/>
                        </a:rPr>
                        <a:t>{</a:t>
                      </a:r>
                      <a:r>
                        <a:rPr lang="en-US" altLang="zh-TW" sz="1600">
                          <a:ea typeface="PMingLiU" pitchFamily="18" charset="-120"/>
                        </a:rPr>
                        <a:t>A}</a:t>
                      </a:r>
                    </a:p>
                  </a:txBody>
                  <a:tcP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p>
                      <a:pPr marL="0" lvl="0" indent="0" algn="ctr">
                        <a:buNone/>
                      </a:pPr>
                      <a:r>
                        <a:rPr lang="zh-TW" altLang="en-US" sz="1600" dirty="0">
                          <a:ea typeface="PMingLiU" pitchFamily="18" charset="-120"/>
                        </a:rPr>
                        <a:t>75%</a:t>
                      </a:r>
                    </a:p>
                  </a:txBody>
                  <a:tcP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5125">
                <a:tc>
                  <a:txBody>
                    <a:bodyPr/>
                    <a:lstStyle/>
                    <a:p>
                      <a:pPr marL="0" lvl="0" indent="0" algn="ctr">
                        <a:buNone/>
                      </a:pPr>
                      <a:r>
                        <a:rPr lang="zh-TW" altLang="en-US" sz="1600">
                          <a:ea typeface="PMingLiU" pitchFamily="18" charset="-120"/>
                        </a:rPr>
                        <a:t>{</a:t>
                      </a:r>
                      <a:r>
                        <a:rPr lang="en-US" altLang="zh-TW" sz="1600">
                          <a:ea typeface="PMingLiU" pitchFamily="18" charset="-120"/>
                        </a:rPr>
                        <a:t>B}</a:t>
                      </a:r>
                    </a:p>
                  </a:txBody>
                  <a:tcP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p>
                      <a:pPr marL="0" lvl="0" indent="0" algn="ctr">
                        <a:buNone/>
                      </a:pPr>
                      <a:r>
                        <a:rPr lang="zh-TW" altLang="en-US" sz="1600" dirty="0">
                          <a:ea typeface="PMingLiU" pitchFamily="18" charset="-120"/>
                        </a:rPr>
                        <a:t>50%</a:t>
                      </a:r>
                    </a:p>
                  </a:txBody>
                  <a:tcP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5125">
                <a:tc>
                  <a:txBody>
                    <a:bodyPr/>
                    <a:lstStyle/>
                    <a:p>
                      <a:pPr marL="0" lvl="0" indent="0" algn="ctr">
                        <a:buNone/>
                      </a:pPr>
                      <a:r>
                        <a:rPr lang="zh-TW" altLang="en-US" sz="1600">
                          <a:ea typeface="PMingLiU" pitchFamily="18" charset="-120"/>
                        </a:rPr>
                        <a:t>{</a:t>
                      </a:r>
                      <a:r>
                        <a:rPr lang="en-US" altLang="zh-TW" sz="1600">
                          <a:ea typeface="PMingLiU" pitchFamily="18" charset="-120"/>
                        </a:rPr>
                        <a:t>C}</a:t>
                      </a:r>
                    </a:p>
                  </a:txBody>
                  <a:tcP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p>
                      <a:pPr marL="0" lvl="0" indent="0" algn="ctr">
                        <a:buNone/>
                      </a:pPr>
                      <a:r>
                        <a:rPr lang="zh-TW" altLang="en-US" sz="1600" dirty="0">
                          <a:ea typeface="PMingLiU" pitchFamily="18" charset="-120"/>
                        </a:rPr>
                        <a:t>50%</a:t>
                      </a:r>
                    </a:p>
                  </a:txBody>
                  <a:tcP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5125">
                <a:tc>
                  <a:txBody>
                    <a:bodyPr/>
                    <a:lstStyle/>
                    <a:p>
                      <a:pPr marL="0" lvl="0" indent="0" algn="ctr">
                        <a:buNone/>
                      </a:pPr>
                      <a:r>
                        <a:rPr lang="zh-TW" altLang="en-US" sz="1600">
                          <a:ea typeface="PMingLiU" pitchFamily="18" charset="-120"/>
                        </a:rPr>
                        <a:t>{</a:t>
                      </a:r>
                      <a:r>
                        <a:rPr lang="en-US" altLang="zh-TW" sz="1600">
                          <a:ea typeface="PMingLiU" pitchFamily="18" charset="-120"/>
                        </a:rPr>
                        <a:t>A, C}</a:t>
                      </a:r>
                    </a:p>
                  </a:txBody>
                  <a:tcP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p>
                      <a:pPr marL="0" lvl="0" indent="0" algn="ctr">
                        <a:buNone/>
                      </a:pPr>
                      <a:r>
                        <a:rPr lang="zh-TW" altLang="en-US" sz="1600" dirty="0">
                          <a:ea typeface="PMingLiU" pitchFamily="18" charset="-120"/>
                        </a:rPr>
                        <a:t>50%</a:t>
                      </a:r>
                    </a:p>
                  </a:txBody>
                  <a:tcP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6994" name="Title 1236993"/>
          <p:cNvSpPr>
            <a:spLocks noGrp="1"/>
          </p:cNvSpPr>
          <p:nvPr>
            <p:ph type="title"/>
          </p:nvPr>
        </p:nvSpPr>
        <p:spPr>
          <a:xfrm>
            <a:off x="329565" y="321945"/>
            <a:ext cx="10515600" cy="871220"/>
          </a:xfrm>
        </p:spPr>
        <p:txBody>
          <a:bodyPr lIns="90488" tIns="44450" rIns="90488" bIns="44450" anchor="b">
            <a:normAutofit/>
          </a:bodyPr>
          <a:lstStyle/>
          <a:p>
            <a:r>
              <a:rPr b="1"/>
              <a:t>Association Rule Mining Task</a:t>
            </a:r>
          </a:p>
        </p:txBody>
      </p:sp>
      <p:sp>
        <p:nvSpPr>
          <p:cNvPr id="1236995" name="Text Placeholder 1236994"/>
          <p:cNvSpPr>
            <a:spLocks noGrp="1"/>
          </p:cNvSpPr>
          <p:nvPr>
            <p:ph type="body" idx="1"/>
          </p:nvPr>
        </p:nvSpPr>
        <p:spPr>
          <a:xfrm>
            <a:off x="329565" y="1457960"/>
            <a:ext cx="11445240" cy="4826635"/>
          </a:xfrm>
        </p:spPr>
        <p:txBody>
          <a:bodyPr lIns="90488" tIns="44450" rIns="90488" bIns="44450"/>
          <a:lstStyle/>
          <a:p>
            <a:r>
              <a:rPr sz="2800"/>
              <a:t>Given a set of transactions T, the goal of association rule mining is to find all rules having </a:t>
            </a:r>
          </a:p>
          <a:p>
            <a:pPr lvl="1"/>
            <a:r>
              <a:rPr sz="2800" b="1"/>
              <a:t>support </a:t>
            </a:r>
            <a:r>
              <a:rPr sz="2800" b="1">
                <a:cs typeface="Arial" panose="020B0604020202020204" pitchFamily="34" charset="0"/>
              </a:rPr>
              <a:t>≥ </a:t>
            </a:r>
            <a:r>
              <a:rPr sz="2800" b="1" i="1" dirty="0" err="1">
                <a:cs typeface="Arial" panose="020B0604020202020204" pitchFamily="34" charset="0"/>
              </a:rPr>
              <a:t>minsup</a:t>
            </a:r>
            <a:r>
              <a:rPr sz="2800" b="1" i="1">
                <a:cs typeface="Arial" panose="020B0604020202020204" pitchFamily="34" charset="0"/>
              </a:rPr>
              <a:t> </a:t>
            </a:r>
            <a:r>
              <a:rPr sz="2800" b="1">
                <a:cs typeface="Arial" panose="020B0604020202020204" pitchFamily="34" charset="0"/>
              </a:rPr>
              <a:t>threshold</a:t>
            </a:r>
          </a:p>
          <a:p>
            <a:pPr lvl="1"/>
            <a:r>
              <a:rPr sz="2800" b="1">
                <a:cs typeface="Arial" panose="020B0604020202020204" pitchFamily="34" charset="0"/>
              </a:rPr>
              <a:t>confidence ≥ </a:t>
            </a:r>
            <a:r>
              <a:rPr sz="2800" b="1" i="1" dirty="0" err="1">
                <a:cs typeface="Arial" panose="020B0604020202020204" pitchFamily="34" charset="0"/>
              </a:rPr>
              <a:t>minconf</a:t>
            </a:r>
            <a:r>
              <a:rPr sz="2800" b="1" i="1">
                <a:cs typeface="Arial" panose="020B0604020202020204" pitchFamily="34" charset="0"/>
              </a:rPr>
              <a:t> </a:t>
            </a:r>
            <a:r>
              <a:rPr sz="2800" b="1">
                <a:cs typeface="Arial" panose="020B0604020202020204" pitchFamily="34" charset="0"/>
              </a:rPr>
              <a:t>threshold</a:t>
            </a:r>
          </a:p>
          <a:p>
            <a:pPr lvl="1"/>
            <a:endParaRPr sz="2800">
              <a:cs typeface="Arial" panose="020B0604020202020204" pitchFamily="34" charset="0"/>
            </a:endParaRPr>
          </a:p>
          <a:p>
            <a:r>
              <a:rPr sz="2800" b="1" i="1">
                <a:cs typeface="Arial" panose="020B0604020202020204" pitchFamily="34" charset="0"/>
              </a:rPr>
              <a:t>Brute-force approach:</a:t>
            </a:r>
            <a:endParaRPr sz="2800">
              <a:cs typeface="Arial" panose="020B0604020202020204" pitchFamily="34" charset="0"/>
            </a:endParaRPr>
          </a:p>
          <a:p>
            <a:pPr lvl="1"/>
            <a:r>
              <a:rPr sz="2800">
                <a:cs typeface="Arial" panose="020B0604020202020204" pitchFamily="34" charset="0"/>
              </a:rPr>
              <a:t>List all possible association rules</a:t>
            </a:r>
          </a:p>
          <a:p>
            <a:pPr lvl="1"/>
            <a:r>
              <a:rPr sz="2800">
                <a:cs typeface="Arial" panose="020B0604020202020204" pitchFamily="34" charset="0"/>
              </a:rPr>
              <a:t>Compute the support and confidence for each rule</a:t>
            </a:r>
          </a:p>
          <a:p>
            <a:pPr lvl="1"/>
            <a:r>
              <a:rPr sz="2800">
                <a:cs typeface="Arial" panose="020B0604020202020204" pitchFamily="34" charset="0"/>
              </a:rPr>
              <a:t>Prune rules that fail the </a:t>
            </a:r>
            <a:r>
              <a:rPr sz="2800" i="1" dirty="0" err="1">
                <a:cs typeface="Arial" panose="020B0604020202020204" pitchFamily="34" charset="0"/>
              </a:rPr>
              <a:t>minsup</a:t>
            </a:r>
            <a:r>
              <a:rPr sz="2800">
                <a:cs typeface="Arial" panose="020B0604020202020204" pitchFamily="34" charset="0"/>
              </a:rPr>
              <a:t> and </a:t>
            </a:r>
            <a:r>
              <a:rPr sz="2800" i="1" dirty="0" err="1">
                <a:cs typeface="Arial" panose="020B0604020202020204" pitchFamily="34" charset="0"/>
              </a:rPr>
              <a:t>minconf</a:t>
            </a:r>
            <a:r>
              <a:rPr sz="2800">
                <a:cs typeface="Arial" panose="020B0604020202020204" pitchFamily="34" charset="0"/>
              </a:rPr>
              <a:t> thresholds</a:t>
            </a:r>
          </a:p>
          <a:p>
            <a:pPr lvl="1">
              <a:buNone/>
            </a:pPr>
            <a:r>
              <a:rPr sz="2800">
                <a:cs typeface="Arial" panose="020B0604020202020204" pitchFamily="34" charset="0"/>
                <a:sym typeface="Symbol" panose="05050102010706020507" pitchFamily="18" charset="2"/>
              </a:rPr>
              <a:t> </a:t>
            </a:r>
            <a:r>
              <a:rPr sz="2800">
                <a:solidFill>
                  <a:srgbClr val="FF0000"/>
                </a:solidFill>
                <a:cs typeface="Arial" panose="020B0604020202020204" pitchFamily="34" charset="0"/>
              </a:rPr>
              <a:t>Computationally prohibitive</a:t>
            </a:r>
            <a:r>
              <a:rPr sz="2800">
                <a:cs typeface="Arial" panose="020B0604020202020204" pitchFamily="34" charset="0"/>
              </a:rPr>
              <a:t>!</a:t>
            </a:r>
            <a:endParaRPr sz="2800">
              <a:ea typeface="Arial" panose="020B060402020202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4466" name="Title 1214465"/>
          <p:cNvSpPr>
            <a:spLocks noGrp="1"/>
          </p:cNvSpPr>
          <p:nvPr>
            <p:ph type="title"/>
          </p:nvPr>
        </p:nvSpPr>
        <p:spPr>
          <a:xfrm>
            <a:off x="292735" y="255905"/>
            <a:ext cx="10515600" cy="769620"/>
          </a:xfrm>
        </p:spPr>
        <p:txBody>
          <a:bodyPr lIns="90488" tIns="44450" rIns="90488" bIns="44450" anchor="b"/>
          <a:lstStyle/>
          <a:p>
            <a:r>
              <a:rPr b="1" dirty="0" err="1"/>
              <a:t>Frequent Itemset</a:t>
            </a:r>
            <a:r>
              <a:rPr b="1"/>
              <a:t> Generation</a:t>
            </a:r>
          </a:p>
        </p:txBody>
      </p:sp>
      <p:sp>
        <p:nvSpPr>
          <p:cNvPr id="1214467" name="Text Placeholder 1214466"/>
          <p:cNvSpPr>
            <a:spLocks noGrp="1"/>
          </p:cNvSpPr>
          <p:nvPr>
            <p:ph type="body" idx="1"/>
          </p:nvPr>
        </p:nvSpPr>
        <p:spPr>
          <a:xfrm>
            <a:off x="366395" y="1133475"/>
            <a:ext cx="11349355" cy="5410200"/>
          </a:xfrm>
        </p:spPr>
        <p:txBody>
          <a:bodyPr lIns="90488" tIns="44450" rIns="90488" bIns="44450">
            <a:noAutofit/>
          </a:bodyPr>
          <a:lstStyle/>
          <a:p>
            <a:r>
              <a:t>Brute-force approach: </a:t>
            </a:r>
          </a:p>
          <a:p>
            <a:pPr lvl="1"/>
            <a:r>
              <a:rPr sz="2800"/>
              <a:t>Each itemset in the lattice is a </a:t>
            </a:r>
            <a:r>
              <a:rPr sz="2800">
                <a:solidFill>
                  <a:srgbClr val="FF0000"/>
                </a:solidFill>
              </a:rPr>
              <a:t>candidate</a:t>
            </a:r>
            <a:r>
              <a:rPr sz="2800"/>
              <a:t> frequent itemset</a:t>
            </a:r>
          </a:p>
          <a:p>
            <a:pPr lvl="1"/>
            <a:r>
              <a:rPr sz="2800"/>
              <a:t>Count the support of each candidate by scanning the database</a:t>
            </a:r>
          </a:p>
          <a:p>
            <a:pPr lvl="1"/>
            <a:endParaRPr sz="2800"/>
          </a:p>
          <a:p>
            <a:pPr lvl="1"/>
            <a:endParaRPr sz="2800"/>
          </a:p>
          <a:p>
            <a:pPr lvl="1"/>
            <a:endParaRPr sz="2800"/>
          </a:p>
          <a:p>
            <a:pPr lvl="1"/>
            <a:endParaRPr sz="2800"/>
          </a:p>
          <a:p>
            <a:pPr lvl="1"/>
            <a:endParaRPr sz="2800"/>
          </a:p>
          <a:p>
            <a:pPr lvl="1"/>
            <a:endParaRPr sz="2800"/>
          </a:p>
          <a:p>
            <a:pPr lvl="1"/>
            <a:endParaRPr sz="2800"/>
          </a:p>
          <a:p>
            <a:pPr lvl="1"/>
            <a:r>
              <a:rPr sz="2800"/>
              <a:t>Match each transaction against every candidate</a:t>
            </a:r>
          </a:p>
          <a:p>
            <a:pPr lvl="1"/>
            <a:r>
              <a:rPr sz="2800" dirty="0" err="1"/>
              <a:t>Complexity ~ O(NMw</a:t>
            </a:r>
            <a:r>
              <a:rPr sz="2800"/>
              <a:t>) =&gt; </a:t>
            </a:r>
            <a:r>
              <a:rPr sz="2800">
                <a:solidFill>
                  <a:srgbClr val="FF0000"/>
                </a:solidFill>
              </a:rPr>
              <a:t>Expensive since M = 2</a:t>
            </a:r>
            <a:r>
              <a:rPr sz="2800" baseline="30000">
                <a:solidFill>
                  <a:srgbClr val="FF0000"/>
                </a:solidFill>
              </a:rPr>
              <a:t>d</a:t>
            </a:r>
            <a:r>
              <a:rPr sz="2800">
                <a:solidFill>
                  <a:srgbClr val="FF0000"/>
                </a:solidFill>
              </a:rPr>
              <a:t> </a:t>
            </a:r>
            <a:r>
              <a:rPr sz="2800"/>
              <a:t>!!!</a:t>
            </a:r>
          </a:p>
        </p:txBody>
      </p:sp>
      <p:graphicFrame>
        <p:nvGraphicFramePr>
          <p:cNvPr id="1214468" name="Object 1214467"/>
          <p:cNvGraphicFramePr/>
          <p:nvPr/>
        </p:nvGraphicFramePr>
        <p:xfrm>
          <a:off x="1287145" y="2481580"/>
          <a:ext cx="8864600" cy="3070225"/>
        </p:xfrm>
        <a:graphic>
          <a:graphicData uri="http://schemas.openxmlformats.org/presentationml/2006/ole">
            <mc:AlternateContent xmlns:mc="http://schemas.openxmlformats.org/markup-compatibility/2006">
              <mc:Choice xmlns:v="urn:schemas-microsoft-com:vml" Requires="v">
                <p:oleObj r:id="rId2" imgW="7714615" imgH="2845435" progId="Visio.Drawing.6">
                  <p:embed/>
                </p:oleObj>
              </mc:Choice>
              <mc:Fallback>
                <p:oleObj r:id="rId2" imgW="7714615" imgH="2845435" progId="Visio.Drawing.6">
                  <p:embed/>
                  <p:pic>
                    <p:nvPicPr>
                      <p:cNvPr id="0" name="Picture 3098"/>
                      <p:cNvPicPr/>
                      <p:nvPr/>
                    </p:nvPicPr>
                    <p:blipFill>
                      <a:blip r:embed="rId3"/>
                      <a:stretch>
                        <a:fillRect/>
                      </a:stretch>
                    </p:blipFill>
                    <p:spPr>
                      <a:xfrm>
                        <a:off x="1287145" y="2481580"/>
                        <a:ext cx="8864600" cy="3070225"/>
                      </a:xfrm>
                      <a:prstGeom prst="rect">
                        <a:avLst/>
                      </a:prstGeom>
                      <a:noFill/>
                      <a:ln w="38100">
                        <a:noFill/>
                        <a:miter/>
                      </a:ln>
                    </p:spPr>
                  </p:pic>
                </p:oleObj>
              </mc:Fallback>
            </mc:AlternateContent>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1950" y="495300"/>
            <a:ext cx="10515600" cy="525780"/>
          </a:xfrm>
        </p:spPr>
        <p:txBody>
          <a:bodyPr>
            <a:normAutofit fontScale="90000"/>
          </a:bodyPr>
          <a:lstStyle/>
          <a:p>
            <a:r>
              <a:rPr b="1" i="1">
                <a:cs typeface="Arial" panose="020B0604020202020204" pitchFamily="34" charset="0"/>
                <a:sym typeface="+mn-ea"/>
              </a:rPr>
              <a:t>Brute-force approach:</a:t>
            </a:r>
            <a:br>
              <a:rPr>
                <a:cs typeface="Arial" panose="020B0604020202020204" pitchFamily="34" charset="0"/>
              </a:rPr>
            </a:br>
            <a:endParaRPr lang="en-US"/>
          </a:p>
        </p:txBody>
      </p:sp>
      <p:graphicFrame>
        <p:nvGraphicFramePr>
          <p:cNvPr id="1213443" name="Object 1213442"/>
          <p:cNvGraphicFramePr/>
          <p:nvPr/>
        </p:nvGraphicFramePr>
        <p:xfrm>
          <a:off x="442595" y="826770"/>
          <a:ext cx="6182995" cy="5728335"/>
        </p:xfrm>
        <a:graphic>
          <a:graphicData uri="http://schemas.openxmlformats.org/presentationml/2006/ole">
            <mc:AlternateContent xmlns:mc="http://schemas.openxmlformats.org/markup-compatibility/2006">
              <mc:Choice xmlns:v="urn:schemas-microsoft-com:vml" Requires="v">
                <p:oleObj r:id="rId2" imgW="9811385" imgH="7395845" progId="Visio.Drawing.6">
                  <p:embed/>
                </p:oleObj>
              </mc:Choice>
              <mc:Fallback>
                <p:oleObj r:id="rId2" imgW="9811385" imgH="7395845" progId="Visio.Drawing.6">
                  <p:embed/>
                  <p:pic>
                    <p:nvPicPr>
                      <p:cNvPr id="0" name="Picture 3099"/>
                      <p:cNvPicPr/>
                      <p:nvPr/>
                    </p:nvPicPr>
                    <p:blipFill>
                      <a:blip r:embed="rId3">
                        <a:lum bright="-36000" contrast="24000"/>
                      </a:blip>
                      <a:stretch>
                        <a:fillRect/>
                      </a:stretch>
                    </p:blipFill>
                    <p:spPr>
                      <a:xfrm>
                        <a:off x="442595" y="826770"/>
                        <a:ext cx="6182995" cy="5728335"/>
                      </a:xfrm>
                      <a:prstGeom prst="rect">
                        <a:avLst/>
                      </a:prstGeom>
                      <a:noFill/>
                      <a:ln w="3175">
                        <a:solidFill>
                          <a:schemeClr val="tx1"/>
                        </a:solidFill>
                        <a:miter/>
                      </a:ln>
                    </p:spPr>
                  </p:pic>
                </p:oleObj>
              </mc:Fallback>
            </mc:AlternateContent>
          </a:graphicData>
        </a:graphic>
      </p:graphicFrame>
      <p:sp>
        <p:nvSpPr>
          <p:cNvPr id="1213444" name="Text Box 1213443"/>
          <p:cNvSpPr txBox="1"/>
          <p:nvPr/>
        </p:nvSpPr>
        <p:spPr>
          <a:xfrm>
            <a:off x="6941820" y="1975485"/>
            <a:ext cx="4695825" cy="706755"/>
          </a:xfrm>
          <a:prstGeom prst="rect">
            <a:avLst/>
          </a:prstGeom>
          <a:noFill/>
          <a:ln w="12700">
            <a:noFill/>
          </a:ln>
        </p:spPr>
        <p:txBody>
          <a:bodyPr wrap="square">
            <a:spAutoFit/>
          </a:bodyPr>
          <a:lstStyle/>
          <a:p>
            <a:pPr algn="ctr">
              <a:spcBef>
                <a:spcPct val="50000"/>
              </a:spcBef>
            </a:pPr>
            <a:r>
              <a:rPr sz="2000" b="1">
                <a:solidFill>
                  <a:srgbClr val="FF0000"/>
                </a:solidFill>
                <a:latin typeface="Arial" panose="020B0604020202020204" pitchFamily="34" charset="0"/>
              </a:rPr>
              <a:t>Given d items, there are 2</a:t>
            </a:r>
            <a:r>
              <a:rPr sz="2000" b="1" baseline="30000">
                <a:solidFill>
                  <a:srgbClr val="FF0000"/>
                </a:solidFill>
                <a:latin typeface="Arial" panose="020B0604020202020204" pitchFamily="34" charset="0"/>
              </a:rPr>
              <a:t>d</a:t>
            </a:r>
            <a:r>
              <a:rPr sz="2000" b="1">
                <a:solidFill>
                  <a:srgbClr val="FF0000"/>
                </a:solidFill>
                <a:latin typeface="Arial" panose="020B0604020202020204" pitchFamily="34" charset="0"/>
              </a:rPr>
              <a:t> possible candidate itemsets</a:t>
            </a:r>
            <a:endParaRPr sz="2000" b="1">
              <a:solidFill>
                <a:srgbClr val="FF0000"/>
              </a:solidFill>
              <a:latin typeface="Arial" panose="020B0604020202020204" pitchFamily="34" charset="0"/>
              <a:sym typeface="Symbol" panose="05050102010706020507" pitchFamily="18" charset="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5490" name="Title 1215489"/>
          <p:cNvSpPr>
            <a:spLocks noGrp="1"/>
          </p:cNvSpPr>
          <p:nvPr>
            <p:ph type="title"/>
          </p:nvPr>
        </p:nvSpPr>
        <p:spPr>
          <a:xfrm>
            <a:off x="314325" y="256540"/>
            <a:ext cx="10515600" cy="779780"/>
          </a:xfrm>
        </p:spPr>
        <p:txBody>
          <a:bodyPr lIns="90488" tIns="44450" rIns="90488" bIns="44450" anchor="b">
            <a:normAutofit/>
          </a:bodyPr>
          <a:lstStyle/>
          <a:p>
            <a:r>
              <a:rPr b="1"/>
              <a:t>Computational Complexity</a:t>
            </a:r>
          </a:p>
        </p:txBody>
      </p:sp>
      <p:sp>
        <p:nvSpPr>
          <p:cNvPr id="1215491" name="Text Placeholder 1215490"/>
          <p:cNvSpPr>
            <a:spLocks noGrp="1"/>
          </p:cNvSpPr>
          <p:nvPr>
            <p:ph type="body" idx="1"/>
          </p:nvPr>
        </p:nvSpPr>
        <p:spPr>
          <a:xfrm>
            <a:off x="379413" y="1180465"/>
            <a:ext cx="8318500" cy="1371600"/>
          </a:xfrm>
        </p:spPr>
        <p:txBody>
          <a:bodyPr lIns="90488" tIns="44450" rIns="90488" bIns="44450">
            <a:noAutofit/>
          </a:bodyPr>
          <a:lstStyle/>
          <a:p>
            <a:pPr>
              <a:lnSpc>
                <a:spcPct val="90000"/>
              </a:lnSpc>
            </a:pPr>
            <a:r>
              <a:t>Given d unique items:</a:t>
            </a:r>
          </a:p>
          <a:p>
            <a:pPr lvl="1">
              <a:lnSpc>
                <a:spcPct val="90000"/>
              </a:lnSpc>
            </a:pPr>
            <a:r>
              <a:rPr sz="2800"/>
              <a:t>Total number of itemsets = 2</a:t>
            </a:r>
            <a:r>
              <a:rPr sz="2800" baseline="30000"/>
              <a:t>d</a:t>
            </a:r>
          </a:p>
          <a:p>
            <a:pPr lvl="1">
              <a:lnSpc>
                <a:spcPct val="90000"/>
              </a:lnSpc>
            </a:pPr>
            <a:r>
              <a:rPr sz="2800"/>
              <a:t>Total number of possible association rules: </a:t>
            </a:r>
          </a:p>
        </p:txBody>
      </p:sp>
      <p:graphicFrame>
        <p:nvGraphicFramePr>
          <p:cNvPr id="1215492" name="Object 1215491"/>
          <p:cNvGraphicFramePr/>
          <p:nvPr/>
        </p:nvGraphicFramePr>
        <p:xfrm>
          <a:off x="6049645" y="3105150"/>
          <a:ext cx="5698490" cy="2255520"/>
        </p:xfrm>
        <a:graphic>
          <a:graphicData uri="http://schemas.openxmlformats.org/presentationml/2006/ole">
            <mc:AlternateContent xmlns:mc="http://schemas.openxmlformats.org/markup-compatibility/2006">
              <mc:Choice xmlns:v="urn:schemas-microsoft-com:vml" Requires="v">
                <p:oleObj r:id="rId2" imgW="2830830" imgH="1269365" progId="Equation.3">
                  <p:embed/>
                </p:oleObj>
              </mc:Choice>
              <mc:Fallback>
                <p:oleObj r:id="rId2" imgW="2830830" imgH="1269365" progId="Equation.3">
                  <p:embed/>
                  <p:pic>
                    <p:nvPicPr>
                      <p:cNvPr id="0" name="Picture 3100"/>
                      <p:cNvPicPr/>
                      <p:nvPr/>
                    </p:nvPicPr>
                    <p:blipFill>
                      <a:blip r:embed="rId3"/>
                      <a:stretch>
                        <a:fillRect/>
                      </a:stretch>
                    </p:blipFill>
                    <p:spPr>
                      <a:xfrm>
                        <a:off x="6049645" y="3105150"/>
                        <a:ext cx="5698490" cy="2255520"/>
                      </a:xfrm>
                      <a:prstGeom prst="rect">
                        <a:avLst/>
                      </a:prstGeom>
                      <a:noFill/>
                      <a:ln w="38100">
                        <a:solidFill>
                          <a:srgbClr val="FF0000"/>
                        </a:solidFill>
                        <a:miter/>
                      </a:ln>
                    </p:spPr>
                  </p:pic>
                </p:oleObj>
              </mc:Fallback>
            </mc:AlternateContent>
          </a:graphicData>
        </a:graphic>
      </p:graphicFrame>
      <p:sp>
        <p:nvSpPr>
          <p:cNvPr id="1215493" name="Text Box 1215492"/>
          <p:cNvSpPr txBox="1"/>
          <p:nvPr/>
        </p:nvSpPr>
        <p:spPr>
          <a:xfrm>
            <a:off x="6384925" y="5843905"/>
            <a:ext cx="4160520" cy="521970"/>
          </a:xfrm>
          <a:prstGeom prst="rect">
            <a:avLst/>
          </a:prstGeom>
          <a:noFill/>
          <a:ln w="12700">
            <a:noFill/>
          </a:ln>
        </p:spPr>
        <p:txBody>
          <a:bodyPr wrap="square">
            <a:spAutoFit/>
          </a:bodyPr>
          <a:lstStyle/>
          <a:p>
            <a:pPr>
              <a:spcBef>
                <a:spcPct val="50000"/>
              </a:spcBef>
            </a:pPr>
            <a:r>
              <a:rPr sz="2800">
                <a:latin typeface="Arial" panose="020B0604020202020204" pitchFamily="34" charset="0"/>
              </a:rPr>
              <a:t>If d=</a:t>
            </a:r>
            <a:r>
              <a:rPr sz="2800">
                <a:latin typeface="Arial" panose="020B0604020202020204" pitchFamily="34" charset="0"/>
                <a:sym typeface="Symbol" panose="05050102010706020507" pitchFamily="18" charset="2"/>
              </a:rPr>
              <a:t>6,  R = 602 rules</a:t>
            </a:r>
          </a:p>
        </p:txBody>
      </p:sp>
      <p:pic>
        <p:nvPicPr>
          <p:cNvPr id="1215494" name="Picture 1215493"/>
          <p:cNvPicPr>
            <a:picLocks noChangeAspect="1"/>
          </p:cNvPicPr>
          <p:nvPr/>
        </p:nvPicPr>
        <p:blipFill>
          <a:blip r:embed="rId4"/>
          <a:srcRect l="5714" t="1904" r="7143" b="952"/>
          <a:stretch>
            <a:fillRect/>
          </a:stretch>
        </p:blipFill>
        <p:spPr>
          <a:xfrm>
            <a:off x="675640" y="2780030"/>
            <a:ext cx="5158740" cy="3985895"/>
          </a:xfrm>
          <a:prstGeom prst="rect">
            <a:avLst/>
          </a:prstGeom>
          <a:noFill/>
          <a:ln w="12700">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2418" name="Title 1212417"/>
          <p:cNvSpPr>
            <a:spLocks noGrp="1"/>
          </p:cNvSpPr>
          <p:nvPr>
            <p:ph type="title"/>
          </p:nvPr>
        </p:nvSpPr>
        <p:spPr>
          <a:xfrm>
            <a:off x="248920" y="71120"/>
            <a:ext cx="10515600" cy="988060"/>
          </a:xfrm>
        </p:spPr>
        <p:txBody>
          <a:bodyPr lIns="90488" tIns="44450" rIns="90488" bIns="44450" anchor="b"/>
          <a:lstStyle/>
          <a:p>
            <a:r>
              <a:rPr b="1"/>
              <a:t>Mining Association Rules</a:t>
            </a:r>
          </a:p>
        </p:txBody>
      </p:sp>
      <p:sp>
        <p:nvSpPr>
          <p:cNvPr id="1212419" name="Text Placeholder 1212418"/>
          <p:cNvSpPr>
            <a:spLocks noGrp="1"/>
          </p:cNvSpPr>
          <p:nvPr>
            <p:ph type="body" idx="1"/>
          </p:nvPr>
        </p:nvSpPr>
        <p:spPr>
          <a:xfrm>
            <a:off x="368935" y="1465580"/>
            <a:ext cx="11369040" cy="5341620"/>
          </a:xfrm>
        </p:spPr>
        <p:txBody>
          <a:bodyPr lIns="90488" tIns="44450" rIns="90488" bIns="44450">
            <a:normAutofit/>
          </a:bodyPr>
          <a:lstStyle/>
          <a:p>
            <a:pPr marL="533400" indent="-533400"/>
            <a:r>
              <a:rPr sz="2800"/>
              <a:t>Two-step approach: </a:t>
            </a:r>
          </a:p>
          <a:p>
            <a:pPr marL="914400" lvl="1" indent="-457200">
              <a:buFont typeface="Arial" panose="020B0604020202020204" pitchFamily="34" charset="0"/>
              <a:buAutoNum type="arabicPeriod"/>
            </a:pPr>
            <a:r>
              <a:rPr sz="2800" b="1" dirty="0" err="1">
                <a:solidFill>
                  <a:srgbClr val="FF0000"/>
                </a:solidFill>
              </a:rPr>
              <a:t>Frequent Itemset</a:t>
            </a:r>
            <a:r>
              <a:rPr sz="2800" b="1">
                <a:solidFill>
                  <a:srgbClr val="FF0000"/>
                </a:solidFill>
              </a:rPr>
              <a:t> Generation</a:t>
            </a:r>
            <a:endParaRPr sz="2800">
              <a:solidFill>
                <a:srgbClr val="FF0000"/>
              </a:solidFill>
            </a:endParaRPr>
          </a:p>
          <a:p>
            <a:pPr marL="1295400" lvl="2" indent="-381000">
              <a:buFont typeface="Arial" panose="020B0604020202020204" pitchFamily="34" charset="0"/>
              <a:buChar char="–"/>
            </a:pPr>
            <a:r>
              <a:rPr sz="2800" dirty="0" err="1"/>
              <a:t>Generate all itemsets</a:t>
            </a:r>
            <a:r>
              <a:rPr sz="2800"/>
              <a:t> whose support </a:t>
            </a:r>
            <a:r>
              <a:rPr sz="2800">
                <a:sym typeface="Symbol" panose="05050102010706020507" pitchFamily="18" charset="2"/>
              </a:rPr>
              <a:t> </a:t>
            </a:r>
            <a:r>
              <a:rPr sz="2800" dirty="0" err="1"/>
              <a:t>minsup</a:t>
            </a:r>
          </a:p>
          <a:p>
            <a:pPr marL="1295400" lvl="2" indent="-381000">
              <a:buFont typeface="Arial" panose="020B0604020202020204" pitchFamily="34" charset="0"/>
              <a:buNone/>
            </a:pPr>
            <a:r>
              <a:rPr sz="2800" b="1" i="1" dirty="0" err="1">
                <a:solidFill>
                  <a:srgbClr val="0070C0"/>
                </a:solidFill>
              </a:rPr>
              <a:t>if an itemset is frequent, each of its subsets is frequent as well.</a:t>
            </a:r>
          </a:p>
          <a:p>
            <a:pPr lvl="1">
              <a:buFont typeface="Wingdings" panose="05000000000000000000" charset="0"/>
              <a:buChar char="§"/>
            </a:pPr>
            <a:r>
              <a:rPr sz="2400" dirty="0" err="1">
                <a:sym typeface="+mn-ea"/>
              </a:rPr>
              <a:t>This </a:t>
            </a:r>
            <a:r>
              <a:rPr sz="2225">
                <a:sym typeface="+mn-ea"/>
              </a:rPr>
              <a:t>property belongs to a special category of properties called </a:t>
            </a:r>
            <a:r>
              <a:rPr sz="2225" b="1" i="1">
                <a:sym typeface="+mn-ea"/>
              </a:rPr>
              <a:t>antimonotonicity</a:t>
            </a:r>
            <a:r>
              <a:rPr sz="2225">
                <a:sym typeface="+mn-ea"/>
              </a:rPr>
              <a:t> in the sense that if a set cannot pass a test, all of its supersets will fail the same test as well.</a:t>
            </a:r>
            <a:endParaRPr sz="2225"/>
          </a:p>
          <a:p>
            <a:pPr lvl="2">
              <a:buFont typeface="Arial" panose="020B0604020202020204" pitchFamily="34" charset="0"/>
              <a:buNone/>
            </a:pPr>
            <a:endParaRPr b="1" i="1" dirty="0" err="1">
              <a:solidFill>
                <a:srgbClr val="0070C0"/>
              </a:solidFill>
            </a:endParaRPr>
          </a:p>
          <a:p>
            <a:pPr marL="914400" lvl="1" indent="-457200">
              <a:buFont typeface="Arial" panose="020B0604020202020204" pitchFamily="34" charset="0"/>
              <a:buAutoNum type="arabicPeriod"/>
            </a:pPr>
            <a:r>
              <a:rPr sz="2800" b="1">
                <a:solidFill>
                  <a:srgbClr val="FF0000"/>
                </a:solidFill>
              </a:rPr>
              <a:t>Rule Generation</a:t>
            </a:r>
            <a:endParaRPr sz="2800">
              <a:solidFill>
                <a:srgbClr val="FF0000"/>
              </a:solidFill>
            </a:endParaRPr>
          </a:p>
          <a:p>
            <a:pPr marL="1295400" lvl="2" indent="-381000">
              <a:buFont typeface="Arial" panose="020B0604020202020204" pitchFamily="34" charset="0"/>
              <a:buChar char="–"/>
            </a:pPr>
            <a:r>
              <a:rPr sz="2800" dirty="0" err="1"/>
              <a:t>Generate high confidence rules from each frequent itemset</a:t>
            </a:r>
            <a:r>
              <a:rPr sz="2800"/>
              <a:t>, where each rule is a binary partitioning of a frequent itemset</a:t>
            </a:r>
          </a:p>
          <a:p>
            <a:pPr marL="533400" indent="-533400"/>
            <a:endParaRPr sz="2200"/>
          </a:p>
          <a:p>
            <a:pPr marL="533400" indent="-533400"/>
            <a:r>
              <a:rPr sz="2800"/>
              <a:t>Frequent itemset generation is still computationally expensive</a:t>
            </a:r>
          </a:p>
          <a:p>
            <a:pPr marL="533400" indent="-533400">
              <a:buNone/>
            </a:pPr>
            <a:endParaRPr sz="28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3442" name="Title 1213441"/>
          <p:cNvSpPr>
            <a:spLocks noGrp="1"/>
          </p:cNvSpPr>
          <p:nvPr>
            <p:ph type="title"/>
          </p:nvPr>
        </p:nvSpPr>
        <p:spPr>
          <a:xfrm>
            <a:off x="304800" y="233045"/>
            <a:ext cx="6770370" cy="759460"/>
          </a:xfrm>
        </p:spPr>
        <p:txBody>
          <a:bodyPr lIns="90488" tIns="44450" rIns="90488" bIns="44450" anchor="b"/>
          <a:lstStyle/>
          <a:p>
            <a:r>
              <a:rPr sz="4200" b="1" dirty="0" err="1"/>
              <a:t>Frequent Itemset</a:t>
            </a:r>
            <a:r>
              <a:rPr sz="4200" b="1"/>
              <a:t> Generation</a:t>
            </a:r>
          </a:p>
        </p:txBody>
      </p:sp>
      <p:sp>
        <p:nvSpPr>
          <p:cNvPr id="2" name="Text Box 1"/>
          <p:cNvSpPr txBox="1"/>
          <p:nvPr/>
        </p:nvSpPr>
        <p:spPr>
          <a:xfrm>
            <a:off x="304800" y="1098550"/>
            <a:ext cx="11194415" cy="5133340"/>
          </a:xfrm>
          <a:prstGeom prst="rect">
            <a:avLst/>
          </a:prstGeom>
          <a:noFill/>
        </p:spPr>
        <p:txBody>
          <a:bodyPr wrap="square" rtlCol="0" anchor="t">
            <a:spAutoFit/>
          </a:bodyPr>
          <a:lstStyle/>
          <a:p>
            <a:pPr marL="285750" indent="-285750" algn="just">
              <a:lnSpc>
                <a:spcPct val="110000"/>
              </a:lnSpc>
              <a:buFont typeface="Arial" panose="020B0604020202020204" pitchFamily="34" charset="0"/>
              <a:buChar char="•"/>
            </a:pPr>
            <a:r>
              <a:rPr lang="en-US" sz="2800"/>
              <a:t>An itemset X is </a:t>
            </a:r>
            <a:r>
              <a:rPr lang="en-US" sz="2800" b="1" i="1"/>
              <a:t>closed</a:t>
            </a:r>
            <a:r>
              <a:rPr lang="en-US" sz="2800"/>
              <a:t> in a data set D if there exists no proper super-itemset Y</a:t>
            </a:r>
            <a:r>
              <a:rPr lang="en-US" sz="4000" b="1" baseline="30000">
                <a:solidFill>
                  <a:srgbClr val="FF0000"/>
                </a:solidFill>
              </a:rPr>
              <a:t>*</a:t>
            </a:r>
            <a:r>
              <a:rPr lang="en-US" sz="2800"/>
              <a:t> such that Y has the same support count as X in D.</a:t>
            </a:r>
            <a:r>
              <a:rPr lang="en-US" sz="2400"/>
              <a:t> </a:t>
            </a:r>
          </a:p>
          <a:p>
            <a:pPr marL="490220" indent="-490220" algn="just">
              <a:lnSpc>
                <a:spcPct val="110000"/>
              </a:lnSpc>
              <a:buFont typeface="Arial" panose="020B0604020202020204" pitchFamily="34" charset="0"/>
              <a:buNone/>
            </a:pPr>
            <a:r>
              <a:rPr lang="en-US" sz="2000" b="1">
                <a:solidFill>
                  <a:srgbClr val="FF0000"/>
                </a:solidFill>
              </a:rPr>
              <a:t>    </a:t>
            </a:r>
            <a:r>
              <a:rPr lang="en-US" sz="3200" b="1">
                <a:solidFill>
                  <a:srgbClr val="FF0000"/>
                </a:solidFill>
              </a:rPr>
              <a:t>*</a:t>
            </a:r>
            <a:r>
              <a:rPr lang="en-US" sz="2200" b="1">
                <a:solidFill>
                  <a:srgbClr val="FF0000"/>
                </a:solidFill>
              </a:rPr>
              <a:t>(Y is a proper super-itemset of X if X is a proper sub-itemset of Y, that is, if X </a:t>
            </a:r>
            <a:r>
              <a:rPr lang="en-US" sz="2200" b="1">
                <a:solidFill>
                  <a:srgbClr val="FF0000"/>
                </a:solidFill>
                <a:sym typeface="Symbol" panose="05050102010706020507" charset="0"/>
              </a:rPr>
              <a:t></a:t>
            </a:r>
            <a:r>
              <a:rPr lang="en-US" sz="2200" b="1">
                <a:solidFill>
                  <a:srgbClr val="FF0000"/>
                </a:solidFill>
              </a:rPr>
              <a:t> Y. In other words, every item of X is contained in Y but there is at least one item of Y that is not in X.)</a:t>
            </a:r>
          </a:p>
          <a:p>
            <a:pPr marL="285750" indent="-285750">
              <a:lnSpc>
                <a:spcPct val="110000"/>
              </a:lnSpc>
              <a:buFont typeface="Arial" panose="020B0604020202020204" pitchFamily="34" charset="0"/>
              <a:buChar char="•"/>
            </a:pPr>
            <a:endParaRPr lang="en-US" sz="2400"/>
          </a:p>
          <a:p>
            <a:pPr marL="285750" indent="-285750" algn="just">
              <a:lnSpc>
                <a:spcPct val="110000"/>
              </a:lnSpc>
              <a:buFont typeface="Arial" panose="020B0604020202020204" pitchFamily="34" charset="0"/>
              <a:buChar char="•"/>
            </a:pPr>
            <a:r>
              <a:rPr lang="en-US" sz="2800"/>
              <a:t>An itemset X is a </a:t>
            </a:r>
            <a:r>
              <a:rPr lang="en-US" sz="2800" b="1" i="1"/>
              <a:t>closed frequent itemset</a:t>
            </a:r>
            <a:r>
              <a:rPr lang="en-US" sz="2800"/>
              <a:t> in set D if X is both closed and frequent in D. </a:t>
            </a:r>
            <a:endParaRPr lang="en-US" sz="2400"/>
          </a:p>
          <a:p>
            <a:pPr marL="285750" indent="-285750">
              <a:lnSpc>
                <a:spcPct val="110000"/>
              </a:lnSpc>
              <a:buFont typeface="Arial" panose="020B0604020202020204" pitchFamily="34" charset="0"/>
              <a:buChar char="•"/>
            </a:pPr>
            <a:endParaRPr lang="en-US" sz="2400"/>
          </a:p>
          <a:p>
            <a:pPr marL="285750" indent="-285750" algn="just">
              <a:lnSpc>
                <a:spcPct val="110000"/>
              </a:lnSpc>
              <a:buFont typeface="Arial" panose="020B0604020202020204" pitchFamily="34" charset="0"/>
              <a:buChar char="•"/>
            </a:pPr>
            <a:r>
              <a:rPr lang="en-US" sz="2800"/>
              <a:t>An itemset X is a </a:t>
            </a:r>
            <a:r>
              <a:rPr lang="en-US" sz="2800" b="1" i="1"/>
              <a:t>maximal frequent itemset (or max-itemset)</a:t>
            </a:r>
            <a:r>
              <a:rPr lang="en-US" sz="2800"/>
              <a:t> in a data set D if X is frequent, and there exists no super-itemset Y such that X </a:t>
            </a:r>
            <a:r>
              <a:rPr lang="en-US" sz="2800">
                <a:sym typeface="Symbol" panose="05050102010706020507" charset="0"/>
              </a:rPr>
              <a:t></a:t>
            </a:r>
            <a:r>
              <a:rPr lang="en-US" sz="2800"/>
              <a:t> Y and Y is frequent in 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6514" name="Title 1216513"/>
          <p:cNvSpPr>
            <a:spLocks noGrp="1"/>
          </p:cNvSpPr>
          <p:nvPr>
            <p:ph type="title"/>
          </p:nvPr>
        </p:nvSpPr>
        <p:spPr>
          <a:xfrm>
            <a:off x="303530" y="338455"/>
            <a:ext cx="9254490" cy="621030"/>
          </a:xfrm>
        </p:spPr>
        <p:txBody>
          <a:bodyPr lIns="90488" tIns="44450" rIns="90488" bIns="44450" anchor="b">
            <a:normAutofit fontScale="90000"/>
          </a:bodyPr>
          <a:lstStyle/>
          <a:p>
            <a:r>
              <a:rPr b="1" dirty="0" err="1"/>
              <a:t>Frequent Itemset</a:t>
            </a:r>
            <a:r>
              <a:rPr b="1"/>
              <a:t> Generation Strategies</a:t>
            </a:r>
          </a:p>
        </p:txBody>
      </p:sp>
      <p:sp>
        <p:nvSpPr>
          <p:cNvPr id="1216515" name="Text Placeholder 1216514"/>
          <p:cNvSpPr>
            <a:spLocks noGrp="1"/>
          </p:cNvSpPr>
          <p:nvPr>
            <p:ph type="body" idx="1"/>
          </p:nvPr>
        </p:nvSpPr>
        <p:spPr>
          <a:xfrm>
            <a:off x="411480" y="1144270"/>
            <a:ext cx="11167110" cy="5257800"/>
          </a:xfrm>
        </p:spPr>
        <p:txBody>
          <a:bodyPr lIns="90488" tIns="44450" rIns="90488" bIns="44450">
            <a:noAutofit/>
          </a:bodyPr>
          <a:lstStyle/>
          <a:p>
            <a:pPr>
              <a:lnSpc>
                <a:spcPct val="110000"/>
              </a:lnSpc>
            </a:pPr>
            <a:r>
              <a:t>Reduce the </a:t>
            </a:r>
            <a:r>
              <a:rPr>
                <a:solidFill>
                  <a:srgbClr val="FF0000"/>
                </a:solidFill>
              </a:rPr>
              <a:t>number of candidates</a:t>
            </a:r>
            <a:r>
              <a:t> (M)</a:t>
            </a:r>
          </a:p>
          <a:p>
            <a:pPr lvl="1">
              <a:lnSpc>
                <a:spcPct val="110000"/>
              </a:lnSpc>
            </a:pPr>
            <a:r>
              <a:rPr sz="2800"/>
              <a:t>Complete search: M=2</a:t>
            </a:r>
            <a:r>
              <a:rPr sz="2800" baseline="30000"/>
              <a:t>d</a:t>
            </a:r>
          </a:p>
          <a:p>
            <a:pPr lvl="1">
              <a:lnSpc>
                <a:spcPct val="110000"/>
              </a:lnSpc>
            </a:pPr>
            <a:r>
              <a:rPr sz="2800"/>
              <a:t>Use pruning techniques to reduce M</a:t>
            </a:r>
          </a:p>
          <a:p>
            <a:pPr lvl="4">
              <a:lnSpc>
                <a:spcPct val="10000"/>
              </a:lnSpc>
            </a:pPr>
            <a:endParaRPr sz="2800"/>
          </a:p>
          <a:p>
            <a:pPr>
              <a:lnSpc>
                <a:spcPct val="110000"/>
              </a:lnSpc>
            </a:pPr>
            <a:r>
              <a:t>Reduce the </a:t>
            </a:r>
            <a:r>
              <a:rPr>
                <a:solidFill>
                  <a:srgbClr val="FF0000"/>
                </a:solidFill>
              </a:rPr>
              <a:t>number of transactions </a:t>
            </a:r>
            <a:r>
              <a:t>(N)</a:t>
            </a:r>
          </a:p>
          <a:p>
            <a:pPr lvl="1">
              <a:lnSpc>
                <a:spcPct val="110000"/>
              </a:lnSpc>
            </a:pPr>
            <a:r>
              <a:rPr sz="2800"/>
              <a:t>Reduce size of N as the size of itemset increases</a:t>
            </a:r>
          </a:p>
          <a:p>
            <a:pPr lvl="1">
              <a:lnSpc>
                <a:spcPct val="110000"/>
              </a:lnSpc>
            </a:pPr>
            <a:r>
              <a:rPr sz="2800"/>
              <a:t>Used by DHP </a:t>
            </a:r>
            <a:r>
              <a:rPr lang="en-US" sz="2800"/>
              <a:t>(Direct Hashing &amp; Purning)</a:t>
            </a:r>
            <a:r>
              <a:rPr sz="2800"/>
              <a:t> and vertical-based mining algorithms</a:t>
            </a:r>
          </a:p>
          <a:p>
            <a:pPr lvl="4">
              <a:lnSpc>
                <a:spcPct val="0"/>
              </a:lnSpc>
            </a:pPr>
            <a:endParaRPr sz="2800"/>
          </a:p>
          <a:p>
            <a:pPr>
              <a:lnSpc>
                <a:spcPct val="110000"/>
              </a:lnSpc>
            </a:pPr>
            <a:r>
              <a:t>Reduce the </a:t>
            </a:r>
            <a:r>
              <a:rPr>
                <a:solidFill>
                  <a:srgbClr val="FF0000"/>
                </a:solidFill>
              </a:rPr>
              <a:t>number of comparisons</a:t>
            </a:r>
            <a:r>
              <a:t> (NM)</a:t>
            </a:r>
          </a:p>
          <a:p>
            <a:pPr lvl="1">
              <a:lnSpc>
                <a:spcPct val="110000"/>
              </a:lnSpc>
            </a:pPr>
            <a:r>
              <a:rPr sz="2800"/>
              <a:t>Use efficient data structures to store the candidates or transactions</a:t>
            </a:r>
          </a:p>
          <a:p>
            <a:pPr lvl="1">
              <a:lnSpc>
                <a:spcPct val="110000"/>
              </a:lnSpc>
            </a:pPr>
            <a:r>
              <a:rPr sz="2800"/>
              <a:t>No need to match every candidate against every transaction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0962" name="Title 680961"/>
          <p:cNvSpPr>
            <a:spLocks noGrp="1"/>
          </p:cNvSpPr>
          <p:nvPr>
            <p:ph type="title"/>
          </p:nvPr>
        </p:nvSpPr>
        <p:spPr>
          <a:xfrm>
            <a:off x="292100" y="266700"/>
            <a:ext cx="10515600" cy="868045"/>
          </a:xfrm>
        </p:spPr>
        <p:txBody>
          <a:bodyPr/>
          <a:lstStyle/>
          <a:p>
            <a:r>
              <a:rPr b="1"/>
              <a:t>Many mining algorithms</a:t>
            </a:r>
          </a:p>
        </p:txBody>
      </p:sp>
      <p:sp>
        <p:nvSpPr>
          <p:cNvPr id="680963" name="Text Placeholder 680962"/>
          <p:cNvSpPr>
            <a:spLocks noGrp="1"/>
          </p:cNvSpPr>
          <p:nvPr>
            <p:ph type="body" idx="1"/>
          </p:nvPr>
        </p:nvSpPr>
        <p:spPr>
          <a:xfrm>
            <a:off x="381000" y="1271905"/>
            <a:ext cx="11471275" cy="5163820"/>
          </a:xfrm>
        </p:spPr>
        <p:txBody>
          <a:bodyPr/>
          <a:lstStyle/>
          <a:p>
            <a:pPr>
              <a:lnSpc>
                <a:spcPct val="120000"/>
              </a:lnSpc>
            </a:pPr>
            <a:r>
              <a:rPr sz="2800">
                <a:solidFill>
                  <a:srgbClr val="FF0000"/>
                </a:solidFill>
              </a:rPr>
              <a:t>There are a large number of them!!</a:t>
            </a:r>
            <a:r>
              <a:rPr sz="2800"/>
              <a:t> </a:t>
            </a:r>
          </a:p>
          <a:p>
            <a:pPr>
              <a:lnSpc>
                <a:spcPct val="120000"/>
              </a:lnSpc>
            </a:pPr>
            <a:r>
              <a:rPr lang="en-US" altLang="ja-JP" sz="2800">
                <a:ea typeface="MS PGothic" panose="020B0600070205080204" pitchFamily="34" charset="-128"/>
              </a:rPr>
              <a:t>They use different strategies and data structures. </a:t>
            </a:r>
          </a:p>
          <a:p>
            <a:pPr>
              <a:lnSpc>
                <a:spcPct val="120000"/>
              </a:lnSpc>
            </a:pPr>
            <a:r>
              <a:rPr lang="en-US" altLang="ja-JP" sz="2800">
                <a:ea typeface="MS PGothic" panose="020B0600070205080204" pitchFamily="34" charset="-128"/>
              </a:rPr>
              <a:t>Their resulting sets of rules are all the same. </a:t>
            </a:r>
          </a:p>
          <a:p>
            <a:pPr lvl="1">
              <a:lnSpc>
                <a:spcPct val="120000"/>
              </a:lnSpc>
            </a:pPr>
            <a:r>
              <a:rPr lang="en-US" altLang="ja-JP" sz="2800">
                <a:solidFill>
                  <a:srgbClr val="3333CC"/>
                </a:solidFill>
                <a:ea typeface="MS PGothic" panose="020B0600070205080204" pitchFamily="34" charset="-128"/>
              </a:rPr>
              <a:t>Given a transaction data set </a:t>
            </a:r>
            <a:r>
              <a:rPr lang="en-US" altLang="ja-JP" sz="2800" i="1">
                <a:solidFill>
                  <a:srgbClr val="3333CC"/>
                </a:solidFill>
                <a:ea typeface="MS PGothic" panose="020B0600070205080204" pitchFamily="34" charset="-128"/>
              </a:rPr>
              <a:t>T</a:t>
            </a:r>
            <a:r>
              <a:rPr lang="en-US" altLang="ja-JP" sz="2800">
                <a:solidFill>
                  <a:srgbClr val="3333CC"/>
                </a:solidFill>
                <a:ea typeface="MS PGothic" panose="020B0600070205080204" pitchFamily="34" charset="-128"/>
              </a:rPr>
              <a:t>, and a minimum support and a minimum confident, the set of association rules existing in </a:t>
            </a:r>
            <a:r>
              <a:rPr lang="en-US" altLang="ja-JP" sz="2800" i="1">
                <a:solidFill>
                  <a:srgbClr val="3333CC"/>
                </a:solidFill>
                <a:ea typeface="MS PGothic" panose="020B0600070205080204" pitchFamily="34" charset="-128"/>
              </a:rPr>
              <a:t>T</a:t>
            </a:r>
            <a:r>
              <a:rPr lang="en-US" altLang="ja-JP" sz="2800">
                <a:solidFill>
                  <a:srgbClr val="3333CC"/>
                </a:solidFill>
                <a:ea typeface="MS PGothic" panose="020B0600070205080204" pitchFamily="34" charset="-128"/>
              </a:rPr>
              <a:t> is uniquely determined.</a:t>
            </a:r>
            <a:r>
              <a:rPr lang="en-US" altLang="ja-JP" sz="2800">
                <a:ea typeface="MS PGothic" panose="020B0600070205080204" pitchFamily="34" charset="-128"/>
              </a:rPr>
              <a:t> </a:t>
            </a:r>
          </a:p>
          <a:p>
            <a:pPr>
              <a:lnSpc>
                <a:spcPct val="120000"/>
              </a:lnSpc>
            </a:pPr>
            <a:r>
              <a:rPr lang="en-US" altLang="ja-JP" sz="2800">
                <a:ea typeface="MS PGothic" panose="020B0600070205080204" pitchFamily="34" charset="-128"/>
              </a:rPr>
              <a:t>Any algorithm should find the same set of rules although their computational efficiencies and memory requirements may be different. </a:t>
            </a:r>
          </a:p>
          <a:p>
            <a:pPr>
              <a:lnSpc>
                <a:spcPct val="120000"/>
              </a:lnSpc>
            </a:pPr>
            <a:r>
              <a:rPr sz="2800"/>
              <a:t>We study only one: </a:t>
            </a:r>
            <a:r>
              <a:rPr sz="2800" dirty="0" err="1">
                <a:solidFill>
                  <a:srgbClr val="FF0000"/>
                </a:solidFill>
              </a:rPr>
              <a:t>the Apriori</a:t>
            </a:r>
            <a:r>
              <a:rPr sz="2800">
                <a:solidFill>
                  <a:srgbClr val="FF0000"/>
                </a:solidFill>
              </a:rPr>
              <a:t> Algorithm</a:t>
            </a:r>
          </a:p>
          <a:p>
            <a:endParaRPr sz="2800"/>
          </a:p>
        </p:txBody>
      </p:sp>
      <p:sp>
        <p:nvSpPr>
          <p:cNvPr id="3" name="Slide Number Placeholder 2"/>
          <p:cNvSpPr>
            <a:spLocks noGrp="1"/>
          </p:cNvSpPr>
          <p:nvPr>
            <p:ph type="sldNum" sz="quarter" idx="12"/>
          </p:nvPr>
        </p:nvSpPr>
        <p:spPr/>
        <p:txBody>
          <a:bodyPr/>
          <a:lstStyle/>
          <a:p>
            <a:pPr lvl="0"/>
            <a:fld id="{9A0DB2DC-4C9A-4742-B13C-FB6460FD3503}" type="slidenum">
              <a:rPr lang="en-US" altLang="en-US" dirty="0"/>
              <a:t>25</a:t>
            </a:fld>
            <a:endParaRPr lang="en-US"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idx="1"/>
          </p:nvPr>
        </p:nvSpPr>
        <p:spPr>
          <a:xfrm>
            <a:off x="318770" y="1219835"/>
            <a:ext cx="11553825" cy="5304155"/>
          </a:xfrm>
        </p:spPr>
        <p:txBody>
          <a:bodyPr>
            <a:normAutofit lnSpcReduction="20000"/>
          </a:bodyPr>
          <a:lstStyle/>
          <a:p>
            <a:pPr algn="just">
              <a:lnSpc>
                <a:spcPct val="120000"/>
              </a:lnSpc>
            </a:pPr>
            <a:r>
              <a:rPr lang="en-US"/>
              <a:t>The algorithm uses a level-wise search, where </a:t>
            </a:r>
            <a:r>
              <a:rPr lang="en-US" b="1"/>
              <a:t>k-itemsets</a:t>
            </a:r>
            <a:r>
              <a:rPr lang="en-US"/>
              <a:t> are used to explore </a:t>
            </a:r>
            <a:r>
              <a:rPr lang="en-US" b="1"/>
              <a:t>(k+1)-itemsets</a:t>
            </a:r>
            <a:endParaRPr lang="en-US"/>
          </a:p>
          <a:p>
            <a:pPr algn="just">
              <a:lnSpc>
                <a:spcPct val="120000"/>
              </a:lnSpc>
            </a:pPr>
            <a:r>
              <a:rPr lang="en-US"/>
              <a:t>In this algorithm, frequent subsets are extended one item at a time (this step is known as </a:t>
            </a:r>
            <a:r>
              <a:rPr lang="en-US" b="1" i="1"/>
              <a:t>candidate generation process</a:t>
            </a:r>
            <a:r>
              <a:rPr lang="en-US"/>
              <a:t>)</a:t>
            </a:r>
          </a:p>
          <a:p>
            <a:pPr algn="just">
              <a:lnSpc>
                <a:spcPct val="120000"/>
              </a:lnSpc>
            </a:pPr>
            <a:r>
              <a:rPr lang="en-US"/>
              <a:t>Then groups of candidates are tested against the data.</a:t>
            </a:r>
          </a:p>
          <a:p>
            <a:pPr algn="just">
              <a:lnSpc>
                <a:spcPct val="120000"/>
              </a:lnSpc>
            </a:pPr>
            <a:r>
              <a:rPr lang="en-US"/>
              <a:t>It identifies the frequent individual items in the database and extends them to larger and larger item sets as long as those itemsets appear sufficiently often in the database.</a:t>
            </a:r>
          </a:p>
          <a:p>
            <a:pPr algn="just">
              <a:lnSpc>
                <a:spcPct val="120000"/>
              </a:lnSpc>
            </a:pPr>
            <a:r>
              <a:rPr lang="en-US"/>
              <a:t>Apriori algorithm determines frequent itemsets that can be used to determine association rules which highlight general trends in the database.</a:t>
            </a:r>
          </a:p>
        </p:txBody>
      </p:sp>
      <p:sp>
        <p:nvSpPr>
          <p:cNvPr id="650242" name="Title 650241"/>
          <p:cNvSpPr>
            <a:spLocks noGrp="1"/>
          </p:cNvSpPr>
          <p:nvPr/>
        </p:nvSpPr>
        <p:spPr>
          <a:xfrm>
            <a:off x="318453" y="161290"/>
            <a:ext cx="8001000" cy="990600"/>
          </a:xfrm>
          <a:prstGeom prst="rect">
            <a:avLst/>
          </a:prstGeom>
        </p:spPr>
        <p:txBody>
          <a:bodyPr vert="horz" wrap="square" lIns="92075" tIns="46038" rIns="92075" bIns="46038"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ltLang="x-none" b="1"/>
              <a:t>The </a:t>
            </a:r>
            <a:r>
              <a:rPr lang="en-GB" altLang="x-none" b="1" dirty="0" err="1"/>
              <a:t>Apriori</a:t>
            </a:r>
            <a:r>
              <a:rPr lang="en-GB" altLang="x-none" b="1"/>
              <a:t> algorithm</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p:nvPr/>
        </p:nvSpPr>
        <p:spPr>
          <a:xfrm>
            <a:off x="319405" y="1268095"/>
            <a:ext cx="11553825" cy="53041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pPr>
            <a:r>
              <a:rPr lang="en-US"/>
              <a:t>The Apriori algorithm takes advantage of the fact that any subset of a frequent itemset is also a frequent itemset.</a:t>
            </a:r>
          </a:p>
          <a:p>
            <a:pPr lvl="1" algn="just">
              <a:lnSpc>
                <a:spcPct val="150000"/>
              </a:lnSpc>
            </a:pPr>
            <a:r>
              <a:rPr lang="en-US" b="1" i="1"/>
              <a:t>i.e., if {l1,l2} is a frequent itemset, then {l1} and {l2} should be frequent itemsets.</a:t>
            </a:r>
            <a:endParaRPr lang="en-US"/>
          </a:p>
          <a:p>
            <a:pPr algn="just">
              <a:lnSpc>
                <a:spcPct val="150000"/>
              </a:lnSpc>
            </a:pPr>
            <a:r>
              <a:rPr lang="en-US"/>
              <a:t>The algorithm can therefore, reduce the number of candidates being considered by only exploring the itemsets whose support count is greater than the minimum support count.</a:t>
            </a:r>
          </a:p>
          <a:p>
            <a:pPr algn="just">
              <a:lnSpc>
                <a:spcPct val="150000"/>
              </a:lnSpc>
            </a:pPr>
            <a:r>
              <a:rPr lang="en-US"/>
              <a:t>All infrequent itemsets can be pruned if it has an infrequent subset.</a:t>
            </a:r>
          </a:p>
        </p:txBody>
      </p:sp>
      <p:sp>
        <p:nvSpPr>
          <p:cNvPr id="650242" name="Title 650241"/>
          <p:cNvSpPr>
            <a:spLocks noGrp="1"/>
          </p:cNvSpPr>
          <p:nvPr/>
        </p:nvSpPr>
        <p:spPr>
          <a:xfrm>
            <a:off x="318453" y="161290"/>
            <a:ext cx="8001000" cy="990600"/>
          </a:xfrm>
          <a:prstGeom prst="rect">
            <a:avLst/>
          </a:prstGeom>
        </p:spPr>
        <p:txBody>
          <a:bodyPr vert="horz" wrap="square" lIns="92075" tIns="46038" rIns="92075" bIns="46038"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ltLang="x-none" b="1"/>
              <a:t>The </a:t>
            </a:r>
            <a:r>
              <a:rPr lang="en-GB" altLang="x-none" b="1" dirty="0" err="1"/>
              <a:t>Apriori</a:t>
            </a:r>
            <a:r>
              <a:rPr lang="en-GB" altLang="x-none" b="1"/>
              <a:t> algorithm</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p:nvPr>
        </p:nvSpPr>
        <p:spPr>
          <a:xfrm>
            <a:off x="535305" y="1341120"/>
            <a:ext cx="11294745" cy="5812155"/>
          </a:xfrm>
        </p:spPr>
        <p:txBody>
          <a:bodyPr>
            <a:noAutofit/>
          </a:bodyPr>
          <a:lstStyle/>
          <a:p>
            <a:pPr algn="just">
              <a:lnSpc>
                <a:spcPct val="110000"/>
              </a:lnSpc>
            </a:pPr>
            <a:r>
              <a:rPr lang="en-US" sz="3200">
                <a:sym typeface="+mn-ea"/>
              </a:rPr>
              <a:t>So we build a </a:t>
            </a:r>
            <a:r>
              <a:rPr lang="en-US" sz="3200" b="1" i="1">
                <a:sym typeface="+mn-ea"/>
              </a:rPr>
              <a:t>Candidate list</a:t>
            </a:r>
            <a:r>
              <a:rPr lang="en-US" sz="3200">
                <a:sym typeface="+mn-ea"/>
              </a:rPr>
              <a:t> of </a:t>
            </a:r>
            <a:r>
              <a:rPr lang="en-US" sz="3200" b="1">
                <a:sym typeface="+mn-ea"/>
              </a:rPr>
              <a:t>k-itemsets</a:t>
            </a:r>
            <a:r>
              <a:rPr lang="en-US" sz="3200">
                <a:sym typeface="+mn-ea"/>
              </a:rPr>
              <a:t> and then extract a </a:t>
            </a:r>
            <a:r>
              <a:rPr lang="en-US" sz="3200" b="1" i="1">
                <a:sym typeface="+mn-ea"/>
              </a:rPr>
              <a:t>Frequent list</a:t>
            </a:r>
            <a:r>
              <a:rPr lang="en-US" sz="3200">
                <a:sym typeface="+mn-ea"/>
              </a:rPr>
              <a:t> of </a:t>
            </a:r>
            <a:r>
              <a:rPr lang="en-US" sz="3200" b="1">
                <a:sym typeface="+mn-ea"/>
              </a:rPr>
              <a:t>k-itemsets</a:t>
            </a:r>
            <a:r>
              <a:rPr lang="en-US" sz="3200">
                <a:sym typeface="+mn-ea"/>
              </a:rPr>
              <a:t> using the support count</a:t>
            </a:r>
            <a:endParaRPr lang="en-US" sz="3200"/>
          </a:p>
          <a:p>
            <a:pPr algn="just">
              <a:lnSpc>
                <a:spcPct val="110000"/>
              </a:lnSpc>
            </a:pPr>
            <a:r>
              <a:rPr lang="en-US" sz="3200">
                <a:sym typeface="+mn-ea"/>
              </a:rPr>
              <a:t>After that, we use the </a:t>
            </a:r>
            <a:r>
              <a:rPr lang="en-US" sz="3200" b="1" i="1">
                <a:sym typeface="+mn-ea"/>
              </a:rPr>
              <a:t>Frequent list</a:t>
            </a:r>
            <a:r>
              <a:rPr lang="en-US" sz="3200">
                <a:sym typeface="+mn-ea"/>
              </a:rPr>
              <a:t> of </a:t>
            </a:r>
            <a:r>
              <a:rPr lang="en-US" sz="3200" b="1">
                <a:sym typeface="+mn-ea"/>
              </a:rPr>
              <a:t>k-itemsets</a:t>
            </a:r>
            <a:r>
              <a:rPr lang="en-US" sz="3200">
                <a:sym typeface="+mn-ea"/>
              </a:rPr>
              <a:t> in determing the </a:t>
            </a:r>
            <a:r>
              <a:rPr lang="en-US" sz="3200" b="1" i="1">
                <a:sym typeface="+mn-ea"/>
              </a:rPr>
              <a:t>Candidate</a:t>
            </a:r>
            <a:r>
              <a:rPr lang="en-US" sz="3200">
                <a:sym typeface="+mn-ea"/>
              </a:rPr>
              <a:t> and </a:t>
            </a:r>
            <a:r>
              <a:rPr lang="en-US" sz="3200" b="1" i="1">
                <a:sym typeface="+mn-ea"/>
              </a:rPr>
              <a:t>Frequent list</a:t>
            </a:r>
            <a:r>
              <a:rPr lang="en-US" sz="3200">
                <a:sym typeface="+mn-ea"/>
              </a:rPr>
              <a:t> of </a:t>
            </a:r>
            <a:r>
              <a:rPr lang="en-US" sz="3200" b="1">
                <a:sym typeface="+mn-ea"/>
              </a:rPr>
              <a:t>k+1-itemsets.</a:t>
            </a:r>
            <a:endParaRPr lang="en-US" sz="3200"/>
          </a:p>
          <a:p>
            <a:pPr algn="just">
              <a:lnSpc>
                <a:spcPct val="110000"/>
              </a:lnSpc>
            </a:pPr>
            <a:r>
              <a:rPr lang="en-US" sz="3200">
                <a:sym typeface="+mn-ea"/>
              </a:rPr>
              <a:t>We use </a:t>
            </a:r>
            <a:r>
              <a:rPr lang="en-US" sz="3200" b="1" i="1">
                <a:sym typeface="+mn-ea"/>
              </a:rPr>
              <a:t>Pruning</a:t>
            </a:r>
            <a:r>
              <a:rPr lang="en-US" sz="3200">
                <a:sym typeface="+mn-ea"/>
              </a:rPr>
              <a:t> to do that</a:t>
            </a:r>
            <a:endParaRPr lang="en-US" sz="3200"/>
          </a:p>
          <a:p>
            <a:pPr algn="just">
              <a:lnSpc>
                <a:spcPct val="110000"/>
              </a:lnSpc>
            </a:pPr>
            <a:r>
              <a:rPr lang="en-US" sz="3200">
                <a:sym typeface="+mn-ea"/>
              </a:rPr>
              <a:t>We repeat until we have an empty </a:t>
            </a:r>
            <a:r>
              <a:rPr lang="en-US" sz="3200" b="1" i="1">
                <a:sym typeface="+mn-ea"/>
              </a:rPr>
              <a:t>Candidate</a:t>
            </a:r>
            <a:r>
              <a:rPr lang="en-US" sz="3200">
                <a:sym typeface="+mn-ea"/>
              </a:rPr>
              <a:t> or </a:t>
            </a:r>
            <a:r>
              <a:rPr lang="en-US" sz="3200" b="1" i="1">
                <a:sym typeface="+mn-ea"/>
              </a:rPr>
              <a:t>Frequent</a:t>
            </a:r>
            <a:r>
              <a:rPr lang="en-US" sz="3200">
                <a:sym typeface="+mn-ea"/>
              </a:rPr>
              <a:t> of </a:t>
            </a:r>
            <a:r>
              <a:rPr lang="en-US" sz="3200" b="1">
                <a:sym typeface="+mn-ea"/>
              </a:rPr>
              <a:t>k-itemsets</a:t>
            </a:r>
            <a:endParaRPr lang="en-US" sz="3200"/>
          </a:p>
          <a:p>
            <a:pPr lvl="1" algn="just">
              <a:lnSpc>
                <a:spcPct val="110000"/>
              </a:lnSpc>
            </a:pPr>
            <a:r>
              <a:rPr lang="en-US" sz="3200">
                <a:sym typeface="+mn-ea"/>
              </a:rPr>
              <a:t>Then we return the list of </a:t>
            </a:r>
            <a:r>
              <a:rPr lang="en-US" sz="3200" b="1" i="1">
                <a:sym typeface="+mn-ea"/>
              </a:rPr>
              <a:t>k-1-itemsets</a:t>
            </a:r>
            <a:r>
              <a:rPr lang="en-US" sz="3200">
                <a:sym typeface="+mn-ea"/>
              </a:rPr>
              <a:t>.</a:t>
            </a:r>
            <a:endParaRPr lang="en-US" sz="3200"/>
          </a:p>
          <a:p>
            <a:pPr algn="just"/>
            <a:endParaRPr lang="en-US" sz="3200"/>
          </a:p>
        </p:txBody>
      </p:sp>
      <p:sp>
        <p:nvSpPr>
          <p:cNvPr id="650242" name="Title 650241"/>
          <p:cNvSpPr>
            <a:spLocks noGrp="1"/>
          </p:cNvSpPr>
          <p:nvPr/>
        </p:nvSpPr>
        <p:spPr>
          <a:xfrm>
            <a:off x="318453" y="161290"/>
            <a:ext cx="8001000" cy="990600"/>
          </a:xfrm>
          <a:prstGeom prst="rect">
            <a:avLst/>
          </a:prstGeom>
        </p:spPr>
        <p:txBody>
          <a:bodyPr vert="horz" wrap="square" lIns="92075" tIns="46038" rIns="92075" bIns="46038"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GB" b="1"/>
              <a:t>How do we do that?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4335" y="375920"/>
            <a:ext cx="10515600" cy="879475"/>
          </a:xfrm>
        </p:spPr>
        <p:txBody>
          <a:bodyPr/>
          <a:lstStyle/>
          <a:p>
            <a:r>
              <a:rPr lang="en-US" b="1"/>
              <a:t>KEY CONCEPTS</a:t>
            </a:r>
          </a:p>
        </p:txBody>
      </p:sp>
      <p:sp>
        <p:nvSpPr>
          <p:cNvPr id="3" name="Content Placeholder 2"/>
          <p:cNvSpPr>
            <a:spLocks noGrp="1"/>
          </p:cNvSpPr>
          <p:nvPr>
            <p:ph idx="1"/>
          </p:nvPr>
        </p:nvSpPr>
        <p:spPr>
          <a:xfrm>
            <a:off x="394335" y="1511935"/>
            <a:ext cx="11555095" cy="4351655"/>
          </a:xfrm>
        </p:spPr>
        <p:txBody>
          <a:bodyPr/>
          <a:lstStyle/>
          <a:p>
            <a:pPr marL="0" indent="0">
              <a:lnSpc>
                <a:spcPct val="140000"/>
              </a:lnSpc>
              <a:buNone/>
            </a:pPr>
            <a:r>
              <a:rPr lang="en-US"/>
              <a:t>• Frequent Itemsets: All the sets which contain the item with the minimum support (denoted by </a:t>
            </a:r>
            <a:r>
              <a:rPr lang="en-US" i="1"/>
              <a:t>L</a:t>
            </a:r>
            <a:r>
              <a:rPr lang="en-US" baseline="-25000"/>
              <a:t>𝑖</a:t>
            </a:r>
            <a:r>
              <a:rPr lang="en-US"/>
              <a:t> for </a:t>
            </a:r>
            <a:r>
              <a:rPr lang="en-US" i="1"/>
              <a:t>i</a:t>
            </a:r>
            <a:r>
              <a:rPr lang="en-US" i="1" baseline="30000"/>
              <a:t>th</a:t>
            </a:r>
            <a:r>
              <a:rPr lang="en-US"/>
              <a:t> itemset).</a:t>
            </a:r>
          </a:p>
          <a:p>
            <a:pPr marL="0" indent="0">
              <a:lnSpc>
                <a:spcPct val="140000"/>
              </a:lnSpc>
              <a:buNone/>
            </a:pPr>
            <a:r>
              <a:rPr lang="en-US"/>
              <a:t>• Apriori Property: Any subset of frequent itemset must be frequent.</a:t>
            </a:r>
          </a:p>
          <a:p>
            <a:pPr marL="0" indent="0">
              <a:lnSpc>
                <a:spcPct val="140000"/>
              </a:lnSpc>
              <a:buNone/>
            </a:pPr>
            <a:r>
              <a:rPr lang="en-US"/>
              <a:t>• Join Operation: To find </a:t>
            </a:r>
            <a:r>
              <a:rPr lang="en-US" i="1"/>
              <a:t>L</a:t>
            </a:r>
            <a:r>
              <a:rPr lang="en-US" i="1" baseline="-25000"/>
              <a:t>k</a:t>
            </a:r>
            <a:r>
              <a:rPr lang="en-US"/>
              <a:t> , a set of candidate k-itemsets is generated by joining </a:t>
            </a:r>
            <a:r>
              <a:rPr lang="en-US" i="1"/>
              <a:t>L</a:t>
            </a:r>
            <a:r>
              <a:rPr lang="en-US" i="1" baseline="-25000"/>
              <a:t>k-1</a:t>
            </a:r>
            <a:r>
              <a:rPr lang="en-US"/>
              <a:t> with itself.</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7030" y="207010"/>
            <a:ext cx="10515600" cy="811530"/>
          </a:xfrm>
        </p:spPr>
        <p:txBody>
          <a:bodyPr/>
          <a:lstStyle/>
          <a:p>
            <a:r>
              <a:rPr lang="en-US" b="1"/>
              <a:t>APRIORI ALGORITHM EXAMPLE</a:t>
            </a:r>
          </a:p>
        </p:txBody>
      </p:sp>
      <p:pic>
        <p:nvPicPr>
          <p:cNvPr id="4" name="Picture 3"/>
          <p:cNvPicPr>
            <a:picLocks noChangeAspect="1"/>
          </p:cNvPicPr>
          <p:nvPr/>
        </p:nvPicPr>
        <p:blipFill>
          <a:blip r:embed="rId2"/>
          <a:stretch>
            <a:fillRect/>
          </a:stretch>
        </p:blipFill>
        <p:spPr>
          <a:xfrm>
            <a:off x="277495" y="1018540"/>
            <a:ext cx="10979785" cy="564705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1950" y="245745"/>
            <a:ext cx="10515600" cy="791845"/>
          </a:xfrm>
        </p:spPr>
        <p:txBody>
          <a:bodyPr/>
          <a:lstStyle/>
          <a:p>
            <a:r>
              <a:rPr lang="en-US" b="1"/>
              <a:t>The Apriori Algorithm : Pseudo Code</a:t>
            </a:r>
          </a:p>
        </p:txBody>
      </p:sp>
      <p:pic>
        <p:nvPicPr>
          <p:cNvPr id="4" name="Picture 3"/>
          <p:cNvPicPr>
            <a:picLocks noChangeAspect="1"/>
          </p:cNvPicPr>
          <p:nvPr/>
        </p:nvPicPr>
        <p:blipFill>
          <a:blip r:embed="rId2">
            <a:lum bright="-30000" contrast="54000"/>
          </a:blip>
          <a:stretch>
            <a:fillRect/>
          </a:stretch>
        </p:blipFill>
        <p:spPr>
          <a:xfrm>
            <a:off x="361950" y="1156335"/>
            <a:ext cx="11413490" cy="521779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28673"/>
          <p:cNvSpPr>
            <a:spLocks noGrp="1"/>
          </p:cNvSpPr>
          <p:nvPr/>
        </p:nvSpPr>
        <p:spPr>
          <a:xfrm>
            <a:off x="317500" y="339090"/>
            <a:ext cx="7772400" cy="609600"/>
          </a:xfrm>
          <a:prstGeom prst="rect">
            <a:avLst/>
          </a:prstGeom>
          <a:noFill/>
          <a:ln w="9525">
            <a:noFill/>
          </a:ln>
        </p:spPr>
        <p:txBody>
          <a:bodyPr anchor="ctr"/>
          <a:lstStyle>
            <a:lvl1pPr marL="0" lvl="0" indent="0" algn="ctr" defTabSz="914400" rtl="0" eaLnBrk="0" fontAlgn="base" latinLnBrk="0" hangingPunct="0">
              <a:lnSpc>
                <a:spcPct val="100000"/>
              </a:lnSpc>
              <a:spcBef>
                <a:spcPct val="0"/>
              </a:spcBef>
              <a:spcAft>
                <a:spcPct val="0"/>
              </a:spcAft>
              <a:buNone/>
              <a:defRPr sz="3600" b="0" i="0" u="none" kern="1200" baseline="0">
                <a:solidFill>
                  <a:schemeClr val="tx2"/>
                </a:solidFill>
                <a:latin typeface="+mj-lt"/>
                <a:ea typeface="+mj-ea"/>
                <a:cs typeface="+mj-cs"/>
              </a:defRPr>
            </a:lvl1pPr>
          </a:lstStyle>
          <a:p>
            <a:pPr algn="l" eaLnBrk="1" fontAlgn="auto" hangingPunct="1">
              <a:lnSpc>
                <a:spcPct val="90000"/>
              </a:lnSpc>
            </a:pPr>
            <a:r>
              <a:rPr lang="en-US" sz="4400" b="1">
                <a:solidFill>
                  <a:schemeClr val="tx1"/>
                </a:solidFill>
              </a:rPr>
              <a:t>Apriori’s Candidate Generation</a:t>
            </a:r>
          </a:p>
        </p:txBody>
      </p:sp>
      <p:sp>
        <p:nvSpPr>
          <p:cNvPr id="28675" name="Text Placeholder 28674"/>
          <p:cNvSpPr>
            <a:spLocks noGrp="1"/>
          </p:cNvSpPr>
          <p:nvPr/>
        </p:nvSpPr>
        <p:spPr>
          <a:xfrm>
            <a:off x="502920" y="1544320"/>
            <a:ext cx="11135360" cy="4724400"/>
          </a:xfrm>
          <a:prstGeom prst="rect">
            <a:avLst/>
          </a:prstGeom>
          <a:noFill/>
          <a:ln w="9525">
            <a:noFill/>
          </a:ln>
        </p:spPr>
        <p:txBody>
          <a:bodyPr/>
          <a:lstStyle>
            <a:lvl1pPr marL="342900" lvl="0" indent="-342900" algn="l" defTabSz="914400" rtl="0" eaLnBrk="0" fontAlgn="base" latinLnBrk="0" hangingPunct="0">
              <a:lnSpc>
                <a:spcPct val="100000"/>
              </a:lnSpc>
              <a:spcBef>
                <a:spcPct val="20000"/>
              </a:spcBef>
              <a:spcAft>
                <a:spcPct val="0"/>
              </a:spcAft>
              <a:buChar char="•"/>
              <a:defRPr sz="2800" b="0" i="0" u="none" kern="1200" baseline="0">
                <a:solidFill>
                  <a:schemeClr val="tx1"/>
                </a:solidFill>
                <a:latin typeface="+mn-lt"/>
                <a:ea typeface="+mn-ea"/>
                <a:cs typeface="+mn-cs"/>
              </a:defRPr>
            </a:lvl1pPr>
            <a:lvl2pPr marL="742950" lvl="1" indent="-285750" algn="l" defTabSz="914400" rtl="0" eaLnBrk="0" fontAlgn="base" latinLnBrk="0" hangingPunct="0">
              <a:lnSpc>
                <a:spcPct val="100000"/>
              </a:lnSpc>
              <a:spcBef>
                <a:spcPct val="20000"/>
              </a:spcBef>
              <a:spcAft>
                <a:spcPct val="0"/>
              </a:spcAft>
              <a:buChar char="–"/>
              <a:defRPr sz="2400" b="0" i="0" u="none" kern="1200" baseline="0">
                <a:solidFill>
                  <a:schemeClr val="tx1"/>
                </a:solidFill>
                <a:latin typeface="+mn-lt"/>
                <a:ea typeface="+mn-ea"/>
                <a:cs typeface="+mn-cs"/>
              </a:defRPr>
            </a:lvl2pPr>
            <a:lvl3pPr marL="1143000" lvl="2" indent="-22860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mn-lt"/>
                <a:ea typeface="+mn-ea"/>
                <a:cs typeface="+mn-cs"/>
              </a:defRPr>
            </a:lvl3pPr>
            <a:lvl4pPr marL="1600200" lvl="3" indent="-22860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mn-lt"/>
                <a:ea typeface="+mn-ea"/>
                <a:cs typeface="+mn-cs"/>
              </a:defRPr>
            </a:lvl9pPr>
          </a:lstStyle>
          <a:p>
            <a:r>
              <a:rPr sz="2800"/>
              <a:t>For k=1, C</a:t>
            </a:r>
            <a:r>
              <a:rPr sz="2800" baseline="-25000"/>
              <a:t>1</a:t>
            </a:r>
            <a:r>
              <a:rPr sz="2800"/>
              <a:t> = all 1-itemsets.</a:t>
            </a:r>
          </a:p>
          <a:p>
            <a:r>
              <a:rPr sz="2800"/>
              <a:t>For k&gt;1, generate C</a:t>
            </a:r>
            <a:r>
              <a:rPr sz="2800" baseline="-25000"/>
              <a:t>k</a:t>
            </a:r>
            <a:r>
              <a:rPr sz="2800"/>
              <a:t> from L</a:t>
            </a:r>
            <a:r>
              <a:rPr sz="2800" baseline="-25000"/>
              <a:t>k-1</a:t>
            </a:r>
            <a:r>
              <a:rPr sz="2800"/>
              <a:t> as follows:</a:t>
            </a:r>
          </a:p>
          <a:p>
            <a:pPr lvl="1"/>
            <a:r>
              <a:rPr sz="2800" i="1"/>
              <a:t>The join step</a:t>
            </a:r>
          </a:p>
          <a:p>
            <a:pPr lvl="1">
              <a:buNone/>
            </a:pPr>
            <a:r>
              <a:rPr sz="2800"/>
              <a:t>	C</a:t>
            </a:r>
            <a:r>
              <a:rPr sz="2800" baseline="-25000"/>
              <a:t>k</a:t>
            </a:r>
            <a:r>
              <a:rPr sz="2800"/>
              <a:t> = k-2 way join of L</a:t>
            </a:r>
            <a:r>
              <a:rPr sz="2800" baseline="-25000"/>
              <a:t>k-1 </a:t>
            </a:r>
            <a:r>
              <a:rPr sz="2800"/>
              <a:t>with itself</a:t>
            </a:r>
          </a:p>
          <a:p>
            <a:pPr lvl="1">
              <a:buNone/>
            </a:pPr>
            <a:r>
              <a:rPr sz="2800"/>
              <a:t>	If both {a</a:t>
            </a:r>
            <a:r>
              <a:rPr sz="2800" baseline="-25000"/>
              <a:t>1</a:t>
            </a:r>
            <a:r>
              <a:rPr sz="2800"/>
              <a:t>, …,a</a:t>
            </a:r>
            <a:r>
              <a:rPr sz="2800" baseline="-25000"/>
              <a:t>k-2</a:t>
            </a:r>
            <a:r>
              <a:rPr sz="2800"/>
              <a:t>, a</a:t>
            </a:r>
            <a:r>
              <a:rPr sz="2800" baseline="-25000"/>
              <a:t>k-1</a:t>
            </a:r>
            <a:r>
              <a:rPr sz="2800"/>
              <a:t>} &amp; {a</a:t>
            </a:r>
            <a:r>
              <a:rPr sz="2800" baseline="-25000"/>
              <a:t>1</a:t>
            </a:r>
            <a:r>
              <a:rPr sz="2800"/>
              <a:t>, …, a</a:t>
            </a:r>
            <a:r>
              <a:rPr sz="2800" baseline="-25000"/>
              <a:t>k-2</a:t>
            </a:r>
            <a:r>
              <a:rPr sz="2800" err="1"/>
              <a:t>, a</a:t>
            </a:r>
            <a:r>
              <a:rPr sz="2800" baseline="-25000" err="1"/>
              <a:t>k</a:t>
            </a:r>
            <a:r>
              <a:rPr sz="2800"/>
              <a:t>} are in L</a:t>
            </a:r>
            <a:r>
              <a:rPr sz="2800" baseline="-25000"/>
              <a:t>k-1</a:t>
            </a:r>
            <a:r>
              <a:rPr sz="2800"/>
              <a:t>, </a:t>
            </a:r>
          </a:p>
          <a:p>
            <a:pPr lvl="1">
              <a:buNone/>
            </a:pPr>
            <a:r>
              <a:rPr sz="2800"/>
              <a:t>       then add {a</a:t>
            </a:r>
            <a:r>
              <a:rPr sz="2800" baseline="-25000"/>
              <a:t>1</a:t>
            </a:r>
            <a:r>
              <a:rPr sz="2800"/>
              <a:t>, …,a</a:t>
            </a:r>
            <a:r>
              <a:rPr sz="2800" baseline="-25000"/>
              <a:t>k-2</a:t>
            </a:r>
            <a:r>
              <a:rPr sz="2800"/>
              <a:t>, a</a:t>
            </a:r>
            <a:r>
              <a:rPr sz="2800" baseline="-25000"/>
              <a:t>k-1</a:t>
            </a:r>
            <a:r>
              <a:rPr sz="2800" err="1"/>
              <a:t>, a</a:t>
            </a:r>
            <a:r>
              <a:rPr sz="2800" baseline="-25000" err="1"/>
              <a:t>k</a:t>
            </a:r>
            <a:r>
              <a:rPr sz="2800"/>
              <a:t>} to C</a:t>
            </a:r>
            <a:r>
              <a:rPr sz="2800" baseline="-25000"/>
              <a:t>k</a:t>
            </a:r>
          </a:p>
          <a:p>
            <a:pPr lvl="1">
              <a:buNone/>
            </a:pPr>
            <a:r>
              <a:rPr sz="2800" baseline="-25000"/>
              <a:t>	</a:t>
            </a:r>
            <a:r>
              <a:rPr sz="2800"/>
              <a:t>(We keep items </a:t>
            </a:r>
            <a:r>
              <a:rPr sz="2800" b="1"/>
              <a:t>sorted</a:t>
            </a:r>
            <a:r>
              <a:rPr sz="2800"/>
              <a:t>).</a:t>
            </a:r>
          </a:p>
          <a:p>
            <a:pPr lvl="1"/>
            <a:r>
              <a:rPr sz="2800" i="1"/>
              <a:t>The prune step</a:t>
            </a:r>
            <a:r>
              <a:rPr sz="2800"/>
              <a:t> </a:t>
            </a:r>
          </a:p>
          <a:p>
            <a:pPr lvl="1">
              <a:buNone/>
            </a:pPr>
            <a:r>
              <a:rPr sz="2800"/>
              <a:t>	Remove {a</a:t>
            </a:r>
            <a:r>
              <a:rPr sz="2800" baseline="-25000"/>
              <a:t>1</a:t>
            </a:r>
            <a:r>
              <a:rPr sz="2800"/>
              <a:t>, …,a</a:t>
            </a:r>
            <a:r>
              <a:rPr sz="2800" baseline="-25000"/>
              <a:t>k-2</a:t>
            </a:r>
            <a:r>
              <a:rPr sz="2800"/>
              <a:t>, a</a:t>
            </a:r>
            <a:r>
              <a:rPr sz="2800" baseline="-25000"/>
              <a:t>k-1</a:t>
            </a:r>
            <a:r>
              <a:rPr sz="2800" err="1"/>
              <a:t>, a</a:t>
            </a:r>
            <a:r>
              <a:rPr sz="2800" baseline="-25000" err="1"/>
              <a:t>k</a:t>
            </a:r>
            <a:r>
              <a:rPr sz="2800"/>
              <a:t>} if it contains a non-frequent (k-1) subset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29697"/>
          <p:cNvSpPr>
            <a:spLocks noGrp="1"/>
          </p:cNvSpPr>
          <p:nvPr>
            <p:ph type="title"/>
          </p:nvPr>
        </p:nvSpPr>
        <p:spPr>
          <a:xfrm>
            <a:off x="232410" y="245745"/>
            <a:ext cx="10515600" cy="947420"/>
          </a:xfrm>
        </p:spPr>
        <p:txBody>
          <a:bodyPr anchor="ctr"/>
          <a:lstStyle/>
          <a:p>
            <a:pPr algn="l"/>
            <a:r>
              <a:rPr lang="en-US" sz="4400" b="1"/>
              <a:t>Example – Finding frequent itemsets</a:t>
            </a:r>
          </a:p>
        </p:txBody>
      </p:sp>
      <p:sp>
        <p:nvSpPr>
          <p:cNvPr id="29700" name="Rectangle 29699"/>
          <p:cNvSpPr/>
          <p:nvPr/>
        </p:nvSpPr>
        <p:spPr>
          <a:xfrm>
            <a:off x="448310" y="1524000"/>
            <a:ext cx="7772400" cy="4267200"/>
          </a:xfrm>
          <a:prstGeom prst="rect">
            <a:avLst/>
          </a:prstGeom>
          <a:noFill/>
          <a:ln w="9525">
            <a:noFill/>
          </a:ln>
        </p:spPr>
        <p:txBody>
          <a:bodyPr/>
          <a:lstStyle>
            <a:lvl1pPr marL="342900" lvl="0" indent="-342900" algn="l" defTabSz="914400" rtl="0" eaLnBrk="0" fontAlgn="base" latinLnBrk="0" hangingPunct="0">
              <a:lnSpc>
                <a:spcPct val="100000"/>
              </a:lnSpc>
              <a:spcBef>
                <a:spcPct val="20000"/>
              </a:spcBef>
              <a:spcAft>
                <a:spcPct val="0"/>
              </a:spcAft>
              <a:buChar char="•"/>
              <a:defRPr sz="2800" u="none" kern="1200" baseline="0">
                <a:solidFill>
                  <a:schemeClr val="tx1"/>
                </a:solidFill>
                <a:latin typeface="Times New Roman" panose="02020603050405020304" pitchFamily="18" charset="0"/>
              </a:defRPr>
            </a:lvl1pPr>
            <a:lvl2pPr marL="742950" lvl="1" indent="-285750" algn="l" defTabSz="914400" rtl="0" eaLnBrk="0" fontAlgn="base" latinLnBrk="0" hangingPunct="0">
              <a:lnSpc>
                <a:spcPct val="100000"/>
              </a:lnSpc>
              <a:spcBef>
                <a:spcPct val="20000"/>
              </a:spcBef>
              <a:spcAft>
                <a:spcPct val="0"/>
              </a:spcAft>
              <a:buChar char="–"/>
              <a:defRPr sz="2400" b="0" i="0" u="none" kern="1200" baseline="0">
                <a:solidFill>
                  <a:schemeClr val="tx1"/>
                </a:solidFill>
                <a:latin typeface="Times New Roman" panose="02020603050405020304" pitchFamily="18" charset="0"/>
              </a:defRPr>
            </a:lvl2pPr>
            <a:lvl3pPr marL="1143000" lvl="2" indent="-22860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Times New Roman" panose="02020603050405020304" pitchFamily="18" charset="0"/>
              </a:defRPr>
            </a:lvl3pPr>
            <a:lvl4pPr marL="1600200" lvl="3" indent="-22860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Times New Roman" panose="02020603050405020304" pitchFamily="18" charset="0"/>
              </a:defRPr>
            </a:lvl4pPr>
            <a:lvl5pPr marL="2057400" lvl="4" indent="-22860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Times New Roman" panose="02020603050405020304" pitchFamily="18" charset="0"/>
              </a:defRPr>
            </a:lvl5pPr>
          </a:lstStyle>
          <a:p>
            <a:pPr lvl="0">
              <a:buNone/>
            </a:pPr>
            <a:r>
              <a:t>Dataset D</a:t>
            </a:r>
          </a:p>
          <a:p>
            <a:pPr lvl="0">
              <a:buNone/>
            </a:pPr>
            <a:r>
              <a:t>	</a:t>
            </a:r>
          </a:p>
        </p:txBody>
      </p:sp>
      <p:graphicFrame>
        <p:nvGraphicFramePr>
          <p:cNvPr id="29734" name="Table 29733"/>
          <p:cNvGraphicFramePr/>
          <p:nvPr/>
        </p:nvGraphicFramePr>
        <p:xfrm>
          <a:off x="448310" y="2133600"/>
          <a:ext cx="2208530" cy="2520950"/>
        </p:xfrm>
        <a:graphic>
          <a:graphicData uri="http://schemas.openxmlformats.org/drawingml/2006/table">
            <a:tbl>
              <a:tblPr/>
              <a:tblGrid>
                <a:gridCol w="788670">
                  <a:extLst>
                    <a:ext uri="{9D8B030D-6E8A-4147-A177-3AD203B41FA5}">
                      <a16:colId xmlns:a16="http://schemas.microsoft.com/office/drawing/2014/main" val="20000"/>
                    </a:ext>
                  </a:extLst>
                </a:gridCol>
                <a:gridCol w="1419860">
                  <a:extLst>
                    <a:ext uri="{9D8B030D-6E8A-4147-A177-3AD203B41FA5}">
                      <a16:colId xmlns:a16="http://schemas.microsoft.com/office/drawing/2014/main" val="20001"/>
                    </a:ext>
                  </a:extLst>
                </a:gridCol>
              </a:tblGrid>
              <a:tr h="476250">
                <a:tc>
                  <a:txBody>
                    <a:bodyPr/>
                    <a:lstStyle>
                      <a:lvl1pPr marL="342900" lvl="0" indent="-342900" algn="l" defTabSz="914400" rtl="0" eaLnBrk="0" fontAlgn="base" latinLnBrk="0" hangingPunct="0">
                        <a:lnSpc>
                          <a:spcPct val="100000"/>
                        </a:lnSpc>
                        <a:spcBef>
                          <a:spcPct val="20000"/>
                        </a:spcBef>
                        <a:spcAft>
                          <a:spcPct val="0"/>
                        </a:spcAft>
                        <a:buChar char="•"/>
                        <a:defRPr sz="2400" u="none" kern="1200" baseline="0">
                          <a:solidFill>
                            <a:schemeClr val="tx1"/>
                          </a:solidFill>
                          <a:latin typeface="Times New Roman" panose="02020603050405020304" pitchFamily="18" charset="0"/>
                        </a:defRPr>
                      </a:lvl1pPr>
                      <a:lvl2pPr marL="742950" lvl="1" indent="-28575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Times New Roman" panose="02020603050405020304" pitchFamily="18" charset="0"/>
                        </a:defRPr>
                      </a:lvl2pPr>
                      <a:lvl3pPr marL="1143000" lvl="2" indent="-228600" algn="l" defTabSz="914400" rtl="0" eaLnBrk="0" fontAlgn="base" latinLnBrk="0" hangingPunct="0">
                        <a:lnSpc>
                          <a:spcPct val="100000"/>
                        </a:lnSpc>
                        <a:spcBef>
                          <a:spcPct val="20000"/>
                        </a:spcBef>
                        <a:spcAft>
                          <a:spcPct val="0"/>
                        </a:spcAft>
                        <a:buChar char="•"/>
                        <a:defRPr sz="1800" b="0" i="0" u="none" kern="1200" baseline="0">
                          <a:solidFill>
                            <a:schemeClr val="tx1"/>
                          </a:solidFill>
                          <a:latin typeface="Times New Roman" panose="02020603050405020304" pitchFamily="18" charset="0"/>
                        </a:defRPr>
                      </a:lvl3pPr>
                      <a:lvl4pPr marL="1600200" lvl="3" indent="-228600" algn="l" defTabSz="914400" rtl="0" eaLnBrk="0" fontAlgn="base" latinLnBrk="0" hangingPunct="0">
                        <a:lnSpc>
                          <a:spcPct val="100000"/>
                        </a:lnSpc>
                        <a:spcBef>
                          <a:spcPct val="20000"/>
                        </a:spcBef>
                        <a:spcAft>
                          <a:spcPct val="0"/>
                        </a:spcAft>
                        <a:buChar char="–"/>
                        <a:defRPr sz="1800" b="0" i="0" u="none" kern="1200" baseline="0">
                          <a:solidFill>
                            <a:schemeClr val="tx1"/>
                          </a:solidFill>
                          <a:latin typeface="Times New Roman" panose="02020603050405020304" pitchFamily="18" charset="0"/>
                        </a:defRPr>
                      </a:lvl4pPr>
                      <a:lvl5pPr marL="2057400" lvl="4" indent="-228600" algn="l" defTabSz="914400" rtl="0" eaLnBrk="0" fontAlgn="base" latinLnBrk="0" hangingPunct="0">
                        <a:lnSpc>
                          <a:spcPct val="100000"/>
                        </a:lnSpc>
                        <a:spcBef>
                          <a:spcPct val="20000"/>
                        </a:spcBef>
                        <a:spcAft>
                          <a:spcPct val="0"/>
                        </a:spcAft>
                        <a:buChar char="»"/>
                        <a:defRPr sz="1800" b="0" i="0" u="none" kern="1200" baseline="0">
                          <a:solidFill>
                            <a:schemeClr val="tx1"/>
                          </a:solidFill>
                          <a:latin typeface="Times New Roman" panose="02020603050405020304" pitchFamily="18" charset="0"/>
                        </a:defRPr>
                      </a:lvl5pPr>
                    </a:lstStyle>
                    <a:p>
                      <a:pPr marL="0" lvl="0" indent="0">
                        <a:buNone/>
                      </a:pPr>
                      <a:r>
                        <a:rPr sz="1800" b="1"/>
                        <a:t>TID</a:t>
                      </a:r>
                      <a:endParaRPr lang="en-US" sz="1800" b="1"/>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0" fontAlgn="base" latinLnBrk="0" hangingPunct="0">
                        <a:lnSpc>
                          <a:spcPct val="100000"/>
                        </a:lnSpc>
                        <a:spcBef>
                          <a:spcPct val="20000"/>
                        </a:spcBef>
                        <a:spcAft>
                          <a:spcPct val="0"/>
                        </a:spcAft>
                        <a:buChar char="•"/>
                        <a:defRPr sz="2400" u="none" kern="1200" baseline="0">
                          <a:solidFill>
                            <a:schemeClr val="tx1"/>
                          </a:solidFill>
                          <a:latin typeface="Times New Roman" panose="02020603050405020304" pitchFamily="18" charset="0"/>
                        </a:defRPr>
                      </a:lvl1pPr>
                      <a:lvl2pPr marL="742950" lvl="1" indent="-28575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Times New Roman" panose="02020603050405020304" pitchFamily="18" charset="0"/>
                        </a:defRPr>
                      </a:lvl2pPr>
                      <a:lvl3pPr marL="1143000" lvl="2" indent="-228600" algn="l" defTabSz="914400" rtl="0" eaLnBrk="0" fontAlgn="base" latinLnBrk="0" hangingPunct="0">
                        <a:lnSpc>
                          <a:spcPct val="100000"/>
                        </a:lnSpc>
                        <a:spcBef>
                          <a:spcPct val="20000"/>
                        </a:spcBef>
                        <a:spcAft>
                          <a:spcPct val="0"/>
                        </a:spcAft>
                        <a:buChar char="•"/>
                        <a:defRPr sz="1800" b="0" i="0" u="none" kern="1200" baseline="0">
                          <a:solidFill>
                            <a:schemeClr val="tx1"/>
                          </a:solidFill>
                          <a:latin typeface="Times New Roman" panose="02020603050405020304" pitchFamily="18" charset="0"/>
                        </a:defRPr>
                      </a:lvl3pPr>
                      <a:lvl4pPr marL="1600200" lvl="3" indent="-228600" algn="l" defTabSz="914400" rtl="0" eaLnBrk="0" fontAlgn="base" latinLnBrk="0" hangingPunct="0">
                        <a:lnSpc>
                          <a:spcPct val="100000"/>
                        </a:lnSpc>
                        <a:spcBef>
                          <a:spcPct val="20000"/>
                        </a:spcBef>
                        <a:spcAft>
                          <a:spcPct val="0"/>
                        </a:spcAft>
                        <a:buChar char="–"/>
                        <a:defRPr sz="1800" b="0" i="0" u="none" kern="1200" baseline="0">
                          <a:solidFill>
                            <a:schemeClr val="tx1"/>
                          </a:solidFill>
                          <a:latin typeface="Times New Roman" panose="02020603050405020304" pitchFamily="18" charset="0"/>
                        </a:defRPr>
                      </a:lvl4pPr>
                      <a:lvl5pPr marL="2057400" lvl="4" indent="-228600" algn="l" defTabSz="914400" rtl="0" eaLnBrk="0" fontAlgn="base" latinLnBrk="0" hangingPunct="0">
                        <a:lnSpc>
                          <a:spcPct val="100000"/>
                        </a:lnSpc>
                        <a:spcBef>
                          <a:spcPct val="20000"/>
                        </a:spcBef>
                        <a:spcAft>
                          <a:spcPct val="0"/>
                        </a:spcAft>
                        <a:buChar char="»"/>
                        <a:defRPr sz="1800" b="0" i="0" u="none" kern="1200" baseline="0">
                          <a:solidFill>
                            <a:schemeClr val="tx1"/>
                          </a:solidFill>
                          <a:latin typeface="Times New Roman" panose="02020603050405020304" pitchFamily="18" charset="0"/>
                        </a:defRPr>
                      </a:lvl5pPr>
                    </a:lstStyle>
                    <a:p>
                      <a:pPr marL="0" lvl="0" indent="0">
                        <a:buNone/>
                      </a:pPr>
                      <a:r>
                        <a:rPr sz="1800" b="1"/>
                        <a:t>Items</a:t>
                      </a:r>
                      <a:endParaRPr lang="en-US" sz="1800" b="1"/>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6255">
                <a:tc>
                  <a:txBody>
                    <a:bodyPr/>
                    <a:lstStyle>
                      <a:lvl1pPr marL="342900" lvl="0" indent="-342900" algn="l" defTabSz="914400" rtl="0" eaLnBrk="0" fontAlgn="base" latinLnBrk="0" hangingPunct="0">
                        <a:lnSpc>
                          <a:spcPct val="100000"/>
                        </a:lnSpc>
                        <a:spcBef>
                          <a:spcPct val="20000"/>
                        </a:spcBef>
                        <a:spcAft>
                          <a:spcPct val="0"/>
                        </a:spcAft>
                        <a:buChar char="•"/>
                        <a:defRPr sz="2400" u="none" kern="1200" baseline="0">
                          <a:solidFill>
                            <a:schemeClr val="tx1"/>
                          </a:solidFill>
                          <a:latin typeface="Times New Roman" panose="02020603050405020304" pitchFamily="18" charset="0"/>
                        </a:defRPr>
                      </a:lvl1pPr>
                      <a:lvl2pPr marL="742950" lvl="1" indent="-28575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Times New Roman" panose="02020603050405020304" pitchFamily="18" charset="0"/>
                        </a:defRPr>
                      </a:lvl2pPr>
                      <a:lvl3pPr marL="1143000" lvl="2" indent="-228600" algn="l" defTabSz="914400" rtl="0" eaLnBrk="0" fontAlgn="base" latinLnBrk="0" hangingPunct="0">
                        <a:lnSpc>
                          <a:spcPct val="100000"/>
                        </a:lnSpc>
                        <a:spcBef>
                          <a:spcPct val="20000"/>
                        </a:spcBef>
                        <a:spcAft>
                          <a:spcPct val="0"/>
                        </a:spcAft>
                        <a:buChar char="•"/>
                        <a:defRPr sz="1800" b="0" i="0" u="none" kern="1200" baseline="0">
                          <a:solidFill>
                            <a:schemeClr val="tx1"/>
                          </a:solidFill>
                          <a:latin typeface="Times New Roman" panose="02020603050405020304" pitchFamily="18" charset="0"/>
                        </a:defRPr>
                      </a:lvl3pPr>
                      <a:lvl4pPr marL="1600200" lvl="3" indent="-228600" algn="l" defTabSz="914400" rtl="0" eaLnBrk="0" fontAlgn="base" latinLnBrk="0" hangingPunct="0">
                        <a:lnSpc>
                          <a:spcPct val="100000"/>
                        </a:lnSpc>
                        <a:spcBef>
                          <a:spcPct val="20000"/>
                        </a:spcBef>
                        <a:spcAft>
                          <a:spcPct val="0"/>
                        </a:spcAft>
                        <a:buChar char="–"/>
                        <a:defRPr sz="1800" b="0" i="0" u="none" kern="1200" baseline="0">
                          <a:solidFill>
                            <a:schemeClr val="tx1"/>
                          </a:solidFill>
                          <a:latin typeface="Times New Roman" panose="02020603050405020304" pitchFamily="18" charset="0"/>
                        </a:defRPr>
                      </a:lvl4pPr>
                      <a:lvl5pPr marL="2057400" lvl="4" indent="-228600" algn="l" defTabSz="914400" rtl="0" eaLnBrk="0" fontAlgn="base" latinLnBrk="0" hangingPunct="0">
                        <a:lnSpc>
                          <a:spcPct val="100000"/>
                        </a:lnSpc>
                        <a:spcBef>
                          <a:spcPct val="20000"/>
                        </a:spcBef>
                        <a:spcAft>
                          <a:spcPct val="0"/>
                        </a:spcAft>
                        <a:buChar char="»"/>
                        <a:defRPr sz="1800" b="0" i="0" u="none" kern="1200" baseline="0">
                          <a:solidFill>
                            <a:schemeClr val="tx1"/>
                          </a:solidFill>
                          <a:latin typeface="Times New Roman" panose="02020603050405020304" pitchFamily="18" charset="0"/>
                        </a:defRPr>
                      </a:lvl5pPr>
                    </a:lstStyle>
                    <a:p>
                      <a:pPr marL="0" lvl="0" indent="0">
                        <a:buNone/>
                      </a:pPr>
                      <a:r>
                        <a:rPr sz="1800" b="1"/>
                        <a:t>T100</a:t>
                      </a:r>
                      <a:endParaRPr lang="en-US" sz="1800" b="1"/>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0" fontAlgn="base" latinLnBrk="0" hangingPunct="0">
                        <a:lnSpc>
                          <a:spcPct val="100000"/>
                        </a:lnSpc>
                        <a:spcBef>
                          <a:spcPct val="20000"/>
                        </a:spcBef>
                        <a:spcAft>
                          <a:spcPct val="0"/>
                        </a:spcAft>
                        <a:buChar char="•"/>
                        <a:defRPr sz="2400" u="none" kern="1200" baseline="0">
                          <a:solidFill>
                            <a:schemeClr val="tx1"/>
                          </a:solidFill>
                          <a:latin typeface="Times New Roman" panose="02020603050405020304" pitchFamily="18" charset="0"/>
                        </a:defRPr>
                      </a:lvl1pPr>
                      <a:lvl2pPr marL="742950" lvl="1" indent="-28575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Times New Roman" panose="02020603050405020304" pitchFamily="18" charset="0"/>
                        </a:defRPr>
                      </a:lvl2pPr>
                      <a:lvl3pPr marL="1143000" lvl="2" indent="-228600" algn="l" defTabSz="914400" rtl="0" eaLnBrk="0" fontAlgn="base" latinLnBrk="0" hangingPunct="0">
                        <a:lnSpc>
                          <a:spcPct val="100000"/>
                        </a:lnSpc>
                        <a:spcBef>
                          <a:spcPct val="20000"/>
                        </a:spcBef>
                        <a:spcAft>
                          <a:spcPct val="0"/>
                        </a:spcAft>
                        <a:buChar char="•"/>
                        <a:defRPr sz="1800" b="0" i="0" u="none" kern="1200" baseline="0">
                          <a:solidFill>
                            <a:schemeClr val="tx1"/>
                          </a:solidFill>
                          <a:latin typeface="Times New Roman" panose="02020603050405020304" pitchFamily="18" charset="0"/>
                        </a:defRPr>
                      </a:lvl3pPr>
                      <a:lvl4pPr marL="1600200" lvl="3" indent="-228600" algn="l" defTabSz="914400" rtl="0" eaLnBrk="0" fontAlgn="base" latinLnBrk="0" hangingPunct="0">
                        <a:lnSpc>
                          <a:spcPct val="100000"/>
                        </a:lnSpc>
                        <a:spcBef>
                          <a:spcPct val="20000"/>
                        </a:spcBef>
                        <a:spcAft>
                          <a:spcPct val="0"/>
                        </a:spcAft>
                        <a:buChar char="–"/>
                        <a:defRPr sz="1800" b="0" i="0" u="none" kern="1200" baseline="0">
                          <a:solidFill>
                            <a:schemeClr val="tx1"/>
                          </a:solidFill>
                          <a:latin typeface="Times New Roman" panose="02020603050405020304" pitchFamily="18" charset="0"/>
                        </a:defRPr>
                      </a:lvl4pPr>
                      <a:lvl5pPr marL="2057400" lvl="4" indent="-228600" algn="l" defTabSz="914400" rtl="0" eaLnBrk="0" fontAlgn="base" latinLnBrk="0" hangingPunct="0">
                        <a:lnSpc>
                          <a:spcPct val="100000"/>
                        </a:lnSpc>
                        <a:spcBef>
                          <a:spcPct val="20000"/>
                        </a:spcBef>
                        <a:spcAft>
                          <a:spcPct val="0"/>
                        </a:spcAft>
                        <a:buChar char="»"/>
                        <a:defRPr sz="1800" b="0" i="0" u="none" kern="1200" baseline="0">
                          <a:solidFill>
                            <a:schemeClr val="tx1"/>
                          </a:solidFill>
                          <a:latin typeface="Times New Roman" panose="02020603050405020304" pitchFamily="18" charset="0"/>
                        </a:defRPr>
                      </a:lvl5pPr>
                    </a:lstStyle>
                    <a:p>
                      <a:pPr marL="0" lvl="0" indent="0">
                        <a:buNone/>
                      </a:pPr>
                      <a:r>
                        <a:rPr sz="1800" b="1"/>
                        <a:t>a1 a3 a4</a:t>
                      </a:r>
                      <a:endParaRPr lang="en-US" sz="1800" b="1"/>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58165">
                <a:tc>
                  <a:txBody>
                    <a:bodyPr/>
                    <a:lstStyle>
                      <a:lvl1pPr marL="342900" lvl="0" indent="-342900" algn="l" defTabSz="914400" rtl="0" eaLnBrk="0" fontAlgn="base" latinLnBrk="0" hangingPunct="0">
                        <a:lnSpc>
                          <a:spcPct val="100000"/>
                        </a:lnSpc>
                        <a:spcBef>
                          <a:spcPct val="20000"/>
                        </a:spcBef>
                        <a:spcAft>
                          <a:spcPct val="0"/>
                        </a:spcAft>
                        <a:buChar char="•"/>
                        <a:defRPr sz="2400" u="none" kern="1200" baseline="0">
                          <a:solidFill>
                            <a:schemeClr val="tx1"/>
                          </a:solidFill>
                          <a:latin typeface="Times New Roman" panose="02020603050405020304" pitchFamily="18" charset="0"/>
                        </a:defRPr>
                      </a:lvl1pPr>
                      <a:lvl2pPr marL="742950" lvl="1" indent="-28575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Times New Roman" panose="02020603050405020304" pitchFamily="18" charset="0"/>
                        </a:defRPr>
                      </a:lvl2pPr>
                      <a:lvl3pPr marL="1143000" lvl="2" indent="-228600" algn="l" defTabSz="914400" rtl="0" eaLnBrk="0" fontAlgn="base" latinLnBrk="0" hangingPunct="0">
                        <a:lnSpc>
                          <a:spcPct val="100000"/>
                        </a:lnSpc>
                        <a:spcBef>
                          <a:spcPct val="20000"/>
                        </a:spcBef>
                        <a:spcAft>
                          <a:spcPct val="0"/>
                        </a:spcAft>
                        <a:buChar char="•"/>
                        <a:defRPr sz="1800" b="0" i="0" u="none" kern="1200" baseline="0">
                          <a:solidFill>
                            <a:schemeClr val="tx1"/>
                          </a:solidFill>
                          <a:latin typeface="Times New Roman" panose="02020603050405020304" pitchFamily="18" charset="0"/>
                        </a:defRPr>
                      </a:lvl3pPr>
                      <a:lvl4pPr marL="1600200" lvl="3" indent="-228600" algn="l" defTabSz="914400" rtl="0" eaLnBrk="0" fontAlgn="base" latinLnBrk="0" hangingPunct="0">
                        <a:lnSpc>
                          <a:spcPct val="100000"/>
                        </a:lnSpc>
                        <a:spcBef>
                          <a:spcPct val="20000"/>
                        </a:spcBef>
                        <a:spcAft>
                          <a:spcPct val="0"/>
                        </a:spcAft>
                        <a:buChar char="–"/>
                        <a:defRPr sz="1800" b="0" i="0" u="none" kern="1200" baseline="0">
                          <a:solidFill>
                            <a:schemeClr val="tx1"/>
                          </a:solidFill>
                          <a:latin typeface="Times New Roman" panose="02020603050405020304" pitchFamily="18" charset="0"/>
                        </a:defRPr>
                      </a:lvl4pPr>
                      <a:lvl5pPr marL="2057400" lvl="4" indent="-228600" algn="l" defTabSz="914400" rtl="0" eaLnBrk="0" fontAlgn="base" latinLnBrk="0" hangingPunct="0">
                        <a:lnSpc>
                          <a:spcPct val="100000"/>
                        </a:lnSpc>
                        <a:spcBef>
                          <a:spcPct val="20000"/>
                        </a:spcBef>
                        <a:spcAft>
                          <a:spcPct val="0"/>
                        </a:spcAft>
                        <a:buChar char="»"/>
                        <a:defRPr sz="1800" b="0" i="0" u="none" kern="1200" baseline="0">
                          <a:solidFill>
                            <a:schemeClr val="tx1"/>
                          </a:solidFill>
                          <a:latin typeface="Times New Roman" panose="02020603050405020304" pitchFamily="18" charset="0"/>
                        </a:defRPr>
                      </a:lvl5pPr>
                    </a:lstStyle>
                    <a:p>
                      <a:pPr marL="0" lvl="0" indent="0">
                        <a:buNone/>
                      </a:pPr>
                      <a:r>
                        <a:rPr sz="1800" b="1"/>
                        <a:t>T200</a:t>
                      </a:r>
                      <a:endParaRPr lang="en-US" sz="1800" b="1"/>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0" fontAlgn="base" latinLnBrk="0" hangingPunct="0">
                        <a:lnSpc>
                          <a:spcPct val="100000"/>
                        </a:lnSpc>
                        <a:spcBef>
                          <a:spcPct val="20000"/>
                        </a:spcBef>
                        <a:spcAft>
                          <a:spcPct val="0"/>
                        </a:spcAft>
                        <a:buChar char="•"/>
                        <a:defRPr sz="2400" u="none" kern="1200" baseline="0">
                          <a:solidFill>
                            <a:schemeClr val="tx1"/>
                          </a:solidFill>
                          <a:latin typeface="Times New Roman" panose="02020603050405020304" pitchFamily="18" charset="0"/>
                        </a:defRPr>
                      </a:lvl1pPr>
                      <a:lvl2pPr marL="742950" lvl="1" indent="-28575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Times New Roman" panose="02020603050405020304" pitchFamily="18" charset="0"/>
                        </a:defRPr>
                      </a:lvl2pPr>
                      <a:lvl3pPr marL="1143000" lvl="2" indent="-228600" algn="l" defTabSz="914400" rtl="0" eaLnBrk="0" fontAlgn="base" latinLnBrk="0" hangingPunct="0">
                        <a:lnSpc>
                          <a:spcPct val="100000"/>
                        </a:lnSpc>
                        <a:spcBef>
                          <a:spcPct val="20000"/>
                        </a:spcBef>
                        <a:spcAft>
                          <a:spcPct val="0"/>
                        </a:spcAft>
                        <a:buChar char="•"/>
                        <a:defRPr sz="1800" b="0" i="0" u="none" kern="1200" baseline="0">
                          <a:solidFill>
                            <a:schemeClr val="tx1"/>
                          </a:solidFill>
                          <a:latin typeface="Times New Roman" panose="02020603050405020304" pitchFamily="18" charset="0"/>
                        </a:defRPr>
                      </a:lvl3pPr>
                      <a:lvl4pPr marL="1600200" lvl="3" indent="-228600" algn="l" defTabSz="914400" rtl="0" eaLnBrk="0" fontAlgn="base" latinLnBrk="0" hangingPunct="0">
                        <a:lnSpc>
                          <a:spcPct val="100000"/>
                        </a:lnSpc>
                        <a:spcBef>
                          <a:spcPct val="20000"/>
                        </a:spcBef>
                        <a:spcAft>
                          <a:spcPct val="0"/>
                        </a:spcAft>
                        <a:buChar char="–"/>
                        <a:defRPr sz="1800" b="0" i="0" u="none" kern="1200" baseline="0">
                          <a:solidFill>
                            <a:schemeClr val="tx1"/>
                          </a:solidFill>
                          <a:latin typeface="Times New Roman" panose="02020603050405020304" pitchFamily="18" charset="0"/>
                        </a:defRPr>
                      </a:lvl4pPr>
                      <a:lvl5pPr marL="2057400" lvl="4" indent="-228600" algn="l" defTabSz="914400" rtl="0" eaLnBrk="0" fontAlgn="base" latinLnBrk="0" hangingPunct="0">
                        <a:lnSpc>
                          <a:spcPct val="100000"/>
                        </a:lnSpc>
                        <a:spcBef>
                          <a:spcPct val="20000"/>
                        </a:spcBef>
                        <a:spcAft>
                          <a:spcPct val="0"/>
                        </a:spcAft>
                        <a:buChar char="»"/>
                        <a:defRPr sz="1800" b="0" i="0" u="none" kern="1200" baseline="0">
                          <a:solidFill>
                            <a:schemeClr val="tx1"/>
                          </a:solidFill>
                          <a:latin typeface="Times New Roman" panose="02020603050405020304" pitchFamily="18" charset="0"/>
                        </a:defRPr>
                      </a:lvl5pPr>
                    </a:lstStyle>
                    <a:p>
                      <a:pPr marL="0" lvl="0" indent="0">
                        <a:buNone/>
                      </a:pPr>
                      <a:r>
                        <a:rPr sz="1800" b="1"/>
                        <a:t>a2 a3 a5</a:t>
                      </a:r>
                      <a:endParaRPr lang="en-US" sz="1800" b="1"/>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76250">
                <a:tc>
                  <a:txBody>
                    <a:bodyPr/>
                    <a:lstStyle>
                      <a:lvl1pPr marL="342900" lvl="0" indent="-342900" algn="l" defTabSz="914400" rtl="0" eaLnBrk="0" fontAlgn="base" latinLnBrk="0" hangingPunct="0">
                        <a:lnSpc>
                          <a:spcPct val="100000"/>
                        </a:lnSpc>
                        <a:spcBef>
                          <a:spcPct val="20000"/>
                        </a:spcBef>
                        <a:spcAft>
                          <a:spcPct val="0"/>
                        </a:spcAft>
                        <a:buChar char="•"/>
                        <a:defRPr sz="2400" u="none" kern="1200" baseline="0">
                          <a:solidFill>
                            <a:schemeClr val="tx1"/>
                          </a:solidFill>
                          <a:latin typeface="Times New Roman" panose="02020603050405020304" pitchFamily="18" charset="0"/>
                        </a:defRPr>
                      </a:lvl1pPr>
                      <a:lvl2pPr marL="742950" lvl="1" indent="-28575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Times New Roman" panose="02020603050405020304" pitchFamily="18" charset="0"/>
                        </a:defRPr>
                      </a:lvl2pPr>
                      <a:lvl3pPr marL="1143000" lvl="2" indent="-228600" algn="l" defTabSz="914400" rtl="0" eaLnBrk="0" fontAlgn="base" latinLnBrk="0" hangingPunct="0">
                        <a:lnSpc>
                          <a:spcPct val="100000"/>
                        </a:lnSpc>
                        <a:spcBef>
                          <a:spcPct val="20000"/>
                        </a:spcBef>
                        <a:spcAft>
                          <a:spcPct val="0"/>
                        </a:spcAft>
                        <a:buChar char="•"/>
                        <a:defRPr sz="1800" b="0" i="0" u="none" kern="1200" baseline="0">
                          <a:solidFill>
                            <a:schemeClr val="tx1"/>
                          </a:solidFill>
                          <a:latin typeface="Times New Roman" panose="02020603050405020304" pitchFamily="18" charset="0"/>
                        </a:defRPr>
                      </a:lvl3pPr>
                      <a:lvl4pPr marL="1600200" lvl="3" indent="-228600" algn="l" defTabSz="914400" rtl="0" eaLnBrk="0" fontAlgn="base" latinLnBrk="0" hangingPunct="0">
                        <a:lnSpc>
                          <a:spcPct val="100000"/>
                        </a:lnSpc>
                        <a:spcBef>
                          <a:spcPct val="20000"/>
                        </a:spcBef>
                        <a:spcAft>
                          <a:spcPct val="0"/>
                        </a:spcAft>
                        <a:buChar char="–"/>
                        <a:defRPr sz="1800" b="0" i="0" u="none" kern="1200" baseline="0">
                          <a:solidFill>
                            <a:schemeClr val="tx1"/>
                          </a:solidFill>
                          <a:latin typeface="Times New Roman" panose="02020603050405020304" pitchFamily="18" charset="0"/>
                        </a:defRPr>
                      </a:lvl4pPr>
                      <a:lvl5pPr marL="2057400" lvl="4" indent="-228600" algn="l" defTabSz="914400" rtl="0" eaLnBrk="0" fontAlgn="base" latinLnBrk="0" hangingPunct="0">
                        <a:lnSpc>
                          <a:spcPct val="100000"/>
                        </a:lnSpc>
                        <a:spcBef>
                          <a:spcPct val="20000"/>
                        </a:spcBef>
                        <a:spcAft>
                          <a:spcPct val="0"/>
                        </a:spcAft>
                        <a:buChar char="»"/>
                        <a:defRPr sz="1800" b="0" i="0" u="none" kern="1200" baseline="0">
                          <a:solidFill>
                            <a:schemeClr val="tx1"/>
                          </a:solidFill>
                          <a:latin typeface="Times New Roman" panose="02020603050405020304" pitchFamily="18" charset="0"/>
                        </a:defRPr>
                      </a:lvl5pPr>
                    </a:lstStyle>
                    <a:p>
                      <a:pPr marL="0" lvl="0" indent="0">
                        <a:buNone/>
                      </a:pPr>
                      <a:r>
                        <a:rPr sz="1800" b="1"/>
                        <a:t>T300</a:t>
                      </a:r>
                      <a:endParaRPr lang="en-US" sz="1800" b="1"/>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0" fontAlgn="base" latinLnBrk="0" hangingPunct="0">
                        <a:lnSpc>
                          <a:spcPct val="100000"/>
                        </a:lnSpc>
                        <a:spcBef>
                          <a:spcPct val="20000"/>
                        </a:spcBef>
                        <a:spcAft>
                          <a:spcPct val="0"/>
                        </a:spcAft>
                        <a:buChar char="•"/>
                        <a:defRPr sz="2400" u="none" kern="1200" baseline="0">
                          <a:solidFill>
                            <a:schemeClr val="tx1"/>
                          </a:solidFill>
                          <a:latin typeface="Times New Roman" panose="02020603050405020304" pitchFamily="18" charset="0"/>
                        </a:defRPr>
                      </a:lvl1pPr>
                      <a:lvl2pPr marL="742950" lvl="1" indent="-28575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Times New Roman" panose="02020603050405020304" pitchFamily="18" charset="0"/>
                        </a:defRPr>
                      </a:lvl2pPr>
                      <a:lvl3pPr marL="1143000" lvl="2" indent="-228600" algn="l" defTabSz="914400" rtl="0" eaLnBrk="0" fontAlgn="base" latinLnBrk="0" hangingPunct="0">
                        <a:lnSpc>
                          <a:spcPct val="100000"/>
                        </a:lnSpc>
                        <a:spcBef>
                          <a:spcPct val="20000"/>
                        </a:spcBef>
                        <a:spcAft>
                          <a:spcPct val="0"/>
                        </a:spcAft>
                        <a:buChar char="•"/>
                        <a:defRPr sz="1800" b="0" i="0" u="none" kern="1200" baseline="0">
                          <a:solidFill>
                            <a:schemeClr val="tx1"/>
                          </a:solidFill>
                          <a:latin typeface="Times New Roman" panose="02020603050405020304" pitchFamily="18" charset="0"/>
                        </a:defRPr>
                      </a:lvl3pPr>
                      <a:lvl4pPr marL="1600200" lvl="3" indent="-228600" algn="l" defTabSz="914400" rtl="0" eaLnBrk="0" fontAlgn="base" latinLnBrk="0" hangingPunct="0">
                        <a:lnSpc>
                          <a:spcPct val="100000"/>
                        </a:lnSpc>
                        <a:spcBef>
                          <a:spcPct val="20000"/>
                        </a:spcBef>
                        <a:spcAft>
                          <a:spcPct val="0"/>
                        </a:spcAft>
                        <a:buChar char="–"/>
                        <a:defRPr sz="1800" b="0" i="0" u="none" kern="1200" baseline="0">
                          <a:solidFill>
                            <a:schemeClr val="tx1"/>
                          </a:solidFill>
                          <a:latin typeface="Times New Roman" panose="02020603050405020304" pitchFamily="18" charset="0"/>
                        </a:defRPr>
                      </a:lvl4pPr>
                      <a:lvl5pPr marL="2057400" lvl="4" indent="-228600" algn="l" defTabSz="914400" rtl="0" eaLnBrk="0" fontAlgn="base" latinLnBrk="0" hangingPunct="0">
                        <a:lnSpc>
                          <a:spcPct val="100000"/>
                        </a:lnSpc>
                        <a:spcBef>
                          <a:spcPct val="20000"/>
                        </a:spcBef>
                        <a:spcAft>
                          <a:spcPct val="0"/>
                        </a:spcAft>
                        <a:buChar char="»"/>
                        <a:defRPr sz="1800" b="0" i="0" u="none" kern="1200" baseline="0">
                          <a:solidFill>
                            <a:schemeClr val="tx1"/>
                          </a:solidFill>
                          <a:latin typeface="Times New Roman" panose="02020603050405020304" pitchFamily="18" charset="0"/>
                        </a:defRPr>
                      </a:lvl5pPr>
                    </a:lstStyle>
                    <a:p>
                      <a:pPr marL="0" lvl="0" indent="0">
                        <a:buNone/>
                      </a:pPr>
                      <a:r>
                        <a:rPr sz="1800" b="1"/>
                        <a:t>a1 a2 a3 a5</a:t>
                      </a:r>
                      <a:endParaRPr lang="en-US" sz="1800" b="1"/>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94030">
                <a:tc>
                  <a:txBody>
                    <a:bodyPr/>
                    <a:lstStyle>
                      <a:lvl1pPr marL="342900" lvl="0" indent="-342900" algn="l" defTabSz="914400" rtl="0" eaLnBrk="0" fontAlgn="base" latinLnBrk="0" hangingPunct="0">
                        <a:lnSpc>
                          <a:spcPct val="100000"/>
                        </a:lnSpc>
                        <a:spcBef>
                          <a:spcPct val="20000"/>
                        </a:spcBef>
                        <a:spcAft>
                          <a:spcPct val="0"/>
                        </a:spcAft>
                        <a:buChar char="•"/>
                        <a:defRPr sz="2400" u="none" kern="1200" baseline="0">
                          <a:solidFill>
                            <a:schemeClr val="tx1"/>
                          </a:solidFill>
                          <a:latin typeface="Times New Roman" panose="02020603050405020304" pitchFamily="18" charset="0"/>
                        </a:defRPr>
                      </a:lvl1pPr>
                      <a:lvl2pPr marL="742950" lvl="1" indent="-28575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Times New Roman" panose="02020603050405020304" pitchFamily="18" charset="0"/>
                        </a:defRPr>
                      </a:lvl2pPr>
                      <a:lvl3pPr marL="1143000" lvl="2" indent="-228600" algn="l" defTabSz="914400" rtl="0" eaLnBrk="0" fontAlgn="base" latinLnBrk="0" hangingPunct="0">
                        <a:lnSpc>
                          <a:spcPct val="100000"/>
                        </a:lnSpc>
                        <a:spcBef>
                          <a:spcPct val="20000"/>
                        </a:spcBef>
                        <a:spcAft>
                          <a:spcPct val="0"/>
                        </a:spcAft>
                        <a:buChar char="•"/>
                        <a:defRPr sz="1800" b="0" i="0" u="none" kern="1200" baseline="0">
                          <a:solidFill>
                            <a:schemeClr val="tx1"/>
                          </a:solidFill>
                          <a:latin typeface="Times New Roman" panose="02020603050405020304" pitchFamily="18" charset="0"/>
                        </a:defRPr>
                      </a:lvl3pPr>
                      <a:lvl4pPr marL="1600200" lvl="3" indent="-228600" algn="l" defTabSz="914400" rtl="0" eaLnBrk="0" fontAlgn="base" latinLnBrk="0" hangingPunct="0">
                        <a:lnSpc>
                          <a:spcPct val="100000"/>
                        </a:lnSpc>
                        <a:spcBef>
                          <a:spcPct val="20000"/>
                        </a:spcBef>
                        <a:spcAft>
                          <a:spcPct val="0"/>
                        </a:spcAft>
                        <a:buChar char="–"/>
                        <a:defRPr sz="1800" b="0" i="0" u="none" kern="1200" baseline="0">
                          <a:solidFill>
                            <a:schemeClr val="tx1"/>
                          </a:solidFill>
                          <a:latin typeface="Times New Roman" panose="02020603050405020304" pitchFamily="18" charset="0"/>
                        </a:defRPr>
                      </a:lvl4pPr>
                      <a:lvl5pPr marL="2057400" lvl="4" indent="-228600" algn="l" defTabSz="914400" rtl="0" eaLnBrk="0" fontAlgn="base" latinLnBrk="0" hangingPunct="0">
                        <a:lnSpc>
                          <a:spcPct val="100000"/>
                        </a:lnSpc>
                        <a:spcBef>
                          <a:spcPct val="20000"/>
                        </a:spcBef>
                        <a:spcAft>
                          <a:spcPct val="0"/>
                        </a:spcAft>
                        <a:buChar char="»"/>
                        <a:defRPr sz="1800" b="0" i="0" u="none" kern="1200" baseline="0">
                          <a:solidFill>
                            <a:schemeClr val="tx1"/>
                          </a:solidFill>
                          <a:latin typeface="Times New Roman" panose="02020603050405020304" pitchFamily="18" charset="0"/>
                        </a:defRPr>
                      </a:lvl5pPr>
                    </a:lstStyle>
                    <a:p>
                      <a:pPr marL="0" lvl="0" indent="0">
                        <a:buNone/>
                      </a:pPr>
                      <a:r>
                        <a:rPr sz="1800" b="1"/>
                        <a:t>T400</a:t>
                      </a:r>
                      <a:endParaRPr lang="en-US" sz="1800" b="1"/>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0" fontAlgn="base" latinLnBrk="0" hangingPunct="0">
                        <a:lnSpc>
                          <a:spcPct val="100000"/>
                        </a:lnSpc>
                        <a:spcBef>
                          <a:spcPct val="20000"/>
                        </a:spcBef>
                        <a:spcAft>
                          <a:spcPct val="0"/>
                        </a:spcAft>
                        <a:buChar char="•"/>
                        <a:defRPr sz="2400" u="none" kern="1200" baseline="0">
                          <a:solidFill>
                            <a:schemeClr val="tx1"/>
                          </a:solidFill>
                          <a:latin typeface="Times New Roman" panose="02020603050405020304" pitchFamily="18" charset="0"/>
                        </a:defRPr>
                      </a:lvl1pPr>
                      <a:lvl2pPr marL="742950" lvl="1" indent="-28575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Times New Roman" panose="02020603050405020304" pitchFamily="18" charset="0"/>
                        </a:defRPr>
                      </a:lvl2pPr>
                      <a:lvl3pPr marL="1143000" lvl="2" indent="-228600" algn="l" defTabSz="914400" rtl="0" eaLnBrk="0" fontAlgn="base" latinLnBrk="0" hangingPunct="0">
                        <a:lnSpc>
                          <a:spcPct val="100000"/>
                        </a:lnSpc>
                        <a:spcBef>
                          <a:spcPct val="20000"/>
                        </a:spcBef>
                        <a:spcAft>
                          <a:spcPct val="0"/>
                        </a:spcAft>
                        <a:buChar char="•"/>
                        <a:defRPr sz="1800" b="0" i="0" u="none" kern="1200" baseline="0">
                          <a:solidFill>
                            <a:schemeClr val="tx1"/>
                          </a:solidFill>
                          <a:latin typeface="Times New Roman" panose="02020603050405020304" pitchFamily="18" charset="0"/>
                        </a:defRPr>
                      </a:lvl3pPr>
                      <a:lvl4pPr marL="1600200" lvl="3" indent="-228600" algn="l" defTabSz="914400" rtl="0" eaLnBrk="0" fontAlgn="base" latinLnBrk="0" hangingPunct="0">
                        <a:lnSpc>
                          <a:spcPct val="100000"/>
                        </a:lnSpc>
                        <a:spcBef>
                          <a:spcPct val="20000"/>
                        </a:spcBef>
                        <a:spcAft>
                          <a:spcPct val="0"/>
                        </a:spcAft>
                        <a:buChar char="–"/>
                        <a:defRPr sz="1800" b="0" i="0" u="none" kern="1200" baseline="0">
                          <a:solidFill>
                            <a:schemeClr val="tx1"/>
                          </a:solidFill>
                          <a:latin typeface="Times New Roman" panose="02020603050405020304" pitchFamily="18" charset="0"/>
                        </a:defRPr>
                      </a:lvl4pPr>
                      <a:lvl5pPr marL="2057400" lvl="4" indent="-228600" algn="l" defTabSz="914400" rtl="0" eaLnBrk="0" fontAlgn="base" latinLnBrk="0" hangingPunct="0">
                        <a:lnSpc>
                          <a:spcPct val="100000"/>
                        </a:lnSpc>
                        <a:spcBef>
                          <a:spcPct val="20000"/>
                        </a:spcBef>
                        <a:spcAft>
                          <a:spcPct val="0"/>
                        </a:spcAft>
                        <a:buChar char="»"/>
                        <a:defRPr sz="1800" b="0" i="0" u="none" kern="1200" baseline="0">
                          <a:solidFill>
                            <a:schemeClr val="tx1"/>
                          </a:solidFill>
                          <a:latin typeface="Times New Roman" panose="02020603050405020304" pitchFamily="18" charset="0"/>
                        </a:defRPr>
                      </a:lvl5pPr>
                    </a:lstStyle>
                    <a:p>
                      <a:pPr marL="0" lvl="0" indent="0">
                        <a:buNone/>
                      </a:pPr>
                      <a:r>
                        <a:rPr sz="1800" b="1"/>
                        <a:t>a2 a5</a:t>
                      </a:r>
                      <a:endParaRPr lang="en-US" sz="1800" b="1"/>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29722" name="Text Box 29721"/>
          <p:cNvSpPr txBox="1"/>
          <p:nvPr/>
        </p:nvSpPr>
        <p:spPr>
          <a:xfrm>
            <a:off x="2895600" y="1600200"/>
            <a:ext cx="9189085" cy="4697730"/>
          </a:xfrm>
          <a:prstGeom prst="rect">
            <a:avLst/>
          </a:prstGeom>
          <a:noFill/>
          <a:ln w="9525">
            <a:noFill/>
          </a:ln>
        </p:spPr>
        <p:txBody>
          <a:bodyPr wrap="square">
            <a:spAutoFit/>
          </a:bodyPr>
          <a:lstStyle/>
          <a:p>
            <a:pPr marL="457200" indent="-457200">
              <a:lnSpc>
                <a:spcPct val="90000"/>
              </a:lnSpc>
              <a:spcBef>
                <a:spcPct val="50000"/>
              </a:spcBef>
            </a:pPr>
            <a:r>
              <a:rPr sz="2800"/>
              <a:t>1. scan D </a:t>
            </a:r>
            <a:r>
              <a:rPr sz="2800">
                <a:sym typeface="Wingdings" panose="05000000000000000000" pitchFamily="2" charset="2"/>
              </a:rPr>
              <a:t></a:t>
            </a:r>
            <a:r>
              <a:rPr sz="2800"/>
              <a:t>C</a:t>
            </a:r>
            <a:r>
              <a:rPr sz="2800" baseline="-25000"/>
              <a:t>1</a:t>
            </a:r>
            <a:r>
              <a:rPr sz="2800"/>
              <a:t>: a1:2, a2:3, a3:3, a4:1, a5:3</a:t>
            </a:r>
            <a:endParaRPr sz="2800" baseline="-25000"/>
          </a:p>
          <a:p>
            <a:pPr marL="457200" indent="-457200">
              <a:lnSpc>
                <a:spcPct val="90000"/>
              </a:lnSpc>
              <a:spcBef>
                <a:spcPct val="50000"/>
              </a:spcBef>
            </a:pPr>
            <a:r>
              <a:rPr sz="2800"/>
              <a:t>	           </a:t>
            </a:r>
            <a:r>
              <a:rPr sz="2800">
                <a:sym typeface="Wingdings" panose="05000000000000000000" pitchFamily="2" charset="2"/>
              </a:rPr>
              <a:t> </a:t>
            </a:r>
            <a:r>
              <a:rPr sz="2800"/>
              <a:t>L</a:t>
            </a:r>
            <a:r>
              <a:rPr sz="2800" baseline="-25000"/>
              <a:t>1</a:t>
            </a:r>
            <a:r>
              <a:rPr sz="2800"/>
              <a:t>: a1:2, a2:3, a3:3,         a5:3</a:t>
            </a:r>
          </a:p>
          <a:p>
            <a:pPr marL="457200" indent="-457200">
              <a:lnSpc>
                <a:spcPct val="90000"/>
              </a:lnSpc>
              <a:spcBef>
                <a:spcPct val="50000"/>
              </a:spcBef>
            </a:pPr>
            <a:r>
              <a:rPr sz="2800" baseline="-25000"/>
              <a:t>	                 </a:t>
            </a:r>
            <a:r>
              <a:rPr sz="2800">
                <a:sym typeface="Wingdings" panose="05000000000000000000" pitchFamily="2" charset="2"/>
              </a:rPr>
              <a:t> </a:t>
            </a:r>
            <a:r>
              <a:rPr sz="2800"/>
              <a:t>C</a:t>
            </a:r>
            <a:r>
              <a:rPr sz="2800" baseline="-25000"/>
              <a:t>2</a:t>
            </a:r>
            <a:r>
              <a:rPr sz="2800"/>
              <a:t>: a1a2, a1a3, a1a5, a2a3, a2a5, a3a5</a:t>
            </a:r>
          </a:p>
          <a:p>
            <a:pPr marL="457200" indent="-457200">
              <a:lnSpc>
                <a:spcPct val="90000"/>
              </a:lnSpc>
              <a:spcBef>
                <a:spcPct val="50000"/>
              </a:spcBef>
            </a:pPr>
            <a:r>
              <a:rPr sz="2800"/>
              <a:t>2.</a:t>
            </a:r>
            <a:r>
              <a:rPr sz="2800" baseline="-25000"/>
              <a:t> </a:t>
            </a:r>
            <a:r>
              <a:rPr sz="2800"/>
              <a:t>scan D </a:t>
            </a:r>
            <a:r>
              <a:rPr sz="2800">
                <a:sym typeface="Wingdings" panose="05000000000000000000" pitchFamily="2" charset="2"/>
              </a:rPr>
              <a:t> </a:t>
            </a:r>
            <a:r>
              <a:rPr sz="2800"/>
              <a:t>C</a:t>
            </a:r>
            <a:r>
              <a:rPr sz="2800" baseline="-25000"/>
              <a:t>2</a:t>
            </a:r>
            <a:r>
              <a:rPr sz="2800">
                <a:sym typeface="Wingdings" panose="05000000000000000000" pitchFamily="2" charset="2"/>
              </a:rPr>
              <a:t>: a</a:t>
            </a:r>
            <a:r>
              <a:rPr sz="2800"/>
              <a:t>1a2:1, a1a3:2, a1a5:1, a2a3:2, a2a5:3, a3a5:2</a:t>
            </a:r>
            <a:endParaRPr sz="2800">
              <a:sym typeface="Wingdings" panose="05000000000000000000" pitchFamily="2" charset="2"/>
            </a:endParaRPr>
          </a:p>
          <a:p>
            <a:pPr marL="457200" indent="-457200">
              <a:lnSpc>
                <a:spcPct val="90000"/>
              </a:lnSpc>
              <a:spcBef>
                <a:spcPct val="50000"/>
              </a:spcBef>
            </a:pPr>
            <a:r>
              <a:rPr sz="2800">
                <a:sym typeface="Wingdings" panose="05000000000000000000" pitchFamily="2" charset="2"/>
              </a:rPr>
              <a:t>                  </a:t>
            </a:r>
            <a:r>
              <a:rPr sz="2800"/>
              <a:t>L</a:t>
            </a:r>
            <a:r>
              <a:rPr sz="2800" baseline="-25000"/>
              <a:t>2</a:t>
            </a:r>
            <a:r>
              <a:rPr sz="2800"/>
              <a:t>:  a1a3:2, a2a3:2, a2a5:3, a3a5:2</a:t>
            </a:r>
          </a:p>
          <a:p>
            <a:pPr marL="914400" lvl="1" indent="-457200">
              <a:lnSpc>
                <a:spcPct val="90000"/>
              </a:lnSpc>
              <a:spcBef>
                <a:spcPct val="50000"/>
              </a:spcBef>
            </a:pPr>
            <a:r>
              <a:rPr sz="2800"/>
              <a:t>           </a:t>
            </a:r>
            <a:r>
              <a:rPr sz="2800">
                <a:sym typeface="Wingdings" panose="05000000000000000000" pitchFamily="2" charset="2"/>
              </a:rPr>
              <a:t> </a:t>
            </a:r>
            <a:r>
              <a:rPr sz="2800"/>
              <a:t>C</a:t>
            </a:r>
            <a:r>
              <a:rPr sz="2800" baseline="-25000"/>
              <a:t>3</a:t>
            </a:r>
            <a:r>
              <a:rPr sz="2800"/>
              <a:t>:</a:t>
            </a:r>
            <a:r>
              <a:rPr sz="2800" baseline="-25000"/>
              <a:t> </a:t>
            </a:r>
            <a:r>
              <a:rPr lang="en-US" sz="2800"/>
              <a:t>a1a2a3, a2</a:t>
            </a:r>
            <a:r>
              <a:rPr sz="2800"/>
              <a:t>a3a5</a:t>
            </a:r>
          </a:p>
          <a:p>
            <a:pPr marL="914400" lvl="1" indent="-457200">
              <a:lnSpc>
                <a:spcPct val="90000"/>
              </a:lnSpc>
              <a:spcBef>
                <a:spcPct val="50000"/>
              </a:spcBef>
            </a:pPr>
            <a:r>
              <a:rPr sz="2800" baseline="-25000"/>
              <a:t>                 </a:t>
            </a:r>
            <a:r>
              <a:rPr sz="2800">
                <a:sym typeface="Wingdings" panose="05000000000000000000" pitchFamily="2" charset="2"/>
              </a:rPr>
              <a:t> Pruned </a:t>
            </a:r>
            <a:r>
              <a:rPr sz="2800"/>
              <a:t>C</a:t>
            </a:r>
            <a:r>
              <a:rPr sz="2800" baseline="-25000"/>
              <a:t>3</a:t>
            </a:r>
            <a:r>
              <a:rPr sz="2800"/>
              <a:t>:</a:t>
            </a:r>
            <a:r>
              <a:rPr sz="2800" baseline="-25000"/>
              <a:t>  </a:t>
            </a:r>
            <a:r>
              <a:rPr sz="2800"/>
              <a:t>a</a:t>
            </a:r>
            <a:r>
              <a:rPr lang="en-US" sz="2800"/>
              <a:t>1</a:t>
            </a:r>
            <a:r>
              <a:rPr sz="2800"/>
              <a:t>a</a:t>
            </a:r>
            <a:r>
              <a:rPr lang="en-US" sz="2800"/>
              <a:t>2</a:t>
            </a:r>
            <a:r>
              <a:rPr sz="2800"/>
              <a:t>a</a:t>
            </a:r>
            <a:r>
              <a:rPr lang="en-US" sz="2800"/>
              <a:t>3</a:t>
            </a:r>
            <a:endParaRPr sz="2800"/>
          </a:p>
          <a:p>
            <a:pPr marL="457200" indent="-457200">
              <a:lnSpc>
                <a:spcPct val="90000"/>
              </a:lnSpc>
              <a:spcBef>
                <a:spcPct val="50000"/>
              </a:spcBef>
            </a:pPr>
            <a:r>
              <a:rPr sz="2800"/>
              <a:t>3. scan D </a:t>
            </a:r>
            <a:r>
              <a:rPr sz="2800">
                <a:sym typeface="Wingdings" panose="05000000000000000000" pitchFamily="2" charset="2"/>
              </a:rPr>
              <a:t> </a:t>
            </a:r>
            <a:r>
              <a:rPr sz="2800"/>
              <a:t>L</a:t>
            </a:r>
            <a:r>
              <a:rPr sz="2800" baseline="-25000"/>
              <a:t>3</a:t>
            </a:r>
            <a:r>
              <a:rPr sz="2800"/>
              <a:t>: a2a3a5:2</a:t>
            </a:r>
          </a:p>
        </p:txBody>
      </p:sp>
      <p:sp>
        <p:nvSpPr>
          <p:cNvPr id="29723" name="Text Box 29722"/>
          <p:cNvSpPr txBox="1"/>
          <p:nvPr/>
        </p:nvSpPr>
        <p:spPr>
          <a:xfrm>
            <a:off x="448310" y="5029200"/>
            <a:ext cx="2209165" cy="521970"/>
          </a:xfrm>
          <a:prstGeom prst="rect">
            <a:avLst/>
          </a:prstGeom>
          <a:noFill/>
          <a:ln w="9525">
            <a:noFill/>
          </a:ln>
        </p:spPr>
        <p:txBody>
          <a:bodyPr wrap="square">
            <a:spAutoFit/>
          </a:bodyPr>
          <a:lstStyle/>
          <a:p>
            <a:pPr>
              <a:spcBef>
                <a:spcPct val="50000"/>
              </a:spcBef>
            </a:pPr>
            <a:r>
              <a:rPr sz="2800" err="1">
                <a:solidFill>
                  <a:schemeClr val="tx2"/>
                </a:solidFill>
              </a:rPr>
              <a:t>minSup</a:t>
            </a:r>
            <a:r>
              <a:rPr sz="2800">
                <a:solidFill>
                  <a:schemeClr val="tx2"/>
                </a:solidFill>
              </a:rPr>
              <a:t>=0.5</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40961"/>
          <p:cNvSpPr>
            <a:spLocks noGrp="1"/>
          </p:cNvSpPr>
          <p:nvPr>
            <p:ph type="title"/>
          </p:nvPr>
        </p:nvSpPr>
        <p:spPr>
          <a:xfrm>
            <a:off x="243205" y="267970"/>
            <a:ext cx="10515600" cy="763905"/>
          </a:xfrm>
        </p:spPr>
        <p:txBody>
          <a:bodyPr anchor="ctr"/>
          <a:lstStyle/>
          <a:p>
            <a:pPr algn="l"/>
            <a:r>
              <a:rPr lang="en-US" sz="4400" b="1"/>
              <a:t>Order of items can make difference in porcess</a:t>
            </a:r>
          </a:p>
        </p:txBody>
      </p:sp>
      <p:sp>
        <p:nvSpPr>
          <p:cNvPr id="40964" name="Rectangle 40963"/>
          <p:cNvSpPr/>
          <p:nvPr/>
        </p:nvSpPr>
        <p:spPr>
          <a:xfrm>
            <a:off x="318135" y="1470025"/>
            <a:ext cx="7772400" cy="4267200"/>
          </a:xfrm>
          <a:prstGeom prst="rect">
            <a:avLst/>
          </a:prstGeom>
          <a:noFill/>
          <a:ln w="9525">
            <a:noFill/>
          </a:ln>
        </p:spPr>
        <p:txBody>
          <a:bodyPr/>
          <a:lstStyle>
            <a:lvl1pPr marL="342900" lvl="0" indent="-342900" algn="l" defTabSz="914400" rtl="0" eaLnBrk="0" fontAlgn="base" latinLnBrk="0" hangingPunct="0">
              <a:lnSpc>
                <a:spcPct val="100000"/>
              </a:lnSpc>
              <a:spcBef>
                <a:spcPct val="20000"/>
              </a:spcBef>
              <a:spcAft>
                <a:spcPct val="0"/>
              </a:spcAft>
              <a:buChar char="•"/>
              <a:defRPr sz="2800" u="none" kern="1200" baseline="0">
                <a:solidFill>
                  <a:schemeClr val="tx1"/>
                </a:solidFill>
                <a:latin typeface="Times New Roman" panose="02020603050405020304" pitchFamily="18" charset="0"/>
              </a:defRPr>
            </a:lvl1pPr>
            <a:lvl2pPr marL="742950" lvl="1" indent="-285750" algn="l" defTabSz="914400" rtl="0" eaLnBrk="0" fontAlgn="base" latinLnBrk="0" hangingPunct="0">
              <a:lnSpc>
                <a:spcPct val="100000"/>
              </a:lnSpc>
              <a:spcBef>
                <a:spcPct val="20000"/>
              </a:spcBef>
              <a:spcAft>
                <a:spcPct val="0"/>
              </a:spcAft>
              <a:buChar char="–"/>
              <a:defRPr sz="2400" b="0" i="0" u="none" kern="1200" baseline="0">
                <a:solidFill>
                  <a:schemeClr val="tx1"/>
                </a:solidFill>
                <a:latin typeface="Times New Roman" panose="02020603050405020304" pitchFamily="18" charset="0"/>
              </a:defRPr>
            </a:lvl2pPr>
            <a:lvl3pPr marL="1143000" lvl="2" indent="-22860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Times New Roman" panose="02020603050405020304" pitchFamily="18" charset="0"/>
              </a:defRPr>
            </a:lvl3pPr>
            <a:lvl4pPr marL="1600200" lvl="3" indent="-22860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Times New Roman" panose="02020603050405020304" pitchFamily="18" charset="0"/>
              </a:defRPr>
            </a:lvl4pPr>
            <a:lvl5pPr marL="2057400" lvl="4" indent="-22860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Times New Roman" panose="02020603050405020304" pitchFamily="18" charset="0"/>
              </a:defRPr>
            </a:lvl5pPr>
          </a:lstStyle>
          <a:p>
            <a:pPr lvl="0">
              <a:buNone/>
            </a:pPr>
            <a:r>
              <a:rPr sz="2400"/>
              <a:t>Dataset D</a:t>
            </a:r>
          </a:p>
          <a:p>
            <a:pPr lvl="0">
              <a:buNone/>
            </a:pPr>
            <a:r>
              <a:rPr sz="2400"/>
              <a:t>	</a:t>
            </a:r>
          </a:p>
        </p:txBody>
      </p:sp>
      <p:graphicFrame>
        <p:nvGraphicFramePr>
          <p:cNvPr id="40965" name="Table 40964"/>
          <p:cNvGraphicFramePr/>
          <p:nvPr/>
        </p:nvGraphicFramePr>
        <p:xfrm>
          <a:off x="685800" y="2133600"/>
          <a:ext cx="1905000" cy="2009775"/>
        </p:xfrm>
        <a:graphic>
          <a:graphicData uri="http://schemas.openxmlformats.org/drawingml/2006/table">
            <a:tbl>
              <a:tblPr/>
              <a:tblGrid>
                <a:gridCol w="914400">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tblGrid>
              <a:tr h="395288">
                <a:tc>
                  <a:txBody>
                    <a:bodyPr/>
                    <a:lstStyle>
                      <a:lvl1pPr marL="342900" lvl="0" indent="-342900" algn="l" defTabSz="914400" rtl="0" eaLnBrk="0" fontAlgn="base" latinLnBrk="0" hangingPunct="0">
                        <a:lnSpc>
                          <a:spcPct val="100000"/>
                        </a:lnSpc>
                        <a:spcBef>
                          <a:spcPct val="20000"/>
                        </a:spcBef>
                        <a:spcAft>
                          <a:spcPct val="0"/>
                        </a:spcAft>
                        <a:buChar char="•"/>
                        <a:defRPr sz="2400" u="none" kern="1200" baseline="0">
                          <a:solidFill>
                            <a:schemeClr val="tx1"/>
                          </a:solidFill>
                          <a:latin typeface="Times New Roman" panose="02020603050405020304" pitchFamily="18" charset="0"/>
                        </a:defRPr>
                      </a:lvl1pPr>
                      <a:lvl2pPr marL="742950" lvl="1" indent="-28575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Times New Roman" panose="02020603050405020304" pitchFamily="18" charset="0"/>
                        </a:defRPr>
                      </a:lvl2pPr>
                      <a:lvl3pPr marL="1143000" lvl="2" indent="-228600" algn="l" defTabSz="914400" rtl="0" eaLnBrk="0" fontAlgn="base" latinLnBrk="0" hangingPunct="0">
                        <a:lnSpc>
                          <a:spcPct val="100000"/>
                        </a:lnSpc>
                        <a:spcBef>
                          <a:spcPct val="20000"/>
                        </a:spcBef>
                        <a:spcAft>
                          <a:spcPct val="0"/>
                        </a:spcAft>
                        <a:buChar char="•"/>
                        <a:defRPr sz="1800" b="0" i="0" u="none" kern="1200" baseline="0">
                          <a:solidFill>
                            <a:schemeClr val="tx1"/>
                          </a:solidFill>
                          <a:latin typeface="Times New Roman" panose="02020603050405020304" pitchFamily="18" charset="0"/>
                        </a:defRPr>
                      </a:lvl3pPr>
                      <a:lvl4pPr marL="1600200" lvl="3" indent="-228600" algn="l" defTabSz="914400" rtl="0" eaLnBrk="0" fontAlgn="base" latinLnBrk="0" hangingPunct="0">
                        <a:lnSpc>
                          <a:spcPct val="100000"/>
                        </a:lnSpc>
                        <a:spcBef>
                          <a:spcPct val="20000"/>
                        </a:spcBef>
                        <a:spcAft>
                          <a:spcPct val="0"/>
                        </a:spcAft>
                        <a:buChar char="–"/>
                        <a:defRPr sz="1800" b="0" i="0" u="none" kern="1200" baseline="0">
                          <a:solidFill>
                            <a:schemeClr val="tx1"/>
                          </a:solidFill>
                          <a:latin typeface="Times New Roman" panose="02020603050405020304" pitchFamily="18" charset="0"/>
                        </a:defRPr>
                      </a:lvl4pPr>
                      <a:lvl5pPr marL="2057400" lvl="4" indent="-228600" algn="l" defTabSz="914400" rtl="0" eaLnBrk="0" fontAlgn="base" latinLnBrk="0" hangingPunct="0">
                        <a:lnSpc>
                          <a:spcPct val="100000"/>
                        </a:lnSpc>
                        <a:spcBef>
                          <a:spcPct val="20000"/>
                        </a:spcBef>
                        <a:spcAft>
                          <a:spcPct val="0"/>
                        </a:spcAft>
                        <a:buChar char="»"/>
                        <a:defRPr sz="1800" b="0" i="0" u="none" kern="1200" baseline="0">
                          <a:solidFill>
                            <a:schemeClr val="tx1"/>
                          </a:solidFill>
                          <a:latin typeface="Times New Roman" panose="02020603050405020304" pitchFamily="18" charset="0"/>
                        </a:defRPr>
                      </a:lvl5pPr>
                    </a:lstStyle>
                    <a:p>
                      <a:pPr marL="0" lvl="0" indent="0">
                        <a:buNone/>
                      </a:pPr>
                      <a:r>
                        <a:rPr sz="1800"/>
                        <a:t>TID</a:t>
                      </a:r>
                      <a:endParaRPr lang="en-US" sz="180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0" fontAlgn="base" latinLnBrk="0" hangingPunct="0">
                        <a:lnSpc>
                          <a:spcPct val="100000"/>
                        </a:lnSpc>
                        <a:spcBef>
                          <a:spcPct val="20000"/>
                        </a:spcBef>
                        <a:spcAft>
                          <a:spcPct val="0"/>
                        </a:spcAft>
                        <a:buChar char="•"/>
                        <a:defRPr sz="2400" u="none" kern="1200" baseline="0">
                          <a:solidFill>
                            <a:schemeClr val="tx1"/>
                          </a:solidFill>
                          <a:latin typeface="Times New Roman" panose="02020603050405020304" pitchFamily="18" charset="0"/>
                        </a:defRPr>
                      </a:lvl1pPr>
                      <a:lvl2pPr marL="742950" lvl="1" indent="-28575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Times New Roman" panose="02020603050405020304" pitchFamily="18" charset="0"/>
                        </a:defRPr>
                      </a:lvl2pPr>
                      <a:lvl3pPr marL="1143000" lvl="2" indent="-228600" algn="l" defTabSz="914400" rtl="0" eaLnBrk="0" fontAlgn="base" latinLnBrk="0" hangingPunct="0">
                        <a:lnSpc>
                          <a:spcPct val="100000"/>
                        </a:lnSpc>
                        <a:spcBef>
                          <a:spcPct val="20000"/>
                        </a:spcBef>
                        <a:spcAft>
                          <a:spcPct val="0"/>
                        </a:spcAft>
                        <a:buChar char="•"/>
                        <a:defRPr sz="1800" b="0" i="0" u="none" kern="1200" baseline="0">
                          <a:solidFill>
                            <a:schemeClr val="tx1"/>
                          </a:solidFill>
                          <a:latin typeface="Times New Roman" panose="02020603050405020304" pitchFamily="18" charset="0"/>
                        </a:defRPr>
                      </a:lvl3pPr>
                      <a:lvl4pPr marL="1600200" lvl="3" indent="-228600" algn="l" defTabSz="914400" rtl="0" eaLnBrk="0" fontAlgn="base" latinLnBrk="0" hangingPunct="0">
                        <a:lnSpc>
                          <a:spcPct val="100000"/>
                        </a:lnSpc>
                        <a:spcBef>
                          <a:spcPct val="20000"/>
                        </a:spcBef>
                        <a:spcAft>
                          <a:spcPct val="0"/>
                        </a:spcAft>
                        <a:buChar char="–"/>
                        <a:defRPr sz="1800" b="0" i="0" u="none" kern="1200" baseline="0">
                          <a:solidFill>
                            <a:schemeClr val="tx1"/>
                          </a:solidFill>
                          <a:latin typeface="Times New Roman" panose="02020603050405020304" pitchFamily="18" charset="0"/>
                        </a:defRPr>
                      </a:lvl4pPr>
                      <a:lvl5pPr marL="2057400" lvl="4" indent="-228600" algn="l" defTabSz="914400" rtl="0" eaLnBrk="0" fontAlgn="base" latinLnBrk="0" hangingPunct="0">
                        <a:lnSpc>
                          <a:spcPct val="100000"/>
                        </a:lnSpc>
                        <a:spcBef>
                          <a:spcPct val="20000"/>
                        </a:spcBef>
                        <a:spcAft>
                          <a:spcPct val="0"/>
                        </a:spcAft>
                        <a:buChar char="»"/>
                        <a:defRPr sz="1800" b="0" i="0" u="none" kern="1200" baseline="0">
                          <a:solidFill>
                            <a:schemeClr val="tx1"/>
                          </a:solidFill>
                          <a:latin typeface="Times New Roman" panose="02020603050405020304" pitchFamily="18" charset="0"/>
                        </a:defRPr>
                      </a:lvl5pPr>
                    </a:lstStyle>
                    <a:p>
                      <a:pPr marL="0" lvl="0" indent="0">
                        <a:buNone/>
                      </a:pPr>
                      <a:r>
                        <a:rPr sz="1800"/>
                        <a:t>Items</a:t>
                      </a:r>
                      <a:endParaRPr lang="en-US" sz="180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5287">
                <a:tc>
                  <a:txBody>
                    <a:bodyPr/>
                    <a:lstStyle>
                      <a:lvl1pPr marL="342900" lvl="0" indent="-342900" algn="l" defTabSz="914400" rtl="0" eaLnBrk="0" fontAlgn="base" latinLnBrk="0" hangingPunct="0">
                        <a:lnSpc>
                          <a:spcPct val="100000"/>
                        </a:lnSpc>
                        <a:spcBef>
                          <a:spcPct val="20000"/>
                        </a:spcBef>
                        <a:spcAft>
                          <a:spcPct val="0"/>
                        </a:spcAft>
                        <a:buChar char="•"/>
                        <a:defRPr sz="2400" u="none" kern="1200" baseline="0">
                          <a:solidFill>
                            <a:schemeClr val="tx1"/>
                          </a:solidFill>
                          <a:latin typeface="Times New Roman" panose="02020603050405020304" pitchFamily="18" charset="0"/>
                        </a:defRPr>
                      </a:lvl1pPr>
                      <a:lvl2pPr marL="742950" lvl="1" indent="-28575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Times New Roman" panose="02020603050405020304" pitchFamily="18" charset="0"/>
                        </a:defRPr>
                      </a:lvl2pPr>
                      <a:lvl3pPr marL="1143000" lvl="2" indent="-228600" algn="l" defTabSz="914400" rtl="0" eaLnBrk="0" fontAlgn="base" latinLnBrk="0" hangingPunct="0">
                        <a:lnSpc>
                          <a:spcPct val="100000"/>
                        </a:lnSpc>
                        <a:spcBef>
                          <a:spcPct val="20000"/>
                        </a:spcBef>
                        <a:spcAft>
                          <a:spcPct val="0"/>
                        </a:spcAft>
                        <a:buChar char="•"/>
                        <a:defRPr sz="1800" b="0" i="0" u="none" kern="1200" baseline="0">
                          <a:solidFill>
                            <a:schemeClr val="tx1"/>
                          </a:solidFill>
                          <a:latin typeface="Times New Roman" panose="02020603050405020304" pitchFamily="18" charset="0"/>
                        </a:defRPr>
                      </a:lvl3pPr>
                      <a:lvl4pPr marL="1600200" lvl="3" indent="-228600" algn="l" defTabSz="914400" rtl="0" eaLnBrk="0" fontAlgn="base" latinLnBrk="0" hangingPunct="0">
                        <a:lnSpc>
                          <a:spcPct val="100000"/>
                        </a:lnSpc>
                        <a:spcBef>
                          <a:spcPct val="20000"/>
                        </a:spcBef>
                        <a:spcAft>
                          <a:spcPct val="0"/>
                        </a:spcAft>
                        <a:buChar char="–"/>
                        <a:defRPr sz="1800" b="0" i="0" u="none" kern="1200" baseline="0">
                          <a:solidFill>
                            <a:schemeClr val="tx1"/>
                          </a:solidFill>
                          <a:latin typeface="Times New Roman" panose="02020603050405020304" pitchFamily="18" charset="0"/>
                        </a:defRPr>
                      </a:lvl4pPr>
                      <a:lvl5pPr marL="2057400" lvl="4" indent="-228600" algn="l" defTabSz="914400" rtl="0" eaLnBrk="0" fontAlgn="base" latinLnBrk="0" hangingPunct="0">
                        <a:lnSpc>
                          <a:spcPct val="100000"/>
                        </a:lnSpc>
                        <a:spcBef>
                          <a:spcPct val="20000"/>
                        </a:spcBef>
                        <a:spcAft>
                          <a:spcPct val="0"/>
                        </a:spcAft>
                        <a:buChar char="»"/>
                        <a:defRPr sz="1800" b="0" i="0" u="none" kern="1200" baseline="0">
                          <a:solidFill>
                            <a:schemeClr val="tx1"/>
                          </a:solidFill>
                          <a:latin typeface="Times New Roman" panose="02020603050405020304" pitchFamily="18" charset="0"/>
                        </a:defRPr>
                      </a:lvl5pPr>
                    </a:lstStyle>
                    <a:p>
                      <a:pPr marL="0" lvl="0" indent="0">
                        <a:buNone/>
                      </a:pPr>
                      <a:r>
                        <a:rPr sz="1800"/>
                        <a:t>T100</a:t>
                      </a:r>
                      <a:endParaRPr lang="en-US" sz="180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0" fontAlgn="base" latinLnBrk="0" hangingPunct="0">
                        <a:lnSpc>
                          <a:spcPct val="100000"/>
                        </a:lnSpc>
                        <a:spcBef>
                          <a:spcPct val="20000"/>
                        </a:spcBef>
                        <a:spcAft>
                          <a:spcPct val="0"/>
                        </a:spcAft>
                        <a:buChar char="•"/>
                        <a:defRPr sz="2400" u="none" kern="1200" baseline="0">
                          <a:solidFill>
                            <a:schemeClr val="tx1"/>
                          </a:solidFill>
                          <a:latin typeface="Times New Roman" panose="02020603050405020304" pitchFamily="18" charset="0"/>
                        </a:defRPr>
                      </a:lvl1pPr>
                      <a:lvl2pPr marL="742950" lvl="1" indent="-28575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Times New Roman" panose="02020603050405020304" pitchFamily="18" charset="0"/>
                        </a:defRPr>
                      </a:lvl2pPr>
                      <a:lvl3pPr marL="1143000" lvl="2" indent="-228600" algn="l" defTabSz="914400" rtl="0" eaLnBrk="0" fontAlgn="base" latinLnBrk="0" hangingPunct="0">
                        <a:lnSpc>
                          <a:spcPct val="100000"/>
                        </a:lnSpc>
                        <a:spcBef>
                          <a:spcPct val="20000"/>
                        </a:spcBef>
                        <a:spcAft>
                          <a:spcPct val="0"/>
                        </a:spcAft>
                        <a:buChar char="•"/>
                        <a:defRPr sz="1800" b="0" i="0" u="none" kern="1200" baseline="0">
                          <a:solidFill>
                            <a:schemeClr val="tx1"/>
                          </a:solidFill>
                          <a:latin typeface="Times New Roman" panose="02020603050405020304" pitchFamily="18" charset="0"/>
                        </a:defRPr>
                      </a:lvl3pPr>
                      <a:lvl4pPr marL="1600200" lvl="3" indent="-228600" algn="l" defTabSz="914400" rtl="0" eaLnBrk="0" fontAlgn="base" latinLnBrk="0" hangingPunct="0">
                        <a:lnSpc>
                          <a:spcPct val="100000"/>
                        </a:lnSpc>
                        <a:spcBef>
                          <a:spcPct val="20000"/>
                        </a:spcBef>
                        <a:spcAft>
                          <a:spcPct val="0"/>
                        </a:spcAft>
                        <a:buChar char="–"/>
                        <a:defRPr sz="1800" b="0" i="0" u="none" kern="1200" baseline="0">
                          <a:solidFill>
                            <a:schemeClr val="tx1"/>
                          </a:solidFill>
                          <a:latin typeface="Times New Roman" panose="02020603050405020304" pitchFamily="18" charset="0"/>
                        </a:defRPr>
                      </a:lvl4pPr>
                      <a:lvl5pPr marL="2057400" lvl="4" indent="-228600" algn="l" defTabSz="914400" rtl="0" eaLnBrk="0" fontAlgn="base" latinLnBrk="0" hangingPunct="0">
                        <a:lnSpc>
                          <a:spcPct val="100000"/>
                        </a:lnSpc>
                        <a:spcBef>
                          <a:spcPct val="20000"/>
                        </a:spcBef>
                        <a:spcAft>
                          <a:spcPct val="0"/>
                        </a:spcAft>
                        <a:buChar char="»"/>
                        <a:defRPr sz="1800" b="0" i="0" u="none" kern="1200" baseline="0">
                          <a:solidFill>
                            <a:schemeClr val="tx1"/>
                          </a:solidFill>
                          <a:latin typeface="Times New Roman" panose="02020603050405020304" pitchFamily="18" charset="0"/>
                        </a:defRPr>
                      </a:lvl5pPr>
                    </a:lstStyle>
                    <a:p>
                      <a:pPr marL="0" lvl="0" indent="0">
                        <a:buNone/>
                      </a:pPr>
                      <a:r>
                        <a:rPr sz="1800"/>
                        <a:t>1 3 4</a:t>
                      </a:r>
                      <a:endParaRPr lang="en-US" sz="180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28625">
                <a:tc>
                  <a:txBody>
                    <a:bodyPr/>
                    <a:lstStyle>
                      <a:lvl1pPr marL="342900" lvl="0" indent="-342900" algn="l" defTabSz="914400" rtl="0" eaLnBrk="0" fontAlgn="base" latinLnBrk="0" hangingPunct="0">
                        <a:lnSpc>
                          <a:spcPct val="100000"/>
                        </a:lnSpc>
                        <a:spcBef>
                          <a:spcPct val="20000"/>
                        </a:spcBef>
                        <a:spcAft>
                          <a:spcPct val="0"/>
                        </a:spcAft>
                        <a:buChar char="•"/>
                        <a:defRPr sz="2400" u="none" kern="1200" baseline="0">
                          <a:solidFill>
                            <a:schemeClr val="tx1"/>
                          </a:solidFill>
                          <a:latin typeface="Times New Roman" panose="02020603050405020304" pitchFamily="18" charset="0"/>
                        </a:defRPr>
                      </a:lvl1pPr>
                      <a:lvl2pPr marL="742950" lvl="1" indent="-28575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Times New Roman" panose="02020603050405020304" pitchFamily="18" charset="0"/>
                        </a:defRPr>
                      </a:lvl2pPr>
                      <a:lvl3pPr marL="1143000" lvl="2" indent="-228600" algn="l" defTabSz="914400" rtl="0" eaLnBrk="0" fontAlgn="base" latinLnBrk="0" hangingPunct="0">
                        <a:lnSpc>
                          <a:spcPct val="100000"/>
                        </a:lnSpc>
                        <a:spcBef>
                          <a:spcPct val="20000"/>
                        </a:spcBef>
                        <a:spcAft>
                          <a:spcPct val="0"/>
                        </a:spcAft>
                        <a:buChar char="•"/>
                        <a:defRPr sz="1800" b="0" i="0" u="none" kern="1200" baseline="0">
                          <a:solidFill>
                            <a:schemeClr val="tx1"/>
                          </a:solidFill>
                          <a:latin typeface="Times New Roman" panose="02020603050405020304" pitchFamily="18" charset="0"/>
                        </a:defRPr>
                      </a:lvl3pPr>
                      <a:lvl4pPr marL="1600200" lvl="3" indent="-228600" algn="l" defTabSz="914400" rtl="0" eaLnBrk="0" fontAlgn="base" latinLnBrk="0" hangingPunct="0">
                        <a:lnSpc>
                          <a:spcPct val="100000"/>
                        </a:lnSpc>
                        <a:spcBef>
                          <a:spcPct val="20000"/>
                        </a:spcBef>
                        <a:spcAft>
                          <a:spcPct val="0"/>
                        </a:spcAft>
                        <a:buChar char="–"/>
                        <a:defRPr sz="1800" b="0" i="0" u="none" kern="1200" baseline="0">
                          <a:solidFill>
                            <a:schemeClr val="tx1"/>
                          </a:solidFill>
                          <a:latin typeface="Times New Roman" panose="02020603050405020304" pitchFamily="18" charset="0"/>
                        </a:defRPr>
                      </a:lvl4pPr>
                      <a:lvl5pPr marL="2057400" lvl="4" indent="-228600" algn="l" defTabSz="914400" rtl="0" eaLnBrk="0" fontAlgn="base" latinLnBrk="0" hangingPunct="0">
                        <a:lnSpc>
                          <a:spcPct val="100000"/>
                        </a:lnSpc>
                        <a:spcBef>
                          <a:spcPct val="20000"/>
                        </a:spcBef>
                        <a:spcAft>
                          <a:spcPct val="0"/>
                        </a:spcAft>
                        <a:buChar char="»"/>
                        <a:defRPr sz="1800" b="0" i="0" u="none" kern="1200" baseline="0">
                          <a:solidFill>
                            <a:schemeClr val="tx1"/>
                          </a:solidFill>
                          <a:latin typeface="Times New Roman" panose="02020603050405020304" pitchFamily="18" charset="0"/>
                        </a:defRPr>
                      </a:lvl5pPr>
                    </a:lstStyle>
                    <a:p>
                      <a:pPr marL="0" lvl="0" indent="0">
                        <a:buNone/>
                      </a:pPr>
                      <a:r>
                        <a:rPr sz="1800"/>
                        <a:t>T200</a:t>
                      </a:r>
                      <a:endParaRPr lang="en-US" sz="180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0" fontAlgn="base" latinLnBrk="0" hangingPunct="0">
                        <a:lnSpc>
                          <a:spcPct val="100000"/>
                        </a:lnSpc>
                        <a:spcBef>
                          <a:spcPct val="20000"/>
                        </a:spcBef>
                        <a:spcAft>
                          <a:spcPct val="0"/>
                        </a:spcAft>
                        <a:buChar char="•"/>
                        <a:defRPr sz="2400" u="none" kern="1200" baseline="0">
                          <a:solidFill>
                            <a:schemeClr val="tx1"/>
                          </a:solidFill>
                          <a:latin typeface="Times New Roman" panose="02020603050405020304" pitchFamily="18" charset="0"/>
                        </a:defRPr>
                      </a:lvl1pPr>
                      <a:lvl2pPr marL="742950" lvl="1" indent="-28575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Times New Roman" panose="02020603050405020304" pitchFamily="18" charset="0"/>
                        </a:defRPr>
                      </a:lvl2pPr>
                      <a:lvl3pPr marL="1143000" lvl="2" indent="-228600" algn="l" defTabSz="914400" rtl="0" eaLnBrk="0" fontAlgn="base" latinLnBrk="0" hangingPunct="0">
                        <a:lnSpc>
                          <a:spcPct val="100000"/>
                        </a:lnSpc>
                        <a:spcBef>
                          <a:spcPct val="20000"/>
                        </a:spcBef>
                        <a:spcAft>
                          <a:spcPct val="0"/>
                        </a:spcAft>
                        <a:buChar char="•"/>
                        <a:defRPr sz="1800" b="0" i="0" u="none" kern="1200" baseline="0">
                          <a:solidFill>
                            <a:schemeClr val="tx1"/>
                          </a:solidFill>
                          <a:latin typeface="Times New Roman" panose="02020603050405020304" pitchFamily="18" charset="0"/>
                        </a:defRPr>
                      </a:lvl3pPr>
                      <a:lvl4pPr marL="1600200" lvl="3" indent="-228600" algn="l" defTabSz="914400" rtl="0" eaLnBrk="0" fontAlgn="base" latinLnBrk="0" hangingPunct="0">
                        <a:lnSpc>
                          <a:spcPct val="100000"/>
                        </a:lnSpc>
                        <a:spcBef>
                          <a:spcPct val="20000"/>
                        </a:spcBef>
                        <a:spcAft>
                          <a:spcPct val="0"/>
                        </a:spcAft>
                        <a:buChar char="–"/>
                        <a:defRPr sz="1800" b="0" i="0" u="none" kern="1200" baseline="0">
                          <a:solidFill>
                            <a:schemeClr val="tx1"/>
                          </a:solidFill>
                          <a:latin typeface="Times New Roman" panose="02020603050405020304" pitchFamily="18" charset="0"/>
                        </a:defRPr>
                      </a:lvl4pPr>
                      <a:lvl5pPr marL="2057400" lvl="4" indent="-228600" algn="l" defTabSz="914400" rtl="0" eaLnBrk="0" fontAlgn="base" latinLnBrk="0" hangingPunct="0">
                        <a:lnSpc>
                          <a:spcPct val="100000"/>
                        </a:lnSpc>
                        <a:spcBef>
                          <a:spcPct val="20000"/>
                        </a:spcBef>
                        <a:spcAft>
                          <a:spcPct val="0"/>
                        </a:spcAft>
                        <a:buChar char="»"/>
                        <a:defRPr sz="1800" b="0" i="0" u="none" kern="1200" baseline="0">
                          <a:solidFill>
                            <a:schemeClr val="tx1"/>
                          </a:solidFill>
                          <a:latin typeface="Times New Roman" panose="02020603050405020304" pitchFamily="18" charset="0"/>
                        </a:defRPr>
                      </a:lvl5pPr>
                    </a:lstStyle>
                    <a:p>
                      <a:pPr marL="0" lvl="0" indent="0">
                        <a:buNone/>
                      </a:pPr>
                      <a:r>
                        <a:rPr sz="1800"/>
                        <a:t>2 3 5</a:t>
                      </a:r>
                      <a:endParaRPr lang="en-US" sz="180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5288">
                <a:tc>
                  <a:txBody>
                    <a:bodyPr/>
                    <a:lstStyle>
                      <a:lvl1pPr marL="342900" lvl="0" indent="-342900" algn="l" defTabSz="914400" rtl="0" eaLnBrk="0" fontAlgn="base" latinLnBrk="0" hangingPunct="0">
                        <a:lnSpc>
                          <a:spcPct val="100000"/>
                        </a:lnSpc>
                        <a:spcBef>
                          <a:spcPct val="20000"/>
                        </a:spcBef>
                        <a:spcAft>
                          <a:spcPct val="0"/>
                        </a:spcAft>
                        <a:buChar char="•"/>
                        <a:defRPr sz="2400" u="none" kern="1200" baseline="0">
                          <a:solidFill>
                            <a:schemeClr val="tx1"/>
                          </a:solidFill>
                          <a:latin typeface="Times New Roman" panose="02020603050405020304" pitchFamily="18" charset="0"/>
                        </a:defRPr>
                      </a:lvl1pPr>
                      <a:lvl2pPr marL="742950" lvl="1" indent="-28575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Times New Roman" panose="02020603050405020304" pitchFamily="18" charset="0"/>
                        </a:defRPr>
                      </a:lvl2pPr>
                      <a:lvl3pPr marL="1143000" lvl="2" indent="-228600" algn="l" defTabSz="914400" rtl="0" eaLnBrk="0" fontAlgn="base" latinLnBrk="0" hangingPunct="0">
                        <a:lnSpc>
                          <a:spcPct val="100000"/>
                        </a:lnSpc>
                        <a:spcBef>
                          <a:spcPct val="20000"/>
                        </a:spcBef>
                        <a:spcAft>
                          <a:spcPct val="0"/>
                        </a:spcAft>
                        <a:buChar char="•"/>
                        <a:defRPr sz="1800" b="0" i="0" u="none" kern="1200" baseline="0">
                          <a:solidFill>
                            <a:schemeClr val="tx1"/>
                          </a:solidFill>
                          <a:latin typeface="Times New Roman" panose="02020603050405020304" pitchFamily="18" charset="0"/>
                        </a:defRPr>
                      </a:lvl3pPr>
                      <a:lvl4pPr marL="1600200" lvl="3" indent="-228600" algn="l" defTabSz="914400" rtl="0" eaLnBrk="0" fontAlgn="base" latinLnBrk="0" hangingPunct="0">
                        <a:lnSpc>
                          <a:spcPct val="100000"/>
                        </a:lnSpc>
                        <a:spcBef>
                          <a:spcPct val="20000"/>
                        </a:spcBef>
                        <a:spcAft>
                          <a:spcPct val="0"/>
                        </a:spcAft>
                        <a:buChar char="–"/>
                        <a:defRPr sz="1800" b="0" i="0" u="none" kern="1200" baseline="0">
                          <a:solidFill>
                            <a:schemeClr val="tx1"/>
                          </a:solidFill>
                          <a:latin typeface="Times New Roman" panose="02020603050405020304" pitchFamily="18" charset="0"/>
                        </a:defRPr>
                      </a:lvl4pPr>
                      <a:lvl5pPr marL="2057400" lvl="4" indent="-228600" algn="l" defTabSz="914400" rtl="0" eaLnBrk="0" fontAlgn="base" latinLnBrk="0" hangingPunct="0">
                        <a:lnSpc>
                          <a:spcPct val="100000"/>
                        </a:lnSpc>
                        <a:spcBef>
                          <a:spcPct val="20000"/>
                        </a:spcBef>
                        <a:spcAft>
                          <a:spcPct val="0"/>
                        </a:spcAft>
                        <a:buChar char="»"/>
                        <a:defRPr sz="1800" b="0" i="0" u="none" kern="1200" baseline="0">
                          <a:solidFill>
                            <a:schemeClr val="tx1"/>
                          </a:solidFill>
                          <a:latin typeface="Times New Roman" panose="02020603050405020304" pitchFamily="18" charset="0"/>
                        </a:defRPr>
                      </a:lvl5pPr>
                    </a:lstStyle>
                    <a:p>
                      <a:pPr marL="0" lvl="0" indent="0">
                        <a:buNone/>
                      </a:pPr>
                      <a:r>
                        <a:rPr sz="1800"/>
                        <a:t>T300</a:t>
                      </a:r>
                      <a:endParaRPr lang="en-US" sz="180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0" fontAlgn="base" latinLnBrk="0" hangingPunct="0">
                        <a:lnSpc>
                          <a:spcPct val="100000"/>
                        </a:lnSpc>
                        <a:spcBef>
                          <a:spcPct val="20000"/>
                        </a:spcBef>
                        <a:spcAft>
                          <a:spcPct val="0"/>
                        </a:spcAft>
                        <a:buChar char="•"/>
                        <a:defRPr sz="2400" u="none" kern="1200" baseline="0">
                          <a:solidFill>
                            <a:schemeClr val="tx1"/>
                          </a:solidFill>
                          <a:latin typeface="Times New Roman" panose="02020603050405020304" pitchFamily="18" charset="0"/>
                        </a:defRPr>
                      </a:lvl1pPr>
                      <a:lvl2pPr marL="742950" lvl="1" indent="-28575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Times New Roman" panose="02020603050405020304" pitchFamily="18" charset="0"/>
                        </a:defRPr>
                      </a:lvl2pPr>
                      <a:lvl3pPr marL="1143000" lvl="2" indent="-228600" algn="l" defTabSz="914400" rtl="0" eaLnBrk="0" fontAlgn="base" latinLnBrk="0" hangingPunct="0">
                        <a:lnSpc>
                          <a:spcPct val="100000"/>
                        </a:lnSpc>
                        <a:spcBef>
                          <a:spcPct val="20000"/>
                        </a:spcBef>
                        <a:spcAft>
                          <a:spcPct val="0"/>
                        </a:spcAft>
                        <a:buChar char="•"/>
                        <a:defRPr sz="1800" b="0" i="0" u="none" kern="1200" baseline="0">
                          <a:solidFill>
                            <a:schemeClr val="tx1"/>
                          </a:solidFill>
                          <a:latin typeface="Times New Roman" panose="02020603050405020304" pitchFamily="18" charset="0"/>
                        </a:defRPr>
                      </a:lvl3pPr>
                      <a:lvl4pPr marL="1600200" lvl="3" indent="-228600" algn="l" defTabSz="914400" rtl="0" eaLnBrk="0" fontAlgn="base" latinLnBrk="0" hangingPunct="0">
                        <a:lnSpc>
                          <a:spcPct val="100000"/>
                        </a:lnSpc>
                        <a:spcBef>
                          <a:spcPct val="20000"/>
                        </a:spcBef>
                        <a:spcAft>
                          <a:spcPct val="0"/>
                        </a:spcAft>
                        <a:buChar char="–"/>
                        <a:defRPr sz="1800" b="0" i="0" u="none" kern="1200" baseline="0">
                          <a:solidFill>
                            <a:schemeClr val="tx1"/>
                          </a:solidFill>
                          <a:latin typeface="Times New Roman" panose="02020603050405020304" pitchFamily="18" charset="0"/>
                        </a:defRPr>
                      </a:lvl4pPr>
                      <a:lvl5pPr marL="2057400" lvl="4" indent="-228600" algn="l" defTabSz="914400" rtl="0" eaLnBrk="0" fontAlgn="base" latinLnBrk="0" hangingPunct="0">
                        <a:lnSpc>
                          <a:spcPct val="100000"/>
                        </a:lnSpc>
                        <a:spcBef>
                          <a:spcPct val="20000"/>
                        </a:spcBef>
                        <a:spcAft>
                          <a:spcPct val="0"/>
                        </a:spcAft>
                        <a:buChar char="»"/>
                        <a:defRPr sz="1800" b="0" i="0" u="none" kern="1200" baseline="0">
                          <a:solidFill>
                            <a:schemeClr val="tx1"/>
                          </a:solidFill>
                          <a:latin typeface="Times New Roman" panose="02020603050405020304" pitchFamily="18" charset="0"/>
                        </a:defRPr>
                      </a:lvl5pPr>
                    </a:lstStyle>
                    <a:p>
                      <a:pPr marL="0" lvl="0" indent="0">
                        <a:buNone/>
                      </a:pPr>
                      <a:r>
                        <a:rPr sz="1800"/>
                        <a:t>1 2 3 5</a:t>
                      </a:r>
                      <a:endParaRPr lang="en-US" sz="180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5287">
                <a:tc>
                  <a:txBody>
                    <a:bodyPr/>
                    <a:lstStyle>
                      <a:lvl1pPr marL="342900" lvl="0" indent="-342900" algn="l" defTabSz="914400" rtl="0" eaLnBrk="0" fontAlgn="base" latinLnBrk="0" hangingPunct="0">
                        <a:lnSpc>
                          <a:spcPct val="100000"/>
                        </a:lnSpc>
                        <a:spcBef>
                          <a:spcPct val="20000"/>
                        </a:spcBef>
                        <a:spcAft>
                          <a:spcPct val="0"/>
                        </a:spcAft>
                        <a:buChar char="•"/>
                        <a:defRPr sz="2400" u="none" kern="1200" baseline="0">
                          <a:solidFill>
                            <a:schemeClr val="tx1"/>
                          </a:solidFill>
                          <a:latin typeface="Times New Roman" panose="02020603050405020304" pitchFamily="18" charset="0"/>
                        </a:defRPr>
                      </a:lvl1pPr>
                      <a:lvl2pPr marL="742950" lvl="1" indent="-28575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Times New Roman" panose="02020603050405020304" pitchFamily="18" charset="0"/>
                        </a:defRPr>
                      </a:lvl2pPr>
                      <a:lvl3pPr marL="1143000" lvl="2" indent="-228600" algn="l" defTabSz="914400" rtl="0" eaLnBrk="0" fontAlgn="base" latinLnBrk="0" hangingPunct="0">
                        <a:lnSpc>
                          <a:spcPct val="100000"/>
                        </a:lnSpc>
                        <a:spcBef>
                          <a:spcPct val="20000"/>
                        </a:spcBef>
                        <a:spcAft>
                          <a:spcPct val="0"/>
                        </a:spcAft>
                        <a:buChar char="•"/>
                        <a:defRPr sz="1800" b="0" i="0" u="none" kern="1200" baseline="0">
                          <a:solidFill>
                            <a:schemeClr val="tx1"/>
                          </a:solidFill>
                          <a:latin typeface="Times New Roman" panose="02020603050405020304" pitchFamily="18" charset="0"/>
                        </a:defRPr>
                      </a:lvl3pPr>
                      <a:lvl4pPr marL="1600200" lvl="3" indent="-228600" algn="l" defTabSz="914400" rtl="0" eaLnBrk="0" fontAlgn="base" latinLnBrk="0" hangingPunct="0">
                        <a:lnSpc>
                          <a:spcPct val="100000"/>
                        </a:lnSpc>
                        <a:spcBef>
                          <a:spcPct val="20000"/>
                        </a:spcBef>
                        <a:spcAft>
                          <a:spcPct val="0"/>
                        </a:spcAft>
                        <a:buChar char="–"/>
                        <a:defRPr sz="1800" b="0" i="0" u="none" kern="1200" baseline="0">
                          <a:solidFill>
                            <a:schemeClr val="tx1"/>
                          </a:solidFill>
                          <a:latin typeface="Times New Roman" panose="02020603050405020304" pitchFamily="18" charset="0"/>
                        </a:defRPr>
                      </a:lvl4pPr>
                      <a:lvl5pPr marL="2057400" lvl="4" indent="-228600" algn="l" defTabSz="914400" rtl="0" eaLnBrk="0" fontAlgn="base" latinLnBrk="0" hangingPunct="0">
                        <a:lnSpc>
                          <a:spcPct val="100000"/>
                        </a:lnSpc>
                        <a:spcBef>
                          <a:spcPct val="20000"/>
                        </a:spcBef>
                        <a:spcAft>
                          <a:spcPct val="0"/>
                        </a:spcAft>
                        <a:buChar char="»"/>
                        <a:defRPr sz="1800" b="0" i="0" u="none" kern="1200" baseline="0">
                          <a:solidFill>
                            <a:schemeClr val="tx1"/>
                          </a:solidFill>
                          <a:latin typeface="Times New Roman" panose="02020603050405020304" pitchFamily="18" charset="0"/>
                        </a:defRPr>
                      </a:lvl5pPr>
                    </a:lstStyle>
                    <a:p>
                      <a:pPr marL="0" lvl="0" indent="0">
                        <a:buNone/>
                      </a:pPr>
                      <a:r>
                        <a:rPr sz="1800"/>
                        <a:t>T400</a:t>
                      </a:r>
                      <a:endParaRPr lang="en-US" sz="180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0" fontAlgn="base" latinLnBrk="0" hangingPunct="0">
                        <a:lnSpc>
                          <a:spcPct val="100000"/>
                        </a:lnSpc>
                        <a:spcBef>
                          <a:spcPct val="20000"/>
                        </a:spcBef>
                        <a:spcAft>
                          <a:spcPct val="0"/>
                        </a:spcAft>
                        <a:buChar char="•"/>
                        <a:defRPr sz="2400" u="none" kern="1200" baseline="0">
                          <a:solidFill>
                            <a:schemeClr val="tx1"/>
                          </a:solidFill>
                          <a:latin typeface="Times New Roman" panose="02020603050405020304" pitchFamily="18" charset="0"/>
                        </a:defRPr>
                      </a:lvl1pPr>
                      <a:lvl2pPr marL="742950" lvl="1" indent="-28575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Times New Roman" panose="02020603050405020304" pitchFamily="18" charset="0"/>
                        </a:defRPr>
                      </a:lvl2pPr>
                      <a:lvl3pPr marL="1143000" lvl="2" indent="-228600" algn="l" defTabSz="914400" rtl="0" eaLnBrk="0" fontAlgn="base" latinLnBrk="0" hangingPunct="0">
                        <a:lnSpc>
                          <a:spcPct val="100000"/>
                        </a:lnSpc>
                        <a:spcBef>
                          <a:spcPct val="20000"/>
                        </a:spcBef>
                        <a:spcAft>
                          <a:spcPct val="0"/>
                        </a:spcAft>
                        <a:buChar char="•"/>
                        <a:defRPr sz="1800" b="0" i="0" u="none" kern="1200" baseline="0">
                          <a:solidFill>
                            <a:schemeClr val="tx1"/>
                          </a:solidFill>
                          <a:latin typeface="Times New Roman" panose="02020603050405020304" pitchFamily="18" charset="0"/>
                        </a:defRPr>
                      </a:lvl3pPr>
                      <a:lvl4pPr marL="1600200" lvl="3" indent="-228600" algn="l" defTabSz="914400" rtl="0" eaLnBrk="0" fontAlgn="base" latinLnBrk="0" hangingPunct="0">
                        <a:lnSpc>
                          <a:spcPct val="100000"/>
                        </a:lnSpc>
                        <a:spcBef>
                          <a:spcPct val="20000"/>
                        </a:spcBef>
                        <a:spcAft>
                          <a:spcPct val="0"/>
                        </a:spcAft>
                        <a:buChar char="–"/>
                        <a:defRPr sz="1800" b="0" i="0" u="none" kern="1200" baseline="0">
                          <a:solidFill>
                            <a:schemeClr val="tx1"/>
                          </a:solidFill>
                          <a:latin typeface="Times New Roman" panose="02020603050405020304" pitchFamily="18" charset="0"/>
                        </a:defRPr>
                      </a:lvl4pPr>
                      <a:lvl5pPr marL="2057400" lvl="4" indent="-228600" algn="l" defTabSz="914400" rtl="0" eaLnBrk="0" fontAlgn="base" latinLnBrk="0" hangingPunct="0">
                        <a:lnSpc>
                          <a:spcPct val="100000"/>
                        </a:lnSpc>
                        <a:spcBef>
                          <a:spcPct val="20000"/>
                        </a:spcBef>
                        <a:spcAft>
                          <a:spcPct val="0"/>
                        </a:spcAft>
                        <a:buChar char="»"/>
                        <a:defRPr sz="1800" b="0" i="0" u="none" kern="1200" baseline="0">
                          <a:solidFill>
                            <a:schemeClr val="tx1"/>
                          </a:solidFill>
                          <a:latin typeface="Times New Roman" panose="02020603050405020304" pitchFamily="18" charset="0"/>
                        </a:defRPr>
                      </a:lvl5pPr>
                    </a:lstStyle>
                    <a:p>
                      <a:pPr marL="0" lvl="0" indent="0">
                        <a:buNone/>
                      </a:pPr>
                      <a:r>
                        <a:rPr sz="1800"/>
                        <a:t>2 5</a:t>
                      </a:r>
                      <a:endParaRPr lang="en-US" sz="180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40986" name="Text Box 40985"/>
          <p:cNvSpPr txBox="1"/>
          <p:nvPr/>
        </p:nvSpPr>
        <p:spPr>
          <a:xfrm>
            <a:off x="318135" y="5029200"/>
            <a:ext cx="2196465" cy="521970"/>
          </a:xfrm>
          <a:prstGeom prst="rect">
            <a:avLst/>
          </a:prstGeom>
          <a:noFill/>
          <a:ln w="9525">
            <a:noFill/>
          </a:ln>
        </p:spPr>
        <p:txBody>
          <a:bodyPr wrap="square">
            <a:spAutoFit/>
          </a:bodyPr>
          <a:lstStyle/>
          <a:p>
            <a:pPr>
              <a:spcBef>
                <a:spcPct val="50000"/>
              </a:spcBef>
            </a:pPr>
            <a:r>
              <a:rPr sz="2800" err="1">
                <a:solidFill>
                  <a:schemeClr val="tx2"/>
                </a:solidFill>
              </a:rPr>
              <a:t>minSup</a:t>
            </a:r>
            <a:r>
              <a:rPr sz="2800">
                <a:solidFill>
                  <a:schemeClr val="tx2"/>
                </a:solidFill>
              </a:rPr>
              <a:t>=0.5</a:t>
            </a:r>
          </a:p>
        </p:txBody>
      </p:sp>
      <p:sp>
        <p:nvSpPr>
          <p:cNvPr id="40987" name="Text Box 40986"/>
          <p:cNvSpPr txBox="1"/>
          <p:nvPr/>
        </p:nvSpPr>
        <p:spPr>
          <a:xfrm>
            <a:off x="2811145" y="1123315"/>
            <a:ext cx="8949690" cy="5692775"/>
          </a:xfrm>
          <a:prstGeom prst="rect">
            <a:avLst/>
          </a:prstGeom>
          <a:noFill/>
          <a:ln w="9525">
            <a:noFill/>
          </a:ln>
        </p:spPr>
        <p:txBody>
          <a:bodyPr wrap="square">
            <a:spAutoFit/>
          </a:bodyPr>
          <a:lstStyle/>
          <a:p>
            <a:pPr marL="457200" indent="-457200">
              <a:spcBef>
                <a:spcPct val="50000"/>
              </a:spcBef>
            </a:pPr>
            <a:r>
              <a:rPr sz="2800"/>
              <a:t>1. scan D </a:t>
            </a:r>
            <a:r>
              <a:rPr sz="2800">
                <a:sym typeface="Wingdings" panose="05000000000000000000" pitchFamily="2" charset="2"/>
              </a:rPr>
              <a:t> </a:t>
            </a:r>
            <a:r>
              <a:rPr sz="2800"/>
              <a:t>C</a:t>
            </a:r>
            <a:r>
              <a:rPr sz="2800" baseline="-25000"/>
              <a:t>1</a:t>
            </a:r>
            <a:r>
              <a:rPr sz="2800"/>
              <a:t>: 1:2, 2:3, 3:3, 4:1, 5:3</a:t>
            </a:r>
            <a:endParaRPr sz="2800" baseline="-25000"/>
          </a:p>
          <a:p>
            <a:pPr marL="457200" indent="-457200">
              <a:spcBef>
                <a:spcPct val="50000"/>
              </a:spcBef>
            </a:pPr>
            <a:r>
              <a:rPr sz="2800"/>
              <a:t>	   </a:t>
            </a:r>
            <a:r>
              <a:rPr sz="2800">
                <a:sym typeface="Wingdings" panose="05000000000000000000" pitchFamily="2" charset="2"/>
              </a:rPr>
              <a:t> </a:t>
            </a:r>
            <a:r>
              <a:rPr sz="2800"/>
              <a:t>L</a:t>
            </a:r>
            <a:r>
              <a:rPr sz="2800" baseline="-25000"/>
              <a:t>1</a:t>
            </a:r>
            <a:r>
              <a:rPr sz="2800"/>
              <a:t>:        </a:t>
            </a:r>
            <a:r>
              <a:rPr sz="2800" b="1"/>
              <a:t>1</a:t>
            </a:r>
            <a:r>
              <a:rPr sz="2800"/>
              <a:t>:2, </a:t>
            </a:r>
            <a:r>
              <a:rPr sz="2800" b="1"/>
              <a:t>2</a:t>
            </a:r>
            <a:r>
              <a:rPr sz="2800"/>
              <a:t>:3, </a:t>
            </a:r>
            <a:r>
              <a:rPr sz="2800" b="1"/>
              <a:t>3</a:t>
            </a:r>
            <a:r>
              <a:rPr sz="2800"/>
              <a:t>:3,         </a:t>
            </a:r>
            <a:r>
              <a:rPr sz="2800" b="1"/>
              <a:t>5</a:t>
            </a:r>
            <a:r>
              <a:rPr sz="2800"/>
              <a:t>:3</a:t>
            </a:r>
          </a:p>
          <a:p>
            <a:pPr marL="457200" indent="-457200">
              <a:spcBef>
                <a:spcPct val="50000"/>
              </a:spcBef>
            </a:pPr>
            <a:r>
              <a:rPr sz="2800" baseline="-25000"/>
              <a:t>	    </a:t>
            </a:r>
            <a:r>
              <a:rPr sz="2800">
                <a:sym typeface="Wingdings" panose="05000000000000000000" pitchFamily="2" charset="2"/>
              </a:rPr>
              <a:t> </a:t>
            </a:r>
            <a:r>
              <a:rPr sz="2800"/>
              <a:t>C</a:t>
            </a:r>
            <a:r>
              <a:rPr sz="2800" baseline="-25000"/>
              <a:t>2</a:t>
            </a:r>
            <a:r>
              <a:rPr sz="2800"/>
              <a:t>:        12, 13, 15, 23, 25, 35</a:t>
            </a:r>
          </a:p>
          <a:p>
            <a:pPr marL="457200" indent="-457200">
              <a:spcBef>
                <a:spcPct val="50000"/>
              </a:spcBef>
            </a:pPr>
            <a:r>
              <a:rPr sz="2800"/>
              <a:t>2.</a:t>
            </a:r>
            <a:r>
              <a:rPr sz="2800" baseline="-25000"/>
              <a:t> </a:t>
            </a:r>
            <a:r>
              <a:rPr sz="2800"/>
              <a:t>scan D </a:t>
            </a:r>
            <a:r>
              <a:rPr sz="2800">
                <a:sym typeface="Wingdings" panose="05000000000000000000" pitchFamily="2" charset="2"/>
              </a:rPr>
              <a:t> </a:t>
            </a:r>
            <a:r>
              <a:rPr sz="2800"/>
              <a:t>C</a:t>
            </a:r>
            <a:r>
              <a:rPr sz="2800" baseline="-25000"/>
              <a:t>2</a:t>
            </a:r>
            <a:r>
              <a:rPr sz="2800">
                <a:sym typeface="Wingdings" panose="05000000000000000000" pitchFamily="2" charset="2"/>
              </a:rPr>
              <a:t>: </a:t>
            </a:r>
            <a:r>
              <a:rPr sz="2800"/>
              <a:t>12:1, </a:t>
            </a:r>
            <a:r>
              <a:rPr sz="2800" b="1"/>
              <a:t>13:2</a:t>
            </a:r>
            <a:r>
              <a:rPr sz="2800"/>
              <a:t>, 15:1, </a:t>
            </a:r>
            <a:r>
              <a:rPr sz="2800" b="1"/>
              <a:t>23:2</a:t>
            </a:r>
            <a:r>
              <a:rPr sz="2800"/>
              <a:t>, </a:t>
            </a:r>
            <a:r>
              <a:rPr sz="2800" b="1"/>
              <a:t>25:3</a:t>
            </a:r>
            <a:r>
              <a:rPr sz="2800"/>
              <a:t>, </a:t>
            </a:r>
            <a:r>
              <a:rPr sz="2800" b="1"/>
              <a:t>35:2</a:t>
            </a:r>
          </a:p>
          <a:p>
            <a:pPr marL="457200" indent="-457200">
              <a:spcBef>
                <a:spcPct val="50000"/>
              </a:spcBef>
            </a:pPr>
            <a:r>
              <a:rPr sz="2800" b="1"/>
              <a:t>     Suppose the order of items is: 5,4,3,2,1</a:t>
            </a:r>
          </a:p>
          <a:p>
            <a:pPr marL="457200" indent="-457200">
              <a:spcBef>
                <a:spcPct val="50000"/>
              </a:spcBef>
            </a:pPr>
            <a:r>
              <a:rPr sz="2800">
                <a:sym typeface="Wingdings" panose="05000000000000000000" pitchFamily="2" charset="2"/>
              </a:rPr>
              <a:t>          </a:t>
            </a:r>
            <a:r>
              <a:rPr sz="2800"/>
              <a:t>L</a:t>
            </a:r>
            <a:r>
              <a:rPr sz="2800" baseline="-25000"/>
              <a:t>2</a:t>
            </a:r>
            <a:r>
              <a:rPr sz="2800"/>
              <a:t>:                </a:t>
            </a:r>
            <a:r>
              <a:rPr sz="2800" b="1"/>
              <a:t>31</a:t>
            </a:r>
            <a:r>
              <a:rPr sz="2800"/>
              <a:t>:2,         </a:t>
            </a:r>
            <a:r>
              <a:rPr sz="2800" b="1"/>
              <a:t>32</a:t>
            </a:r>
            <a:r>
              <a:rPr sz="2800"/>
              <a:t>:2, </a:t>
            </a:r>
            <a:r>
              <a:rPr sz="2800" b="1"/>
              <a:t>52:</a:t>
            </a:r>
            <a:r>
              <a:rPr sz="2800"/>
              <a:t>3, </a:t>
            </a:r>
            <a:r>
              <a:rPr sz="2800" b="1"/>
              <a:t>53</a:t>
            </a:r>
            <a:r>
              <a:rPr sz="2800"/>
              <a:t>:2</a:t>
            </a:r>
          </a:p>
          <a:p>
            <a:pPr marL="914400" lvl="1" indent="-457200">
              <a:spcBef>
                <a:spcPct val="50000"/>
              </a:spcBef>
            </a:pPr>
            <a:r>
              <a:rPr sz="2800"/>
              <a:t>   </a:t>
            </a:r>
            <a:r>
              <a:rPr sz="2800">
                <a:sym typeface="Wingdings" panose="05000000000000000000" pitchFamily="2" charset="2"/>
              </a:rPr>
              <a:t> </a:t>
            </a:r>
            <a:r>
              <a:rPr sz="2800"/>
              <a:t>C</a:t>
            </a:r>
            <a:r>
              <a:rPr sz="2800" baseline="-25000"/>
              <a:t>3</a:t>
            </a:r>
            <a:r>
              <a:rPr sz="2800"/>
              <a:t>:</a:t>
            </a:r>
            <a:r>
              <a:rPr sz="2800" baseline="-25000"/>
              <a:t>  </a:t>
            </a:r>
            <a:r>
              <a:rPr sz="2800"/>
              <a:t>321, 532</a:t>
            </a:r>
          </a:p>
          <a:p>
            <a:pPr marL="914400" lvl="1" indent="-457200">
              <a:spcBef>
                <a:spcPct val="50000"/>
              </a:spcBef>
            </a:pPr>
            <a:r>
              <a:rPr sz="2800" baseline="-25000"/>
              <a:t>    </a:t>
            </a:r>
            <a:r>
              <a:rPr sz="2800">
                <a:sym typeface="Wingdings" panose="05000000000000000000" pitchFamily="2" charset="2"/>
              </a:rPr>
              <a:t> Pruned </a:t>
            </a:r>
            <a:r>
              <a:rPr sz="2800"/>
              <a:t>C</a:t>
            </a:r>
            <a:r>
              <a:rPr sz="2800" baseline="-25000"/>
              <a:t>3</a:t>
            </a:r>
            <a:r>
              <a:rPr sz="2800"/>
              <a:t>:</a:t>
            </a:r>
            <a:r>
              <a:rPr sz="2800" baseline="-25000"/>
              <a:t>           </a:t>
            </a:r>
            <a:r>
              <a:rPr sz="2800"/>
              <a:t>532</a:t>
            </a:r>
          </a:p>
          <a:p>
            <a:pPr marL="457200" indent="-457200">
              <a:spcBef>
                <a:spcPct val="50000"/>
              </a:spcBef>
            </a:pPr>
            <a:r>
              <a:rPr sz="2800"/>
              <a:t>3. scan D </a:t>
            </a:r>
            <a:r>
              <a:rPr sz="2800">
                <a:sym typeface="Wingdings" panose="05000000000000000000" pitchFamily="2" charset="2"/>
              </a:rPr>
              <a:t> </a:t>
            </a:r>
            <a:r>
              <a:rPr sz="2800"/>
              <a:t>L</a:t>
            </a:r>
            <a:r>
              <a:rPr sz="2800" baseline="-25000"/>
              <a:t>3</a:t>
            </a:r>
            <a:r>
              <a:rPr sz="2800"/>
              <a:t>: 532:2</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9865" y="94615"/>
            <a:ext cx="10579735" cy="2202815"/>
          </a:xfrm>
        </p:spPr>
        <p:txBody>
          <a:bodyPr>
            <a:normAutofit/>
          </a:bodyPr>
          <a:lstStyle/>
          <a:p>
            <a:r>
              <a:rPr lang="en-US" b="1"/>
              <a:t>Generating Association Rules</a:t>
            </a:r>
            <a:br>
              <a:rPr lang="en-US" b="1"/>
            </a:br>
            <a:r>
              <a:rPr lang="en-US">
                <a:sym typeface="+mn-ea"/>
              </a:rPr>
              <a:t>From frequent itemsets</a:t>
            </a:r>
            <a:br>
              <a:rPr lang="en-US"/>
            </a:br>
            <a:endParaRPr lang="en-US" b="1"/>
          </a:p>
        </p:txBody>
      </p:sp>
      <p:sp>
        <p:nvSpPr>
          <p:cNvPr id="3" name="Content Placeholder 2"/>
          <p:cNvSpPr>
            <a:spLocks noGrp="1"/>
          </p:cNvSpPr>
          <p:nvPr>
            <p:ph idx="1"/>
          </p:nvPr>
        </p:nvSpPr>
        <p:spPr>
          <a:xfrm>
            <a:off x="318770" y="1804035"/>
            <a:ext cx="12235815" cy="5249545"/>
          </a:xfrm>
        </p:spPr>
        <p:txBody>
          <a:bodyPr>
            <a:normAutofit/>
          </a:bodyPr>
          <a:lstStyle/>
          <a:p>
            <a:r>
              <a:rPr lang="en-US" b="1" u="sng"/>
              <a:t>Procedure 1:</a:t>
            </a:r>
            <a:endParaRPr lang="en-US"/>
          </a:p>
          <a:p>
            <a:r>
              <a:rPr lang="en-US"/>
              <a:t>Let we have the list of frequent itemsets</a:t>
            </a:r>
          </a:p>
          <a:p>
            <a:endParaRPr lang="en-US"/>
          </a:p>
          <a:p>
            <a:pPr>
              <a:lnSpc>
                <a:spcPct val="160000"/>
              </a:lnSpc>
            </a:pPr>
            <a:r>
              <a:rPr lang="en-US"/>
              <a:t>Generate all nonempty subsets for each frequent itemset </a:t>
            </a:r>
            <a:r>
              <a:rPr lang="en-US" b="1"/>
              <a:t>I</a:t>
            </a:r>
          </a:p>
          <a:p>
            <a:pPr lvl="1">
              <a:lnSpc>
                <a:spcPct val="160000"/>
              </a:lnSpc>
            </a:pPr>
            <a:r>
              <a:rPr lang="en-US" sz="2800" b="1"/>
              <a:t>For I = {1,3,5}, all nonempty subsets are {1,3},{1,5},{3,5},{1},{3},{5}</a:t>
            </a:r>
          </a:p>
          <a:p>
            <a:pPr lvl="1">
              <a:lnSpc>
                <a:spcPct val="160000"/>
              </a:lnSpc>
            </a:pPr>
            <a:r>
              <a:rPr lang="en-US" sz="2800" b="1"/>
              <a:t>For I = {2,3,5}, all nonempty subsets are {2,3},{2,5},{3,5},{2},{3},{5}</a:t>
            </a:r>
          </a:p>
        </p:txBody>
      </p:sp>
      <p:graphicFrame>
        <p:nvGraphicFramePr>
          <p:cNvPr id="4" name="Object 3"/>
          <p:cNvGraphicFramePr/>
          <p:nvPr/>
        </p:nvGraphicFramePr>
        <p:xfrm>
          <a:off x="8465820" y="2048510"/>
          <a:ext cx="5654040" cy="2098040"/>
        </p:xfrm>
        <a:graphic>
          <a:graphicData uri="http://schemas.openxmlformats.org/presentationml/2006/ole">
            <mc:AlternateContent xmlns:mc="http://schemas.openxmlformats.org/markup-compatibility/2006">
              <mc:Choice xmlns:v="urn:schemas-microsoft-com:vml" Requires="v">
                <p:oleObj r:id="rId2" imgW="5486400" imgH="1828800" progId="Photoshop.Image.7">
                  <p:embed/>
                </p:oleObj>
              </mc:Choice>
              <mc:Fallback>
                <p:oleObj r:id="rId2" imgW="5486400" imgH="1828800" progId="Photoshop.Image.7">
                  <p:embed/>
                  <p:pic>
                    <p:nvPicPr>
                      <p:cNvPr id="0" name="Picture 4"/>
                      <p:cNvPicPr/>
                      <p:nvPr/>
                    </p:nvPicPr>
                    <p:blipFill>
                      <a:blip r:embed="rId3"/>
                      <a:stretch>
                        <a:fillRect/>
                      </a:stretch>
                    </p:blipFill>
                    <p:spPr>
                      <a:xfrm>
                        <a:off x="8465820" y="2048510"/>
                        <a:ext cx="5654040" cy="2098040"/>
                      </a:xfrm>
                      <a:prstGeom prst="rect">
                        <a:avLst/>
                      </a:prstGeom>
                    </p:spPr>
                  </p:pic>
                </p:oleObj>
              </mc:Fallback>
            </mc:AlternateContent>
          </a:graphicData>
        </a:graphic>
      </p:graphicFrame>
      <p:graphicFrame>
        <p:nvGraphicFramePr>
          <p:cNvPr id="8" name="Object 7"/>
          <p:cNvGraphicFramePr/>
          <p:nvPr/>
        </p:nvGraphicFramePr>
        <p:xfrm>
          <a:off x="6619875" y="753745"/>
          <a:ext cx="2851785" cy="4006215"/>
        </p:xfrm>
        <a:graphic>
          <a:graphicData uri="http://schemas.openxmlformats.org/presentationml/2006/ole">
            <mc:AlternateContent xmlns:mc="http://schemas.openxmlformats.org/markup-compatibility/2006">
              <mc:Choice xmlns:v="urn:schemas-microsoft-com:vml" Requires="v">
                <p:oleObj r:id="rId4" imgW="3657600" imgH="4566285" progId="Photoshop.Image.7">
                  <p:embed/>
                </p:oleObj>
              </mc:Choice>
              <mc:Fallback>
                <p:oleObj r:id="rId4" imgW="3657600" imgH="4566285" progId="Photoshop.Image.7">
                  <p:embed/>
                  <p:pic>
                    <p:nvPicPr>
                      <p:cNvPr id="0" name="Picture 8"/>
                      <p:cNvPicPr/>
                      <p:nvPr/>
                    </p:nvPicPr>
                    <p:blipFill>
                      <a:blip r:embed="rId5"/>
                      <a:stretch>
                        <a:fillRect/>
                      </a:stretch>
                    </p:blipFill>
                    <p:spPr>
                      <a:xfrm>
                        <a:off x="6619875" y="753745"/>
                        <a:ext cx="2851785" cy="4006215"/>
                      </a:xfrm>
                      <a:prstGeom prst="rect">
                        <a:avLst/>
                      </a:prstGeom>
                    </p:spPr>
                  </p:pic>
                </p:oleObj>
              </mc:Fallback>
            </mc:AlternateContent>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18770" y="1890395"/>
            <a:ext cx="10763885" cy="4351655"/>
          </a:xfrm>
        </p:spPr>
        <p:txBody>
          <a:bodyPr/>
          <a:lstStyle/>
          <a:p>
            <a:r>
              <a:rPr lang="en-US" b="1" u="sng">
                <a:sym typeface="+mn-ea"/>
              </a:rPr>
              <a:t>Procedure 2:</a:t>
            </a:r>
          </a:p>
          <a:p>
            <a:r>
              <a:rPr lang="en-US"/>
              <a:t>For every nonempty subset S of I, output the rule:</a:t>
            </a:r>
          </a:p>
          <a:p>
            <a:pPr marL="0" indent="0">
              <a:buNone/>
            </a:pPr>
            <a:r>
              <a:rPr lang="en-US"/>
              <a:t>                    S → (I - S)</a:t>
            </a:r>
          </a:p>
          <a:p>
            <a:pPr lvl="2"/>
            <a:r>
              <a:rPr lang="en-US" sz="2800" b="1"/>
              <a:t>If support_count(I)/support_count(s)&gt;= min_conf</a:t>
            </a:r>
          </a:p>
          <a:p>
            <a:pPr marL="914400" lvl="2" indent="0">
              <a:buNone/>
            </a:pPr>
            <a:r>
              <a:rPr lang="en-US" sz="2800" b="1"/>
              <a:t>   </a:t>
            </a:r>
            <a:r>
              <a:rPr lang="en-US" sz="2800" i="1"/>
              <a:t> where min_conf is minimum confidence threshold</a:t>
            </a:r>
            <a:endParaRPr lang="en-US" sz="2800" b="1"/>
          </a:p>
          <a:p>
            <a:pPr lvl="2"/>
            <a:endParaRPr lang="en-US" sz="2800" b="1"/>
          </a:p>
          <a:p>
            <a:pPr marL="259715" lvl="2" indent="-248285"/>
            <a:r>
              <a:rPr lang="en-US" sz="2800" b="1"/>
              <a:t>Let us assume:</a:t>
            </a:r>
          </a:p>
          <a:p>
            <a:pPr marL="259715" lvl="2" indent="-248285"/>
            <a:r>
              <a:rPr lang="en-US" sz="2800" b="1"/>
              <a:t>minimum confidence threshold is 60%</a:t>
            </a:r>
          </a:p>
        </p:txBody>
      </p:sp>
      <p:sp>
        <p:nvSpPr>
          <p:cNvPr id="10" name="Title 9"/>
          <p:cNvSpPr>
            <a:spLocks noGrp="1"/>
          </p:cNvSpPr>
          <p:nvPr>
            <p:ph type="title"/>
          </p:nvPr>
        </p:nvSpPr>
        <p:spPr>
          <a:xfrm>
            <a:off x="189865" y="94615"/>
            <a:ext cx="10579735" cy="2202815"/>
          </a:xfrm>
        </p:spPr>
        <p:txBody>
          <a:bodyPr>
            <a:normAutofit/>
          </a:bodyPr>
          <a:lstStyle/>
          <a:p>
            <a:r>
              <a:rPr lang="en-US" b="1"/>
              <a:t>Generating Association Rules</a:t>
            </a:r>
            <a:br>
              <a:rPr lang="en-US" b="1"/>
            </a:br>
            <a:r>
              <a:rPr lang="en-US">
                <a:sym typeface="+mn-ea"/>
              </a:rPr>
              <a:t>From frequent itemsets</a:t>
            </a:r>
            <a:br>
              <a:rPr lang="en-US"/>
            </a:br>
            <a:endParaRPr lang="en-US" b="1"/>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nvSpPr>
        <p:spPr>
          <a:xfrm>
            <a:off x="298450" y="93980"/>
            <a:ext cx="10579735" cy="96329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t>Association Rules with confidence</a:t>
            </a:r>
          </a:p>
        </p:txBody>
      </p:sp>
      <p:sp>
        <p:nvSpPr>
          <p:cNvPr id="9" name="Content Placeholder 2"/>
          <p:cNvSpPr>
            <a:spLocks noGrp="1"/>
          </p:cNvSpPr>
          <p:nvPr/>
        </p:nvSpPr>
        <p:spPr>
          <a:xfrm>
            <a:off x="298450" y="1057275"/>
            <a:ext cx="10763885" cy="589788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a:sym typeface="+mn-ea"/>
              </a:rPr>
              <a:t>R1 : 1,3 -&gt; 5</a:t>
            </a:r>
          </a:p>
          <a:p>
            <a:pPr lvl="1">
              <a:buFont typeface="Arial" panose="020B0604020202020204" pitchFamily="34" charset="0"/>
              <a:buChar char="–"/>
            </a:pPr>
            <a:r>
              <a:rPr lang="en-US" sz="2400" b="1"/>
              <a:t>Confidence = sc{1,3,5}/sc{1,3} = 2/3 = 66.66% (R1 is selected)</a:t>
            </a:r>
          </a:p>
          <a:p>
            <a:pPr marL="215265" lvl="1" indent="-215265"/>
            <a:r>
              <a:rPr lang="en-US" sz="2800" b="1"/>
              <a:t>R2 : 1,5 -&gt; 3</a:t>
            </a:r>
          </a:p>
          <a:p>
            <a:pPr lvl="1">
              <a:buFont typeface="Arial" panose="020B0604020202020204" pitchFamily="34" charset="0"/>
              <a:buChar char="–"/>
            </a:pPr>
            <a:r>
              <a:rPr lang="en-US" b="1">
                <a:sym typeface="+mn-ea"/>
              </a:rPr>
              <a:t>Confidence = sc{1,5,3}/sc{1,5} = 2/2 = 100% (R2 is selected)</a:t>
            </a:r>
          </a:p>
          <a:p>
            <a:pPr marL="204470" lvl="1" indent="-204470">
              <a:buFont typeface="Arial" panose="020B0604020202020204" pitchFamily="34" charset="0"/>
              <a:buChar char="•"/>
            </a:pPr>
            <a:r>
              <a:rPr lang="en-US" sz="2800" b="1">
                <a:sym typeface="+mn-ea"/>
              </a:rPr>
              <a:t>R3 : 3,5 -&gt; 1</a:t>
            </a:r>
            <a:endParaRPr lang="en-US" b="1"/>
          </a:p>
          <a:p>
            <a:pPr lvl="1">
              <a:buFont typeface="Arial" panose="020B0604020202020204" pitchFamily="34" charset="0"/>
              <a:buChar char="–"/>
            </a:pPr>
            <a:r>
              <a:rPr lang="en-US" b="1">
                <a:sym typeface="+mn-ea"/>
              </a:rPr>
              <a:t>Confidence = sc{3,5,1}/sc{3,5} = 2/3 = 66.66% (R3 is selected)</a:t>
            </a:r>
            <a:endParaRPr lang="en-US" sz="2400" b="1"/>
          </a:p>
          <a:p>
            <a:pPr marL="204470" lvl="1" indent="-204470">
              <a:buFont typeface="Arial" panose="020B0604020202020204" pitchFamily="34" charset="0"/>
              <a:buChar char="•"/>
            </a:pPr>
            <a:r>
              <a:rPr lang="en-US" sz="2800" b="1">
                <a:sym typeface="+mn-ea"/>
              </a:rPr>
              <a:t>R4 : 1 -&gt; 3,5</a:t>
            </a:r>
            <a:endParaRPr lang="en-US" sz="2800" b="1"/>
          </a:p>
          <a:p>
            <a:pPr lvl="1" algn="l">
              <a:buFont typeface="Arial" panose="020B0604020202020204" pitchFamily="34" charset="0"/>
              <a:buChar char="–"/>
            </a:pPr>
            <a:r>
              <a:rPr lang="en-US" sz="2400" b="1">
                <a:sym typeface="+mn-ea"/>
              </a:rPr>
              <a:t>Confidence = sc{1,3,5}/sc{1} = 2/3 = 66.66% (R4 is selected)</a:t>
            </a:r>
          </a:p>
          <a:p>
            <a:pPr marL="204470" lvl="1" indent="-204470">
              <a:buFont typeface="Arial" panose="020B0604020202020204" pitchFamily="34" charset="0"/>
              <a:buChar char="•"/>
            </a:pPr>
            <a:r>
              <a:rPr lang="en-US" sz="2800" b="1">
                <a:sym typeface="+mn-ea"/>
              </a:rPr>
              <a:t>R5 : 3 -&gt; 1,5</a:t>
            </a:r>
            <a:endParaRPr lang="en-US" sz="2800" b="1"/>
          </a:p>
          <a:p>
            <a:pPr lvl="1">
              <a:buFont typeface="Arial" panose="020B0604020202020204" pitchFamily="34" charset="0"/>
              <a:buChar char="–"/>
            </a:pPr>
            <a:r>
              <a:rPr lang="en-US" b="1">
                <a:sym typeface="+mn-ea"/>
              </a:rPr>
              <a:t>Confidence = sc{3,1,5}/sc{3} = 2/4 = 50% (R5 is </a:t>
            </a:r>
            <a:r>
              <a:rPr lang="en-US" b="1">
                <a:solidFill>
                  <a:srgbClr val="FF0000"/>
                </a:solidFill>
                <a:sym typeface="+mn-ea"/>
              </a:rPr>
              <a:t>REJECTED</a:t>
            </a:r>
            <a:r>
              <a:rPr lang="en-US" b="1">
                <a:sym typeface="+mn-ea"/>
              </a:rPr>
              <a:t>)</a:t>
            </a:r>
          </a:p>
          <a:p>
            <a:pPr marL="204470" lvl="1" indent="-204470">
              <a:buFont typeface="Arial" panose="020B0604020202020204" pitchFamily="34" charset="0"/>
              <a:buChar char="•"/>
            </a:pPr>
            <a:r>
              <a:rPr lang="en-US" sz="2800" b="1">
                <a:sym typeface="+mn-ea"/>
              </a:rPr>
              <a:t>R6 : 5 -&gt; 1,3</a:t>
            </a:r>
            <a:endParaRPr lang="en-US" sz="2800" b="1"/>
          </a:p>
          <a:p>
            <a:pPr lvl="1">
              <a:buFont typeface="Arial" panose="020B0604020202020204" pitchFamily="34" charset="0"/>
              <a:buChar char="–"/>
            </a:pPr>
            <a:r>
              <a:rPr lang="en-US" b="1">
                <a:sym typeface="+mn-ea"/>
              </a:rPr>
              <a:t>Confidence = sc{5,1,3}/sc{5} = 2/4 = 50% (R6 is </a:t>
            </a:r>
            <a:r>
              <a:rPr lang="en-US" b="1">
                <a:solidFill>
                  <a:srgbClr val="FF0000"/>
                </a:solidFill>
                <a:sym typeface="+mn-ea"/>
              </a:rPr>
              <a:t>REJECTED</a:t>
            </a:r>
            <a:r>
              <a:rPr lang="en-US" b="1">
                <a:sym typeface="+mn-ea"/>
              </a:rPr>
              <a:t>)</a:t>
            </a:r>
            <a:endParaRPr lang="en-US" b="1"/>
          </a:p>
        </p:txBody>
      </p:sp>
      <p:graphicFrame>
        <p:nvGraphicFramePr>
          <p:cNvPr id="12" name="Content Placeholder 11"/>
          <p:cNvGraphicFramePr>
            <a:graphicFrameLocks noGrp="1"/>
          </p:cNvGraphicFramePr>
          <p:nvPr>
            <p:ph/>
          </p:nvPr>
        </p:nvGraphicFramePr>
        <p:xfrm>
          <a:off x="9194800" y="1524000"/>
          <a:ext cx="4094480" cy="4697730"/>
        </p:xfrm>
        <a:graphic>
          <a:graphicData uri="http://schemas.openxmlformats.org/presentationml/2006/ole">
            <mc:AlternateContent xmlns:mc="http://schemas.openxmlformats.org/markup-compatibility/2006">
              <mc:Choice xmlns:v="urn:schemas-microsoft-com:vml" Requires="v">
                <p:oleObj r:id="rId2" imgW="3657600" imgH="4566285" progId="Photoshop.Image.7">
                  <p:embed/>
                </p:oleObj>
              </mc:Choice>
              <mc:Fallback>
                <p:oleObj r:id="rId2" imgW="3657600" imgH="4566285" progId="Photoshop.Image.7">
                  <p:embed/>
                  <p:pic>
                    <p:nvPicPr>
                      <p:cNvPr id="0" name="Picture 8"/>
                      <p:cNvPicPr/>
                      <p:nvPr/>
                    </p:nvPicPr>
                    <p:blipFill>
                      <a:blip r:embed="rId3"/>
                      <a:stretch>
                        <a:fillRect/>
                      </a:stretch>
                    </p:blipFill>
                    <p:spPr>
                      <a:xfrm>
                        <a:off x="9194800" y="1524000"/>
                        <a:ext cx="4094480" cy="4697730"/>
                      </a:xfrm>
                      <a:prstGeom prst="rect">
                        <a:avLst/>
                      </a:prstGeom>
                    </p:spPr>
                  </p:pic>
                </p:oleObj>
              </mc:Fallback>
            </mc:AlternateContent>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nvSpPr>
        <p:spPr>
          <a:xfrm>
            <a:off x="298450" y="93980"/>
            <a:ext cx="10579735" cy="96329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t>How to efficiently generate rules?</a:t>
            </a:r>
          </a:p>
        </p:txBody>
      </p:sp>
      <p:sp>
        <p:nvSpPr>
          <p:cNvPr id="7" name="Content Placeholder 6"/>
          <p:cNvSpPr>
            <a:spLocks noGrp="1"/>
          </p:cNvSpPr>
          <p:nvPr>
            <p:ph/>
          </p:nvPr>
        </p:nvSpPr>
        <p:spPr>
          <a:xfrm>
            <a:off x="362585" y="1177290"/>
            <a:ext cx="10936605" cy="5812155"/>
          </a:xfrm>
        </p:spPr>
        <p:txBody>
          <a:bodyPr/>
          <a:lstStyle/>
          <a:p>
            <a:r>
              <a:rPr lang="en-US">
                <a:cs typeface="+mn-lt"/>
                <a:sym typeface="+mn-ea"/>
              </a:rPr>
              <a:t>In general, confidence does not have an anti-monotone property</a:t>
            </a:r>
            <a:endParaRPr lang="en-US">
              <a:cs typeface="+mn-lt"/>
            </a:endParaRPr>
          </a:p>
          <a:p>
            <a:pPr marL="0" indent="0">
              <a:buNone/>
            </a:pPr>
            <a:r>
              <a:rPr lang="en-US">
                <a:cs typeface="+mn-lt"/>
                <a:sym typeface="+mn-ea"/>
              </a:rPr>
              <a:t>             </a:t>
            </a:r>
            <a:r>
              <a:rPr lang="en-US" b="1">
                <a:cs typeface="+mn-lt"/>
                <a:sym typeface="+mn-ea"/>
              </a:rPr>
              <a:t> c(ABC→D) can be larger or smaller than c(AB →D)</a:t>
            </a:r>
            <a:endParaRPr lang="en-US" b="1">
              <a:cs typeface="+mn-lt"/>
            </a:endParaRPr>
          </a:p>
          <a:p>
            <a:endParaRPr lang="en-US">
              <a:cs typeface="+mn-lt"/>
            </a:endParaRPr>
          </a:p>
          <a:p>
            <a:r>
              <a:rPr lang="en-US">
                <a:cs typeface="+mn-lt"/>
                <a:sym typeface="+mn-ea"/>
              </a:rPr>
              <a:t>But confidence of rules generated from the same itemset has an anti-monotone property</a:t>
            </a:r>
          </a:p>
          <a:p>
            <a:endParaRPr lang="en-US">
              <a:cs typeface="+mn-lt"/>
            </a:endParaRPr>
          </a:p>
          <a:p>
            <a:pPr lvl="2"/>
            <a:r>
              <a:rPr lang="en-US" sz="2800">
                <a:cs typeface="+mn-lt"/>
                <a:sym typeface="+mn-ea"/>
              </a:rPr>
              <a:t>e.g., L= {A,B,C,D}</a:t>
            </a:r>
            <a:endParaRPr lang="en-US" sz="2330">
              <a:cs typeface="+mn-lt"/>
            </a:endParaRPr>
          </a:p>
          <a:p>
            <a:pPr marL="457200" lvl="1" indent="0">
              <a:buNone/>
            </a:pPr>
            <a:r>
              <a:rPr lang="en-US" sz="2800">
                <a:cs typeface="+mn-lt"/>
                <a:sym typeface="+mn-ea"/>
              </a:rPr>
              <a:t>		</a:t>
            </a:r>
            <a:r>
              <a:rPr lang="en-US" sz="2800" b="1">
                <a:cs typeface="+mn-lt"/>
                <a:sym typeface="+mn-ea"/>
              </a:rPr>
              <a:t>c(ABC→D) ≥ c(AB→CD) ≥ c(A→BCD)</a:t>
            </a:r>
          </a:p>
          <a:p>
            <a:pPr marL="457200" lvl="1" indent="0">
              <a:buNone/>
            </a:pPr>
            <a:endParaRPr lang="en-US" sz="2800">
              <a:cs typeface="+mn-lt"/>
              <a:sym typeface="+mn-ea"/>
            </a:endParaRPr>
          </a:p>
          <a:p>
            <a:pPr marL="457200" lvl="1" indent="0">
              <a:buNone/>
            </a:pPr>
            <a:r>
              <a:rPr lang="en-US">
                <a:cs typeface="+mn-lt"/>
                <a:sym typeface="+mn-ea"/>
              </a:rPr>
              <a:t>Confidence is anti-monotone w.r.t number of items on the RHS of the rule.</a:t>
            </a:r>
            <a:endParaRPr lang="en-US">
              <a:cs typeface="+mn-lt"/>
            </a:endParaRPr>
          </a:p>
          <a:p>
            <a:endParaRPr lang="en-US">
              <a:cs typeface="+mn-lt"/>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Content Placeholder 11"/>
          <p:cNvGraphicFramePr>
            <a:graphicFrameLocks noGrp="1"/>
          </p:cNvGraphicFramePr>
          <p:nvPr>
            <p:ph/>
          </p:nvPr>
        </p:nvGraphicFramePr>
        <p:xfrm>
          <a:off x="436880" y="1414780"/>
          <a:ext cx="11317605" cy="5054600"/>
        </p:xfrm>
        <a:graphic>
          <a:graphicData uri="http://schemas.openxmlformats.org/presentationml/2006/ole">
            <mc:AlternateContent xmlns:mc="http://schemas.openxmlformats.org/markup-compatibility/2006">
              <mc:Choice xmlns:v="urn:schemas-microsoft-com:vml" Requires="v">
                <p:oleObj r:id="rId2" imgW="7708900" imgH="3213100" progId="Paint.Picture">
                  <p:embed/>
                </p:oleObj>
              </mc:Choice>
              <mc:Fallback>
                <p:oleObj r:id="rId2" imgW="7708900" imgH="3213100" progId="Paint.Picture">
                  <p:embed/>
                  <p:pic>
                    <p:nvPicPr>
                      <p:cNvPr id="0" name="Picture 12"/>
                      <p:cNvPicPr/>
                      <p:nvPr/>
                    </p:nvPicPr>
                    <p:blipFill>
                      <a:blip r:embed="rId3"/>
                      <a:stretch>
                        <a:fillRect/>
                      </a:stretch>
                    </p:blipFill>
                    <p:spPr>
                      <a:xfrm>
                        <a:off x="436880" y="1414780"/>
                        <a:ext cx="11317605" cy="5054600"/>
                      </a:xfrm>
                      <a:prstGeom prst="rect">
                        <a:avLst/>
                      </a:prstGeom>
                    </p:spPr>
                  </p:pic>
                </p:oleObj>
              </mc:Fallback>
            </mc:AlternateContent>
          </a:graphicData>
        </a:graphic>
      </p:graphicFrame>
      <p:sp>
        <p:nvSpPr>
          <p:cNvPr id="14" name="Title 9"/>
          <p:cNvSpPr>
            <a:spLocks noGrp="1"/>
          </p:cNvSpPr>
          <p:nvPr/>
        </p:nvSpPr>
        <p:spPr>
          <a:xfrm>
            <a:off x="298450" y="93980"/>
            <a:ext cx="10579735" cy="96329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t>Rule generation for Apriori Algorithm</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p:cNvGraphicFramePr>
            <a:graphicFrameLocks noGrp="1" noChangeAspect="1"/>
          </p:cNvGraphicFramePr>
          <p:nvPr>
            <p:ph/>
          </p:nvPr>
        </p:nvGraphicFramePr>
        <p:xfrm>
          <a:off x="584835" y="1395095"/>
          <a:ext cx="11190605" cy="5156835"/>
        </p:xfrm>
        <a:graphic>
          <a:graphicData uri="http://schemas.openxmlformats.org/presentationml/2006/ole">
            <mc:AlternateContent xmlns:mc="http://schemas.openxmlformats.org/markup-compatibility/2006">
              <mc:Choice xmlns:v="urn:schemas-microsoft-com:vml" Requires="v">
                <p:oleObj r:id="rId3" imgW="7702550" imgH="3276600" progId="Paint.Picture">
                  <p:embed/>
                </p:oleObj>
              </mc:Choice>
              <mc:Fallback>
                <p:oleObj r:id="rId3" imgW="7702550" imgH="3276600" progId="Paint.Picture">
                  <p:embed/>
                  <p:pic>
                    <p:nvPicPr>
                      <p:cNvPr id="0" name="Picture 8"/>
                      <p:cNvPicPr/>
                      <p:nvPr/>
                    </p:nvPicPr>
                    <p:blipFill>
                      <a:blip r:embed="rId4"/>
                      <a:stretch>
                        <a:fillRect/>
                      </a:stretch>
                    </p:blipFill>
                    <p:spPr>
                      <a:xfrm>
                        <a:off x="584835" y="1395095"/>
                        <a:ext cx="11190605" cy="5156835"/>
                      </a:xfrm>
                      <a:prstGeom prst="rect">
                        <a:avLst/>
                      </a:prstGeom>
                    </p:spPr>
                  </p:pic>
                </p:oleObj>
              </mc:Fallback>
            </mc:AlternateContent>
          </a:graphicData>
        </a:graphic>
      </p:graphicFrame>
      <p:sp>
        <p:nvSpPr>
          <p:cNvPr id="14" name="Title 9"/>
          <p:cNvSpPr>
            <a:spLocks noGrp="1"/>
          </p:cNvSpPr>
          <p:nvPr/>
        </p:nvSpPr>
        <p:spPr>
          <a:xfrm>
            <a:off x="298450" y="93980"/>
            <a:ext cx="10579735" cy="96329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t>Rule generation for Apriori Algorithm</a:t>
            </a:r>
          </a:p>
        </p:txBody>
      </p:sp>
      <p:sp>
        <p:nvSpPr>
          <p:cNvPr id="10" name="Text Box 9"/>
          <p:cNvSpPr txBox="1"/>
          <p:nvPr/>
        </p:nvSpPr>
        <p:spPr>
          <a:xfrm>
            <a:off x="237490" y="5657215"/>
            <a:ext cx="1731010" cy="645160"/>
          </a:xfrm>
          <a:prstGeom prst="rect">
            <a:avLst/>
          </a:prstGeom>
          <a:noFill/>
        </p:spPr>
        <p:txBody>
          <a:bodyPr wrap="square" rtlCol="0">
            <a:spAutoFit/>
          </a:bodyPr>
          <a:lstStyle/>
          <a:p>
            <a:r>
              <a:rPr lang="en-US" b="1">
                <a:latin typeface="Arial" panose="020B0604020202020204" pitchFamily="34" charset="0"/>
                <a:cs typeface="Arial" panose="020B0604020202020204" pitchFamily="34" charset="0"/>
              </a:rPr>
              <a:t>Pruned the Rule</a:t>
            </a:r>
          </a:p>
        </p:txBody>
      </p:sp>
      <p:cxnSp>
        <p:nvCxnSpPr>
          <p:cNvPr id="11" name="Straight Arrow Connector 10"/>
          <p:cNvCxnSpPr/>
          <p:nvPr/>
        </p:nvCxnSpPr>
        <p:spPr>
          <a:xfrm flipV="1">
            <a:off x="1438275" y="5808980"/>
            <a:ext cx="800735" cy="227330"/>
          </a:xfrm>
          <a:prstGeom prst="straightConnector1">
            <a:avLst/>
          </a:prstGeom>
          <a:ln>
            <a:solidFill>
              <a:schemeClr val="tx1"/>
            </a:solidFill>
            <a:headEnd type="none"/>
            <a:tailEnd type="arrow" w="med" len="me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p:nvPr>
        </p:nvSpPr>
        <p:spPr>
          <a:xfrm>
            <a:off x="481330" y="1350010"/>
            <a:ext cx="10515600" cy="5811838"/>
          </a:xfrm>
        </p:spPr>
        <p:txBody>
          <a:bodyPr/>
          <a:lstStyle/>
          <a:p>
            <a:r>
              <a:rPr lang="en-US"/>
              <a:t>Cdidate rule is generated by merging two rules that share the same prefix in the rule consequent</a:t>
            </a:r>
          </a:p>
          <a:p>
            <a:endParaRPr lang="en-US"/>
          </a:p>
          <a:p>
            <a:r>
              <a:rPr lang="en-US"/>
              <a:t>join (CD=&gt;AB, BD=&gt;AC)</a:t>
            </a:r>
          </a:p>
          <a:p>
            <a:pPr marL="0" indent="0">
              <a:buNone/>
            </a:pPr>
            <a:r>
              <a:rPr lang="en-US"/>
              <a:t>   would produce the candidate rule,</a:t>
            </a:r>
          </a:p>
          <a:p>
            <a:pPr marL="0" indent="0">
              <a:buNone/>
            </a:pPr>
            <a:r>
              <a:rPr lang="en-US"/>
              <a:t>   D=&gt;ABC</a:t>
            </a:r>
          </a:p>
          <a:p>
            <a:endParaRPr lang="en-US"/>
          </a:p>
          <a:p>
            <a:r>
              <a:rPr lang="en-US"/>
              <a:t>Prune rule D=&gt;ABC if its subset </a:t>
            </a:r>
          </a:p>
          <a:p>
            <a:pPr marL="0" indent="0">
              <a:buNone/>
            </a:pPr>
            <a:r>
              <a:rPr lang="en-US"/>
              <a:t>   AD=&gt;BC does not have high confidence</a:t>
            </a:r>
          </a:p>
        </p:txBody>
      </p:sp>
      <p:sp>
        <p:nvSpPr>
          <p:cNvPr id="14" name="Title 9"/>
          <p:cNvSpPr>
            <a:spLocks noGrp="1"/>
          </p:cNvSpPr>
          <p:nvPr/>
        </p:nvSpPr>
        <p:spPr>
          <a:xfrm>
            <a:off x="298450" y="93980"/>
            <a:ext cx="10579735" cy="96329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t>Rule generation for Apriori Algorithm</a:t>
            </a:r>
          </a:p>
        </p:txBody>
      </p:sp>
      <p:graphicFrame>
        <p:nvGraphicFramePr>
          <p:cNvPr id="5" name="Object 4"/>
          <p:cNvGraphicFramePr/>
          <p:nvPr/>
        </p:nvGraphicFramePr>
        <p:xfrm>
          <a:off x="6906260" y="2113280"/>
          <a:ext cx="4946015" cy="3754755"/>
        </p:xfrm>
        <a:graphic>
          <a:graphicData uri="http://schemas.openxmlformats.org/presentationml/2006/ole">
            <mc:AlternateContent xmlns:mc="http://schemas.openxmlformats.org/markup-compatibility/2006">
              <mc:Choice xmlns:v="urn:schemas-microsoft-com:vml" Requires="v">
                <p:oleObj r:id="rId2" imgW="3244850" imgH="2152650" progId="Paint.Picture">
                  <p:embed/>
                </p:oleObj>
              </mc:Choice>
              <mc:Fallback>
                <p:oleObj r:id="rId2" imgW="3244850" imgH="2152650" progId="Paint.Picture">
                  <p:embed/>
                  <p:pic>
                    <p:nvPicPr>
                      <p:cNvPr id="0" name="Picture 5"/>
                      <p:cNvPicPr/>
                      <p:nvPr/>
                    </p:nvPicPr>
                    <p:blipFill>
                      <a:blip r:embed="rId3"/>
                      <a:stretch>
                        <a:fillRect/>
                      </a:stretch>
                    </p:blipFill>
                    <p:spPr>
                      <a:xfrm>
                        <a:off x="6906260" y="2113280"/>
                        <a:ext cx="4946015" cy="3754755"/>
                      </a:xfrm>
                      <a:prstGeom prst="rect">
                        <a:avLst/>
                      </a:prstGeom>
                    </p:spPr>
                  </p:pic>
                </p:oleObj>
              </mc:Fallback>
            </mc:AlternateContent>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3294</Words>
  <Application>Microsoft Office PowerPoint</Application>
  <PresentationFormat>Widescreen</PresentationFormat>
  <Paragraphs>383</Paragraphs>
  <Slides>41</Slides>
  <Notes>3</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5</vt:i4>
      </vt:variant>
      <vt:variant>
        <vt:lpstr>Slide Titles</vt:lpstr>
      </vt:variant>
      <vt:variant>
        <vt:i4>41</vt:i4>
      </vt:variant>
    </vt:vector>
  </HeadingPairs>
  <TitlesOfParts>
    <vt:vector size="58" baseType="lpstr">
      <vt:lpstr>MS PGothic</vt:lpstr>
      <vt:lpstr>PMingLiU</vt:lpstr>
      <vt:lpstr>Arial</vt:lpstr>
      <vt:lpstr>Calibri</vt:lpstr>
      <vt:lpstr>Calibri Light</vt:lpstr>
      <vt:lpstr>cmsy10</vt:lpstr>
      <vt:lpstr>Courier New</vt:lpstr>
      <vt:lpstr>Symbol</vt:lpstr>
      <vt:lpstr>Times New Roman</vt:lpstr>
      <vt:lpstr>Verdana</vt:lpstr>
      <vt:lpstr>Wingdings</vt:lpstr>
      <vt:lpstr>Office Theme</vt:lpstr>
      <vt:lpstr>Microsoft Word 97 - 2003 Document</vt:lpstr>
      <vt:lpstr>Equation.3</vt:lpstr>
      <vt:lpstr>Visio.Drawing.6</vt:lpstr>
      <vt:lpstr>Photoshop.Image.7</vt:lpstr>
      <vt:lpstr>Paintbrush Picture</vt:lpstr>
      <vt:lpstr>Association Rule &amp; Apriori Algorithm</vt:lpstr>
      <vt:lpstr>Association rule mining</vt:lpstr>
      <vt:lpstr>What Is Association Mining?</vt:lpstr>
      <vt:lpstr>Association rule mining</vt:lpstr>
      <vt:lpstr>PowerPoint Presentation</vt:lpstr>
      <vt:lpstr>Example Association Rule</vt:lpstr>
      <vt:lpstr>Transaction data: supermarket data</vt:lpstr>
      <vt:lpstr>Transaction data: a set of documents</vt:lpstr>
      <vt:lpstr>Definition: Frequent Itemset</vt:lpstr>
      <vt:lpstr>The model: data</vt:lpstr>
      <vt:lpstr>The model: Association rules</vt:lpstr>
      <vt:lpstr>Rule strength measures</vt:lpstr>
      <vt:lpstr>Support and Confidence</vt:lpstr>
      <vt:lpstr>Definition: Association Rule</vt:lpstr>
      <vt:lpstr>Is minimum support and minimum confidence can be automatically determined in mining association rules?</vt:lpstr>
      <vt:lpstr>An example</vt:lpstr>
      <vt:lpstr>Basic Concept: Association Rules</vt:lpstr>
      <vt:lpstr>Association Rule Mining Task</vt:lpstr>
      <vt:lpstr>Frequent Itemset Generation</vt:lpstr>
      <vt:lpstr>Brute-force approach: </vt:lpstr>
      <vt:lpstr>Computational Complexity</vt:lpstr>
      <vt:lpstr>Mining Association Rules</vt:lpstr>
      <vt:lpstr>Frequent Itemset Generation</vt:lpstr>
      <vt:lpstr>Frequent Itemset Generation Strategies</vt:lpstr>
      <vt:lpstr>Many mining algorithms</vt:lpstr>
      <vt:lpstr>PowerPoint Presentation</vt:lpstr>
      <vt:lpstr>PowerPoint Presentation</vt:lpstr>
      <vt:lpstr>PowerPoint Presentation</vt:lpstr>
      <vt:lpstr>KEY CONCEPTS</vt:lpstr>
      <vt:lpstr>APRIORI ALGORITHM EXAMPLE</vt:lpstr>
      <vt:lpstr>The Apriori Algorithm : Pseudo Code</vt:lpstr>
      <vt:lpstr>PowerPoint Presentation</vt:lpstr>
      <vt:lpstr>Example – Finding frequent itemsets</vt:lpstr>
      <vt:lpstr>Order of items can make difference in porcess</vt:lpstr>
      <vt:lpstr>Generating Association Rules From frequent itemsets </vt:lpstr>
      <vt:lpstr>Generating Association Rules From frequent itemsets </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WPP Presentation</dc:title>
  <dc:creator>nEW u</dc:creator>
  <cp:lastModifiedBy>Aamir Mir</cp:lastModifiedBy>
  <cp:revision>34</cp:revision>
  <dcterms:created xsi:type="dcterms:W3CDTF">2018-08-09T00:49:00Z</dcterms:created>
  <dcterms:modified xsi:type="dcterms:W3CDTF">2026-08-27T03:46:55Z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1033-10.2.0.7635</vt:lpwstr>
  </property>
</Properties>
</file>